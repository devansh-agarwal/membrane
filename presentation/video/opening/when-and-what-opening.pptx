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a1666602bd447e" /><Relationship Type="http://schemas.openxmlformats.org/officeDocument/2006/relationships/extended-properties" Target="/docProps/app.xml" Id="R4f9e2fa4bbd145df" /><Relationship Type="http://schemas.openxmlformats.org/officeDocument/2006/relationships/officeDocument" Target="/ppt/presentation.xml" Id="R85e4756f7b5843d1" /></Relationships>
</file>

<file path=ppt/presentation.xml><?xml version="1.0" encoding="utf-8"?>
<p:presentation xmlns:p="http://schemas.openxmlformats.org/presentationml/2006/main">
  <p:sldMasterIdLst>
    <p:sldMasterId xmlns:r="http://schemas.openxmlformats.org/officeDocument/2006/relationships" id="2147483648" r:id="R989968ec840040ed"/>
  </p:sldMasterIdLst>
  <p:notesMasterIdLst>
    <p:notesMasterId xmlns:r="http://schemas.openxmlformats.org/officeDocument/2006/relationships" r:id="Rb495f164edaa4258"/>
  </p:notesMasterIdLst>
  <p:sldIdLst>
    <p:sldId xmlns:r="http://schemas.openxmlformats.org/officeDocument/2006/relationships" id="256" r:id="Rc03d078f45d9461c"/>
    <p:sldId xmlns:r="http://schemas.openxmlformats.org/officeDocument/2006/relationships" id="257" r:id="R8ebedf70d31347d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c3da93be594fcd" /><Relationship Type="http://schemas.openxmlformats.org/officeDocument/2006/relationships/slideMaster" Target="/ppt/slideMasters/slideMaster1.xml" Id="R989968ec840040ed" /><Relationship Type="http://schemas.openxmlformats.org/officeDocument/2006/relationships/notesMaster" Target="/ppt/notesMasters/notesMaster1.xml" Id="Rb495f164edaa4258" /><Relationship Type="http://schemas.openxmlformats.org/officeDocument/2006/relationships/presProps" Target="/ppt/presProps.xml" Id="Rc986fd1f7b88445d" /><Relationship Type="http://schemas.openxmlformats.org/officeDocument/2006/relationships/tableStyles" Target="/ppt/tableStyles.xml" Id="R55d67236b3134a92" /><Relationship Type="http://schemas.openxmlformats.org/officeDocument/2006/relationships/slide" Target="/ppt/slides/slide1.xml" Id="Rc03d078f45d9461c" /><Relationship Type="http://schemas.openxmlformats.org/officeDocument/2006/relationships/slide" Target="/ppt/slides/slide2.xml" Id="R8ebedf70d31347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4f6c2f9ef34a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76069a4ea24e05" /><Relationship Type="http://schemas.openxmlformats.org/officeDocument/2006/relationships/notesMaster" Target="/ppt/notesMasters/notesMaster1.xml" Id="Rc302c8d088e449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6b50880bb94eb7" /><Relationship Type="http://schemas.openxmlformats.org/officeDocument/2006/relationships/notesMaster" Target="/ppt/notesMasters/notesMaster1.xml" Id="Ra2c73805b14542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thesis based on the user’s problem framing, not a measured market-adoption statistic. Companies and employees need distinct controls over immediate context, persistent memory, and training. This slide introduces that friction without claiming all LLM use is training. All incident examples in the following demo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Jev role is proposed architecture; the demo currently uses deterministic local redaction, not a live Jev call. TypeSafe describes Jev as a System One model that accepts unstructured state and returns typed probabilistic decisions rather than generated strings. Our proposed schema asks for a category, retention decision, and confidence. The application, not Jev-generated prose, assembles cleaned content. Outbound policy checks must run before hosted classification; content prohibited from leaving the environment stays on the local path. Low-confidence or unsupported cases can skip persistence. Training permission is checked separately. Source: https://typesafe.ai/blog/introducing-system-one-models-and-jev (accessed 2026-09-27). GBrain dispatch from this UI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80c8902cfc4b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79cdf0269d4e1d" /><Relationship Type="http://schemas.openxmlformats.org/officeDocument/2006/relationships/slideLayout" Target="/ppt/slideLayouts/slideLayout1.xml" Id="R59163413e2254b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163413e2254b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760ddecdbf4cae" /><Relationship Type="http://schemas.openxmlformats.org/officeDocument/2006/relationships/notesSlide" Target="/ppt/notesSlides/notesSlide1.xml" Id="R805305e941744f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fdb0f80a9f4eff" /><Relationship Type="http://schemas.openxmlformats.org/officeDocument/2006/relationships/notesSlide" Target="/ppt/notesSlides/notesSlide2.xml" Id="Rd990940286d04459" /></Relationships>
</file>

<file path=ppt/slides/slide1.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549852-5116-4CEB-BA95-EF32206506BC}"/>
              </a:ext>
            </a:extLst>
          </p:cNvPr>
          <p:cNvSpPr>
            <a:spLocks xmlns:a="http://schemas.openxmlformats.org/drawingml/2006/main" noGrp="1"/>
          </p:cNvSpPr>
          <p:nvPr/>
        </p:nvSpPr>
        <p:spPr>
          <a:xfrm xmlns:a="http://schemas.openxmlformats.org/drawingml/2006/main">
            <a:off x="666750" y="36195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when &amp; what</a:t>
            </a:r>
          </a:p>
        </p:txBody>
      </p:sp>
      <p:sp>
        <p:nvSpPr>
          <p:cNvPr id="2" name="">
            <a:extLst xmlns:a="http://schemas.openxmlformats.org/drawingml/2006/main">
              <a:ext uri="{FF2B5EF4-FFF2-40B4-BE49-F238E27FC236}">
                <a16:creationId xmlns:a16="http://schemas.microsoft.com/office/drawing/2014/main" id="{7073EFBB-5B4C-4AC4-8D88-3A21AFAC0986}"/>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01 / THE MEMORY PROBLEM</a:t>
            </a:r>
          </a:p>
        </p:txBody>
      </p:sp>
      <p:sp>
        <p:nvSpPr>
          <p:cNvPr id="3" name="">
            <a:extLst xmlns:a="http://schemas.openxmlformats.org/drawingml/2006/main">
              <a:ext uri="{FF2B5EF4-FFF2-40B4-BE49-F238E27FC236}">
                <a16:creationId xmlns:a16="http://schemas.microsoft.com/office/drawing/2014/main" id="{F1F3445D-3D14-43A0-85A4-3F444B48D415}"/>
              </a:ext>
            </a:extLst>
          </p:cNvPr>
          <p:cNvSpPr>
            <a:spLocks xmlns:a="http://schemas.openxmlformats.org/drawingml/2006/main" noGrp="1"/>
          </p:cNvSpPr>
          <p:nvPr/>
        </p:nvSpPr>
        <p:spPr>
          <a:xfrm xmlns:a="http://schemas.openxmlformats.org/drawingml/2006/main">
            <a:off x="1066800" y="1390650"/>
            <a:ext cx="16154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The memory adoption problem</a:t>
            </a:r>
          </a:p>
        </p:txBody>
      </p:sp>
      <p:sp>
        <p:nvSpPr>
          <p:cNvPr id="4" name="">
            <a:extLst xmlns:a="http://schemas.openxmlformats.org/drawingml/2006/main">
              <a:ext uri="{FF2B5EF4-FFF2-40B4-BE49-F238E27FC236}">
                <a16:creationId xmlns:a16="http://schemas.microsoft.com/office/drawing/2014/main" id="{C34EF7D3-1522-46B3-956F-0588979E845E}"/>
              </a:ext>
            </a:extLst>
          </p:cNvPr>
          <p:cNvSpPr>
            <a:spLocks xmlns:a="http://schemas.openxmlformats.org/drawingml/2006/main" noGrp="1"/>
          </p:cNvSpPr>
          <p:nvPr/>
        </p:nvSpPr>
        <p:spPr>
          <a:xfrm xmlns:a="http://schemas.openxmlformats.org/drawingml/2006/main">
            <a:off x="1104900" y="2428875"/>
            <a:ext cx="1590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Teams need a useful agent—and control over what it keeps.</a:t>
            </a:r>
          </a:p>
        </p:txBody>
      </p:sp>
      <p:sp>
        <p:nvSpPr>
          <p:cNvPr id="5" name="">
            <a:extLst xmlns:a="http://schemas.openxmlformats.org/drawingml/2006/main">
              <a:ext uri="{FF2B5EF4-FFF2-40B4-BE49-F238E27FC236}">
                <a16:creationId xmlns:a16="http://schemas.microsoft.com/office/drawing/2014/main" id="{66A7870A-6FB7-4994-844F-404E35C2AA57}"/>
              </a:ext>
            </a:extLst>
          </p:cNvPr>
          <p:cNvSpPr>
            <a:spLocks xmlns:a="http://schemas.openxmlformats.org/drawingml/2006/main" noGrp="1"/>
          </p:cNvSpPr>
          <p:nvPr/>
        </p:nvSpPr>
        <p:spPr>
          <a:xfrm xmlns:a="http://schemas.openxmlformats.org/drawingml/2006/main">
            <a:off x="1143000" y="38100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Mixed context</a:t>
            </a:r>
          </a:p>
        </p:txBody>
      </p:sp>
      <p:sp>
        <p:nvSpPr>
          <p:cNvPr id="6" name="">
            <a:extLst xmlns:a="http://schemas.openxmlformats.org/drawingml/2006/main">
              <a:ext uri="{FF2B5EF4-FFF2-40B4-BE49-F238E27FC236}">
                <a16:creationId xmlns:a16="http://schemas.microsoft.com/office/drawing/2014/main" id="{29CD2CB8-07C1-483E-A6B0-28BF93D40E7B}"/>
              </a:ext>
            </a:extLst>
          </p:cNvPr>
          <p:cNvSpPr>
            <a:spLocks xmlns:a="http://schemas.openxmlformats.org/drawingml/2006/main" noGrp="1"/>
          </p:cNvSpPr>
          <p:nvPr/>
        </p:nvSpPr>
        <p:spPr>
          <a:xfrm xmlns:a="http://schemas.openxmlformats.org/drawingml/2006/main">
            <a:off x="1143000" y="441960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Debugging clues arrive beside credentials</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and customer data.</a:t>
            </a:r>
          </a:p>
        </p:txBody>
      </p:sp>
      <p:sp>
        <p:nvSpPr>
          <p:cNvPr id="7" name="">
            <a:extLst xmlns:a="http://schemas.openxmlformats.org/drawingml/2006/main">
              <a:ext uri="{FF2B5EF4-FFF2-40B4-BE49-F238E27FC236}">
                <a16:creationId xmlns:a16="http://schemas.microsoft.com/office/drawing/2014/main" id="{B2F5F7B3-7094-45AB-8974-525F869826CB}"/>
              </a:ext>
            </a:extLst>
          </p:cNvPr>
          <p:cNvSpPr>
            <a:spLocks xmlns:a="http://schemas.openxmlformats.org/drawingml/2006/main" noGrp="1"/>
          </p:cNvSpPr>
          <p:nvPr/>
        </p:nvSpPr>
        <p:spPr>
          <a:xfrm xmlns:a="http://schemas.openxmlformats.org/drawingml/2006/main">
            <a:off x="1143000" y="5705475"/>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Overlapping rules</a:t>
            </a:r>
          </a:p>
        </p:txBody>
      </p:sp>
      <p:sp>
        <p:nvSpPr>
          <p:cNvPr id="8" name="">
            <a:extLst xmlns:a="http://schemas.openxmlformats.org/drawingml/2006/main">
              <a:ext uri="{FF2B5EF4-FFF2-40B4-BE49-F238E27FC236}">
                <a16:creationId xmlns:a16="http://schemas.microsoft.com/office/drawing/2014/main" id="{8D639B69-44DC-49D1-A6EC-3E1923314269}"/>
              </a:ext>
            </a:extLst>
          </p:cNvPr>
          <p:cNvSpPr>
            <a:spLocks xmlns:a="http://schemas.openxmlformats.org/drawingml/2006/main" noGrp="1"/>
          </p:cNvSpPr>
          <p:nvPr/>
        </p:nvSpPr>
        <p:spPr>
          <a:xfrm xmlns:a="http://schemas.openxmlformats.org/drawingml/2006/main">
            <a:off x="1143000" y="6315075"/>
            <a:ext cx="647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Company classifications and employee</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preferences both matter.</a:t>
            </a:r>
          </a:p>
        </p:txBody>
      </p:sp>
      <p:sp>
        <p:nvSpPr>
          <p:cNvPr id="9" name="">
            <a:extLst xmlns:a="http://schemas.openxmlformats.org/drawingml/2006/main">
              <a:ext uri="{FF2B5EF4-FFF2-40B4-BE49-F238E27FC236}">
                <a16:creationId xmlns:a16="http://schemas.microsoft.com/office/drawing/2014/main" id="{C5AE819A-90AF-48EF-8147-A8983E87CF61}"/>
              </a:ext>
            </a:extLst>
          </p:cNvPr>
          <p:cNvSpPr>
            <a:spLocks xmlns:a="http://schemas.openxmlformats.org/drawingml/2006/main" noGrp="1"/>
          </p:cNvSpPr>
          <p:nvPr/>
        </p:nvSpPr>
        <p:spPr>
          <a:xfrm xmlns:a="http://schemas.openxmlformats.org/drawingml/2006/main">
            <a:off x="1143000" y="762000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Separate permissions</a:t>
            </a:r>
          </a:p>
        </p:txBody>
      </p:sp>
      <p:sp>
        <p:nvSpPr>
          <p:cNvPr id="10" name="">
            <a:extLst xmlns:a="http://schemas.openxmlformats.org/drawingml/2006/main">
              <a:ext uri="{FF2B5EF4-FFF2-40B4-BE49-F238E27FC236}">
                <a16:creationId xmlns:a16="http://schemas.microsoft.com/office/drawing/2014/main" id="{E06432E9-86E8-40F2-B257-B883FAB04C23}"/>
              </a:ext>
            </a:extLst>
          </p:cNvPr>
          <p:cNvSpPr>
            <a:spLocks xmlns:a="http://schemas.openxmlformats.org/drawingml/2006/main" noGrp="1"/>
          </p:cNvSpPr>
          <p:nvPr/>
        </p:nvSpPr>
        <p:spPr>
          <a:xfrm xmlns:a="http://schemas.openxmlformats.org/drawingml/2006/main">
            <a:off x="1143000" y="8229600"/>
            <a:ext cx="700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647C9F"/>
                </a:solidFill>
                <a:latin typeface="Arial"/>
                <a:ea typeface="Arial"/>
                <a:cs typeface="Arial"/>
              </a:defRPr>
            </a:pPr>
            <a:r>
              <a:rPr sz="2175" b="0">
                <a:solidFill>
                  <a:srgbClr val="647C9F"/>
                </a:solidFill>
                <a:latin typeface="Arial"/>
                <a:ea typeface="Arial"/>
                <a:cs typeface="Arial"/>
              </a:rPr>
              <a:t>Use now. Retain later. Train only with permission.</a:t>
            </a:r>
          </a:p>
        </p:txBody>
      </p:sp>
      <p:sp>
        <p:nvSpPr>
          <p:cNvPr id="11" name="">
            <a:extLst xmlns:a="http://schemas.openxmlformats.org/drawingml/2006/main">
              <a:ext uri="{FF2B5EF4-FFF2-40B4-BE49-F238E27FC236}">
                <a16:creationId xmlns:a16="http://schemas.microsoft.com/office/drawing/2014/main" id="{8127562F-DD9D-45F8-98EB-75821A3530F4}"/>
              </a:ext>
            </a:extLst>
          </p:cNvPr>
          <p:cNvSpPr>
            <a:spLocks xmlns:a="http://schemas.openxmlformats.org/drawingml/2006/main" noGrp="1"/>
          </p:cNvSpPr>
          <p:nvPr/>
        </p:nvSpPr>
        <p:spPr>
          <a:xfrm xmlns:a="http://schemas.openxmlformats.org/drawingml/2006/main">
            <a:off x="8905875" y="3838575"/>
            <a:ext cx="795337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Unclear memory rules</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keep agents in</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restricted pilots.</a:t>
            </a:r>
          </a:p>
        </p:txBody>
      </p:sp>
      <p:sp>
        <p:nvSpPr>
          <p:cNvPr id="12" name="">
            <a:extLst xmlns:a="http://schemas.openxmlformats.org/drawingml/2006/main">
              <a:ext uri="{FF2B5EF4-FFF2-40B4-BE49-F238E27FC236}">
                <a16:creationId xmlns:a16="http://schemas.microsoft.com/office/drawing/2014/main" id="{2FFEED21-B248-4FB0-A091-7097B2962ACF}"/>
              </a:ext>
            </a:extLst>
          </p:cNvPr>
          <p:cNvSpPr>
            <a:spLocks xmlns:a="http://schemas.openxmlformats.org/drawingml/2006/main" noGrp="1"/>
          </p:cNvSpPr>
          <p:nvPr/>
        </p:nvSpPr>
        <p:spPr>
          <a:xfrm xmlns:a="http://schemas.openxmlformats.org/drawingml/2006/main">
            <a:off x="8963025" y="68770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Less context can weaken the task.</a:t>
            </a:r>
          </a:p>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Uncontrolled retention creates risk.</a:t>
            </a:r>
          </a:p>
        </p:txBody>
      </p:sp>
    </p:spTree>
    <p:extLst>
      <p:ext uri="{BB962C8B-B14F-4D97-AF65-F5344CB8AC3E}">
        <p14:creationId xmlns:p14="http://schemas.microsoft.com/office/powerpoint/2010/main" val="410233496"/>
      </p:ext>
    </p:extLst>
  </p:cSld>
</p:sld>
</file>

<file path=ppt/slides/slide2.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0423FA5-E209-4094-B250-95C0DF6652E5}"/>
              </a:ext>
            </a:extLst>
          </p:cNvPr>
          <p:cNvSpPr>
            <a:spLocks xmlns:a="http://schemas.openxmlformats.org/drawingml/2006/main" noGrp="1"/>
          </p:cNvSpPr>
          <p:nvPr/>
        </p:nvSpPr>
        <p:spPr>
          <a:xfrm xmlns:a="http://schemas.openxmlformats.org/drawingml/2006/main">
            <a:off x="666750" y="36195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when &amp; what</a:t>
            </a:r>
          </a:p>
        </p:txBody>
      </p:sp>
      <p:sp>
        <p:nvSpPr>
          <p:cNvPr id="2" name="">
            <a:extLst xmlns:a="http://schemas.openxmlformats.org/drawingml/2006/main">
              <a:ext uri="{FF2B5EF4-FFF2-40B4-BE49-F238E27FC236}">
                <a16:creationId xmlns:a16="http://schemas.microsoft.com/office/drawing/2014/main" id="{FAD8CAB5-026A-47E2-B788-E7C60E5156E1}"/>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02 / THE JEV PIPELINE</a:t>
            </a:r>
          </a:p>
        </p:txBody>
      </p:sp>
      <p:sp>
        <p:nvSpPr>
          <p:cNvPr id="3" name="">
            <a:extLst xmlns:a="http://schemas.openxmlformats.org/drawingml/2006/main">
              <a:ext uri="{FF2B5EF4-FFF2-40B4-BE49-F238E27FC236}">
                <a16:creationId xmlns:a16="http://schemas.microsoft.com/office/drawing/2014/main" id="{30A74DED-8C04-4F9B-A1D2-BD45867B35D8}"/>
              </a:ext>
            </a:extLst>
          </p:cNvPr>
          <p:cNvSpPr>
            <a:spLocks xmlns:a="http://schemas.openxmlformats.org/drawingml/2006/main" noGrp="1"/>
          </p:cNvSpPr>
          <p:nvPr/>
        </p:nvSpPr>
        <p:spPr>
          <a:xfrm xmlns:a="http://schemas.openxmlformats.org/drawingml/2006/main">
            <a:off x="1066800" y="1390650"/>
            <a:ext cx="16154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Jev at the memory boundary</a:t>
            </a:r>
          </a:p>
        </p:txBody>
      </p:sp>
      <p:sp>
        <p:nvSpPr>
          <p:cNvPr id="4" name="">
            <a:extLst xmlns:a="http://schemas.openxmlformats.org/drawingml/2006/main">
              <a:ext uri="{FF2B5EF4-FFF2-40B4-BE49-F238E27FC236}">
                <a16:creationId xmlns:a16="http://schemas.microsoft.com/office/drawing/2014/main" id="{7C2D79B4-C94A-43F3-9442-884FC72EDFA8}"/>
              </a:ext>
            </a:extLst>
          </p:cNvPr>
          <p:cNvSpPr>
            <a:spLocks xmlns:a="http://schemas.openxmlformats.org/drawingml/2006/main" noGrp="1"/>
          </p:cNvSpPr>
          <p:nvPr/>
        </p:nvSpPr>
        <p:spPr>
          <a:xfrm xmlns:a="http://schemas.openxmlformats.org/drawingml/2006/main">
            <a:off x="1104900" y="2428875"/>
            <a:ext cx="1581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Structured decisions for the hook to enforce</a:t>
            </a:r>
          </a:p>
        </p:txBody>
      </p:sp>
      <p:sp>
        <p:nvSpPr>
          <p:cNvPr id="5" name="">
            <a:extLst xmlns:a="http://schemas.openxmlformats.org/drawingml/2006/main">
              <a:ext uri="{FF2B5EF4-FFF2-40B4-BE49-F238E27FC236}">
                <a16:creationId xmlns:a16="http://schemas.microsoft.com/office/drawing/2014/main" id="{64D9F9A8-6E5F-444F-8B92-72C98EBDE173}"/>
              </a:ext>
            </a:extLst>
          </p:cNvPr>
          <p:cNvSpPr>
            <a:spLocks xmlns:a="http://schemas.openxmlformats.org/drawingml/2006/main" noGrp="1"/>
          </p:cNvSpPr>
          <p:nvPr/>
        </p:nvSpPr>
        <p:spPr>
          <a:xfrm xmlns:a="http://schemas.openxmlformats.org/drawingml/2006/main">
            <a:off x="5810250" y="3448050"/>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468EF"/>
                </a:solidFill>
                <a:latin typeface="Arial"/>
                <a:ea typeface="Arial"/>
                <a:cs typeface="Arial"/>
              </a:defRPr>
            </a:pPr>
            <a:r>
              <a:rPr sz="2175" b="1">
                <a:solidFill>
                  <a:srgbClr val="3468EF"/>
                </a:solidFill>
                <a:latin typeface="Arial"/>
                <a:ea typeface="Arial"/>
                <a:cs typeface="Arial"/>
              </a:rPr>
              <a:t>Company policy + employee.md</a:t>
            </a:r>
          </a:p>
        </p:txBody>
      </p:sp>
      <p:sp>
        <p:nvSpPr>
          <p:cNvPr id="6" name="">
            <a:extLst xmlns:a="http://schemas.openxmlformats.org/drawingml/2006/main">
              <a:ext uri="{FF2B5EF4-FFF2-40B4-BE49-F238E27FC236}">
                <a16:creationId xmlns:a16="http://schemas.microsoft.com/office/drawing/2014/main" id="{D1F300B4-FE54-4CC5-BEF1-33C1BF359CBE}"/>
              </a:ext>
            </a:extLst>
          </p:cNvPr>
          <p:cNvSpPr>
            <a:spLocks xmlns:a="http://schemas.openxmlformats.org/drawingml/2006/main" noGrp="1"/>
          </p:cNvSpPr>
          <p:nvPr/>
        </p:nvSpPr>
        <p:spPr>
          <a:xfrm xmlns:a="http://schemas.openxmlformats.org/drawingml/2006/main">
            <a:off x="5810250" y="3905250"/>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Rules apply before classification and storage</a:t>
            </a:r>
          </a:p>
        </p:txBody>
      </p:sp>
      <p:sp>
        <p:nvSpPr>
          <p:cNvPr id="7" name="">
            <a:extLst xmlns:a="http://schemas.openxmlformats.org/drawingml/2006/main">
              <a:ext uri="{FF2B5EF4-FFF2-40B4-BE49-F238E27FC236}">
                <a16:creationId xmlns:a16="http://schemas.microsoft.com/office/drawing/2014/main" id="{A2D37090-C50C-408E-AD78-505322CB70E8}"/>
              </a:ext>
            </a:extLst>
          </p:cNvPr>
          <p:cNvSpPr>
            <a:spLocks xmlns:a="http://schemas.openxmlformats.org/drawingml/2006/main" noGrp="1"/>
          </p:cNvSpPr>
          <p:nvPr/>
        </p:nvSpPr>
        <p:spPr>
          <a:xfrm xmlns:a="http://schemas.openxmlformats.org/drawingml/2006/main">
            <a:off x="1066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8" name="">
            <a:extLst xmlns:a="http://schemas.openxmlformats.org/drawingml/2006/main">
              <a:ext uri="{FF2B5EF4-FFF2-40B4-BE49-F238E27FC236}">
                <a16:creationId xmlns:a16="http://schemas.microsoft.com/office/drawing/2014/main" id="{58E773BD-B071-4F8E-95E8-C54E91A8B763}"/>
              </a:ext>
            </a:extLst>
          </p:cNvPr>
          <p:cNvSpPr>
            <a:spLocks xmlns:a="http://schemas.openxmlformats.org/drawingml/2006/main" noGrp="1"/>
          </p:cNvSpPr>
          <p:nvPr/>
        </p:nvSpPr>
        <p:spPr>
          <a:xfrm xmlns:a="http://schemas.openxmlformats.org/drawingml/2006/main">
            <a:off x="1276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Agent trajectory</a:t>
            </a:r>
          </a:p>
        </p:txBody>
      </p:sp>
      <p:sp>
        <p:nvSpPr>
          <p:cNvPr id="9" name="">
            <a:extLst xmlns:a="http://schemas.openxmlformats.org/drawingml/2006/main">
              <a:ext uri="{FF2B5EF4-FFF2-40B4-BE49-F238E27FC236}">
                <a16:creationId xmlns:a16="http://schemas.microsoft.com/office/drawing/2014/main" id="{1F5D26E3-818D-4FDD-89F7-6C283EEBCBC0}"/>
              </a:ext>
            </a:extLst>
          </p:cNvPr>
          <p:cNvSpPr>
            <a:spLocks xmlns:a="http://schemas.openxmlformats.org/drawingml/2006/main" noGrp="1"/>
          </p:cNvSpPr>
          <p:nvPr/>
        </p:nvSpPr>
        <p:spPr>
          <a:xfrm xmlns:a="http://schemas.openxmlformats.org/drawingml/2006/main">
            <a:off x="1276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Messages, calls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tool results</a:t>
            </a:r>
          </a:p>
        </p:txBody>
      </p:sp>
      <p:sp>
        <p:nvSpPr>
          <p:cNvPr id="10" name="">
            <a:extLst xmlns:a="http://schemas.openxmlformats.org/drawingml/2006/main">
              <a:ext uri="{FF2B5EF4-FFF2-40B4-BE49-F238E27FC236}">
                <a16:creationId xmlns:a16="http://schemas.microsoft.com/office/drawing/2014/main" id="{80C4B4A9-F164-4B75-9E7B-0B21B710FE4E}"/>
              </a:ext>
            </a:extLst>
          </p:cNvPr>
          <p:cNvSpPr>
            <a:spLocks xmlns:a="http://schemas.openxmlformats.org/drawingml/2006/main" noGrp="1"/>
          </p:cNvSpPr>
          <p:nvPr/>
        </p:nvSpPr>
        <p:spPr>
          <a:xfrm xmlns:a="http://schemas.openxmlformats.org/drawingml/2006/main">
            <a:off x="39624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9BBB540-AD01-4287-BB33-52FE01E52290}"/>
              </a:ext>
            </a:extLst>
          </p:cNvPr>
          <p:cNvSpPr>
            <a:spLocks xmlns:a="http://schemas.openxmlformats.org/drawingml/2006/main" noGrp="1"/>
          </p:cNvSpPr>
          <p:nvPr/>
        </p:nvSpPr>
        <p:spPr>
          <a:xfrm xmlns:a="http://schemas.openxmlformats.org/drawingml/2006/main">
            <a:off x="44005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12" name="">
            <a:extLst xmlns:a="http://schemas.openxmlformats.org/drawingml/2006/main">
              <a:ext uri="{FF2B5EF4-FFF2-40B4-BE49-F238E27FC236}">
                <a16:creationId xmlns:a16="http://schemas.microsoft.com/office/drawing/2014/main" id="{A68C7A50-0729-48B8-BA5B-4C7E44BBC0E2}"/>
              </a:ext>
            </a:extLst>
          </p:cNvPr>
          <p:cNvSpPr>
            <a:spLocks xmlns:a="http://schemas.openxmlformats.org/drawingml/2006/main" noGrp="1"/>
          </p:cNvSpPr>
          <p:nvPr/>
        </p:nvSpPr>
        <p:spPr>
          <a:xfrm xmlns:a="http://schemas.openxmlformats.org/drawingml/2006/main">
            <a:off x="46101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Local listener</a:t>
            </a:r>
          </a:p>
        </p:txBody>
      </p:sp>
      <p:sp>
        <p:nvSpPr>
          <p:cNvPr id="13" name="">
            <a:extLst xmlns:a="http://schemas.openxmlformats.org/drawingml/2006/main">
              <a:ext uri="{FF2B5EF4-FFF2-40B4-BE49-F238E27FC236}">
                <a16:creationId xmlns:a16="http://schemas.microsoft.com/office/drawing/2014/main" id="{D5A9FC85-4FA7-48A6-B566-494A7CA956DD}"/>
              </a:ext>
            </a:extLst>
          </p:cNvPr>
          <p:cNvSpPr>
            <a:spLocks xmlns:a="http://schemas.openxmlformats.org/drawingml/2006/main" noGrp="1"/>
          </p:cNvSpPr>
          <p:nvPr/>
        </p:nvSpPr>
        <p:spPr>
          <a:xfrm xmlns:a="http://schemas.openxmlformats.org/drawingml/2006/main">
            <a:off x="46101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Intercept + check</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outbound rules</a:t>
            </a:r>
          </a:p>
        </p:txBody>
      </p:sp>
      <p:sp>
        <p:nvSpPr>
          <p:cNvPr id="14" name="">
            <a:extLst xmlns:a="http://schemas.openxmlformats.org/drawingml/2006/main">
              <a:ext uri="{FF2B5EF4-FFF2-40B4-BE49-F238E27FC236}">
                <a16:creationId xmlns:a16="http://schemas.microsoft.com/office/drawing/2014/main" id="{FAD3063F-9CE6-40CC-AB6C-DC7312F12F50}"/>
              </a:ext>
            </a:extLst>
          </p:cNvPr>
          <p:cNvSpPr>
            <a:spLocks xmlns:a="http://schemas.openxmlformats.org/drawingml/2006/main" noGrp="1"/>
          </p:cNvSpPr>
          <p:nvPr/>
        </p:nvSpPr>
        <p:spPr>
          <a:xfrm xmlns:a="http://schemas.openxmlformats.org/drawingml/2006/main">
            <a:off x="72961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1249A64D-EC45-4682-9698-BEFC66EE17A1}"/>
              </a:ext>
            </a:extLst>
          </p:cNvPr>
          <p:cNvSpPr>
            <a:spLocks xmlns:a="http://schemas.openxmlformats.org/drawingml/2006/main" noGrp="1"/>
          </p:cNvSpPr>
          <p:nvPr/>
        </p:nvSpPr>
        <p:spPr>
          <a:xfrm xmlns:a="http://schemas.openxmlformats.org/drawingml/2006/main">
            <a:off x="7734300" y="4810125"/>
            <a:ext cx="2819400" cy="1809750"/>
          </a:xfrm>
          <a:prstGeom xmlns:a="http://schemas.openxmlformats.org/drawingml/2006/main" prst="rect">
            <a:avLst/>
          </a:prstGeom>
          <a:solidFill xmlns:a="http://schemas.openxmlformats.org/drawingml/2006/main">
            <a:srgbClr val="E6EEFF"/>
          </a:solidFill>
          <a:ln xmlns:a="http://schemas.openxmlformats.org/drawingml/2006/main" w="19050">
            <a:solidFill>
              <a:srgbClr val="3468EF"/>
            </a:solidFill>
          </a:ln>
        </p:spPr>
      </p:sp>
      <p:sp>
        <p:nvSpPr>
          <p:cNvPr id="16" name="">
            <a:extLst xmlns:a="http://schemas.openxmlformats.org/drawingml/2006/main">
              <a:ext uri="{FF2B5EF4-FFF2-40B4-BE49-F238E27FC236}">
                <a16:creationId xmlns:a16="http://schemas.microsoft.com/office/drawing/2014/main" id="{16D40753-5D9E-4AD8-9A25-79F2AF298B8B}"/>
              </a:ext>
            </a:extLst>
          </p:cNvPr>
          <p:cNvSpPr>
            <a:spLocks xmlns:a="http://schemas.openxmlformats.org/drawingml/2006/main" noGrp="1"/>
          </p:cNvSpPr>
          <p:nvPr/>
        </p:nvSpPr>
        <p:spPr>
          <a:xfrm xmlns:a="http://schemas.openxmlformats.org/drawingml/2006/main">
            <a:off x="79438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3468EF"/>
                </a:solidFill>
                <a:latin typeface="Arial"/>
                <a:ea typeface="Arial"/>
                <a:cs typeface="Arial"/>
              </a:defRPr>
            </a:pPr>
            <a:r>
              <a:rPr sz="3000" b="1">
                <a:solidFill>
                  <a:srgbClr val="3468EF"/>
                </a:solidFill>
                <a:latin typeface="Arial"/>
                <a:ea typeface="Arial"/>
                <a:cs typeface="Arial"/>
              </a:rPr>
              <a:t>Jev</a:t>
            </a:r>
          </a:p>
        </p:txBody>
      </p:sp>
      <p:sp>
        <p:nvSpPr>
          <p:cNvPr id="17" name="">
            <a:extLst xmlns:a="http://schemas.openxmlformats.org/drawingml/2006/main">
              <a:ext uri="{FF2B5EF4-FFF2-40B4-BE49-F238E27FC236}">
                <a16:creationId xmlns:a16="http://schemas.microsoft.com/office/drawing/2014/main" id="{1E9589D3-4EF5-4176-ACF3-55C113CD80D6}"/>
              </a:ext>
            </a:extLst>
          </p:cNvPr>
          <p:cNvSpPr>
            <a:spLocks xmlns:a="http://schemas.openxmlformats.org/drawingml/2006/main" noGrp="1"/>
          </p:cNvSpPr>
          <p:nvPr/>
        </p:nvSpPr>
        <p:spPr>
          <a:xfrm xmlns:a="http://schemas.openxmlformats.org/drawingml/2006/main">
            <a:off x="79438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Category, keep/drop</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confidence</a:t>
            </a:r>
          </a:p>
        </p:txBody>
      </p:sp>
      <p:sp>
        <p:nvSpPr>
          <p:cNvPr id="18" name="">
            <a:extLst xmlns:a="http://schemas.openxmlformats.org/drawingml/2006/main">
              <a:ext uri="{FF2B5EF4-FFF2-40B4-BE49-F238E27FC236}">
                <a16:creationId xmlns:a16="http://schemas.microsoft.com/office/drawing/2014/main" id="{3F6BF9CC-D4D9-4155-B7D0-A5260244EF50}"/>
              </a:ext>
            </a:extLst>
          </p:cNvPr>
          <p:cNvSpPr>
            <a:spLocks xmlns:a="http://schemas.openxmlformats.org/drawingml/2006/main" noGrp="1"/>
          </p:cNvSpPr>
          <p:nvPr/>
        </p:nvSpPr>
        <p:spPr>
          <a:xfrm xmlns:a="http://schemas.openxmlformats.org/drawingml/2006/main">
            <a:off x="106299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B3B4ABA5-6812-4A56-96D6-7976C9E18652}"/>
              </a:ext>
            </a:extLst>
          </p:cNvPr>
          <p:cNvSpPr>
            <a:spLocks xmlns:a="http://schemas.openxmlformats.org/drawingml/2006/main" noGrp="1"/>
          </p:cNvSpPr>
          <p:nvPr/>
        </p:nvSpPr>
        <p:spPr>
          <a:xfrm xmlns:a="http://schemas.openxmlformats.org/drawingml/2006/main">
            <a:off x="110680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0" name="">
            <a:extLst xmlns:a="http://schemas.openxmlformats.org/drawingml/2006/main">
              <a:ext uri="{FF2B5EF4-FFF2-40B4-BE49-F238E27FC236}">
                <a16:creationId xmlns:a16="http://schemas.microsoft.com/office/drawing/2014/main" id="{E07CD94D-1734-46F7-94BF-A0A2D1762A12}"/>
              </a:ext>
            </a:extLst>
          </p:cNvPr>
          <p:cNvSpPr>
            <a:spLocks xmlns:a="http://schemas.openxmlformats.org/drawingml/2006/main" noGrp="1"/>
          </p:cNvSpPr>
          <p:nvPr/>
        </p:nvSpPr>
        <p:spPr>
          <a:xfrm xmlns:a="http://schemas.openxmlformats.org/drawingml/2006/main">
            <a:off x="112776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Policy hook</a:t>
            </a:r>
          </a:p>
        </p:txBody>
      </p:sp>
      <p:sp>
        <p:nvSpPr>
          <p:cNvPr id="21" name="">
            <a:extLst xmlns:a="http://schemas.openxmlformats.org/drawingml/2006/main">
              <a:ext uri="{FF2B5EF4-FFF2-40B4-BE49-F238E27FC236}">
                <a16:creationId xmlns:a16="http://schemas.microsoft.com/office/drawing/2014/main" id="{F65AEA59-1F4D-4F7B-883D-0D3DB02D3550}"/>
              </a:ext>
            </a:extLst>
          </p:cNvPr>
          <p:cNvSpPr>
            <a:spLocks xmlns:a="http://schemas.openxmlformats.org/drawingml/2006/main" noGrp="1"/>
          </p:cNvSpPr>
          <p:nvPr/>
        </p:nvSpPr>
        <p:spPr>
          <a:xfrm xmlns:a="http://schemas.openxmlformats.org/drawingml/2006/main">
            <a:off x="112776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Remove excluded</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spans</a:t>
            </a:r>
          </a:p>
        </p:txBody>
      </p:sp>
      <p:sp>
        <p:nvSpPr>
          <p:cNvPr id="22" name="">
            <a:extLst xmlns:a="http://schemas.openxmlformats.org/drawingml/2006/main">
              <a:ext uri="{FF2B5EF4-FFF2-40B4-BE49-F238E27FC236}">
                <a16:creationId xmlns:a16="http://schemas.microsoft.com/office/drawing/2014/main" id="{58E19E9E-879A-4EE0-9B7F-FD3D4925C973}"/>
              </a:ext>
            </a:extLst>
          </p:cNvPr>
          <p:cNvSpPr>
            <a:spLocks xmlns:a="http://schemas.openxmlformats.org/drawingml/2006/main" noGrp="1"/>
          </p:cNvSpPr>
          <p:nvPr/>
        </p:nvSpPr>
        <p:spPr>
          <a:xfrm xmlns:a="http://schemas.openxmlformats.org/drawingml/2006/main">
            <a:off x="139636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16DB5D2B-9AE4-4203-A231-1CC3C8DC11AE}"/>
              </a:ext>
            </a:extLst>
          </p:cNvPr>
          <p:cNvSpPr>
            <a:spLocks xmlns:a="http://schemas.openxmlformats.org/drawingml/2006/main" noGrp="1"/>
          </p:cNvSpPr>
          <p:nvPr/>
        </p:nvSpPr>
        <p:spPr>
          <a:xfrm xmlns:a="http://schemas.openxmlformats.org/drawingml/2006/main">
            <a:off x="14401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4" name="">
            <a:extLst xmlns:a="http://schemas.openxmlformats.org/drawingml/2006/main">
              <a:ext uri="{FF2B5EF4-FFF2-40B4-BE49-F238E27FC236}">
                <a16:creationId xmlns:a16="http://schemas.microsoft.com/office/drawing/2014/main" id="{DF1C4DED-A3D2-449D-B2D5-9C4C8D0DDE6F}"/>
              </a:ext>
            </a:extLst>
          </p:cNvPr>
          <p:cNvSpPr>
            <a:spLocks xmlns:a="http://schemas.openxmlformats.org/drawingml/2006/main" noGrp="1"/>
          </p:cNvSpPr>
          <p:nvPr/>
        </p:nvSpPr>
        <p:spPr>
          <a:xfrm xmlns:a="http://schemas.openxmlformats.org/drawingml/2006/main">
            <a:off x="14611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GBrain</a:t>
            </a:r>
          </a:p>
        </p:txBody>
      </p:sp>
      <p:sp>
        <p:nvSpPr>
          <p:cNvPr id="25" name="">
            <a:extLst xmlns:a="http://schemas.openxmlformats.org/drawingml/2006/main">
              <a:ext uri="{FF2B5EF4-FFF2-40B4-BE49-F238E27FC236}">
                <a16:creationId xmlns:a16="http://schemas.microsoft.com/office/drawing/2014/main" id="{624B1092-766E-47D5-8CE2-CF5537CF25AA}"/>
              </a:ext>
            </a:extLst>
          </p:cNvPr>
          <p:cNvSpPr>
            <a:spLocks xmlns:a="http://schemas.openxmlformats.org/drawingml/2006/main" noGrp="1"/>
          </p:cNvSpPr>
          <p:nvPr/>
        </p:nvSpPr>
        <p:spPr>
          <a:xfrm xmlns:a="http://schemas.openxmlformats.org/drawingml/2006/main">
            <a:off x="14611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Clean facts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trajectory</a:t>
            </a:r>
          </a:p>
        </p:txBody>
      </p:sp>
      <p:sp>
        <p:nvSpPr>
          <p:cNvPr id="26" name="">
            <a:extLst xmlns:a="http://schemas.openxmlformats.org/drawingml/2006/main">
              <a:ext uri="{FF2B5EF4-FFF2-40B4-BE49-F238E27FC236}">
                <a16:creationId xmlns:a16="http://schemas.microsoft.com/office/drawing/2014/main" id="{2DE44740-AF6E-4BEA-811F-44B16DFA4588}"/>
              </a:ext>
            </a:extLst>
          </p:cNvPr>
          <p:cNvSpPr>
            <a:spLocks xmlns:a="http://schemas.openxmlformats.org/drawingml/2006/main" noGrp="1"/>
          </p:cNvSpPr>
          <p:nvPr/>
        </p:nvSpPr>
        <p:spPr>
          <a:xfrm xmlns:a="http://schemas.openxmlformats.org/drawingml/2006/main">
            <a:off x="4467225" y="6848475"/>
            <a:ext cx="3009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Only permitted input</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reaches the classifier</a:t>
            </a:r>
          </a:p>
        </p:txBody>
      </p:sp>
      <p:sp>
        <p:nvSpPr>
          <p:cNvPr id="27" name="">
            <a:extLst xmlns:a="http://schemas.openxmlformats.org/drawingml/2006/main">
              <a:ext uri="{FF2B5EF4-FFF2-40B4-BE49-F238E27FC236}">
                <a16:creationId xmlns:a16="http://schemas.microsoft.com/office/drawing/2014/main" id="{394D4DFA-A50B-4E4E-855B-93963B387024}"/>
              </a:ext>
            </a:extLst>
          </p:cNvPr>
          <p:cNvSpPr>
            <a:spLocks xmlns:a="http://schemas.openxmlformats.org/drawingml/2006/main" noGrp="1"/>
          </p:cNvSpPr>
          <p:nvPr/>
        </p:nvSpPr>
        <p:spPr>
          <a:xfrm xmlns:a="http://schemas.openxmlformats.org/drawingml/2006/main">
            <a:off x="14458950" y="6848475"/>
            <a:ext cx="2809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Training requires</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separate permission</a:t>
            </a:r>
          </a:p>
        </p:txBody>
      </p:sp>
      <p:sp>
        <p:nvSpPr>
          <p:cNvPr id="28" name="">
            <a:extLst xmlns:a="http://schemas.openxmlformats.org/drawingml/2006/main">
              <a:ext uri="{FF2B5EF4-FFF2-40B4-BE49-F238E27FC236}">
                <a16:creationId xmlns:a16="http://schemas.microsoft.com/office/drawing/2014/main" id="{45B20D34-D435-43F4-8AAE-EF03BE21476C}"/>
              </a:ext>
            </a:extLst>
          </p:cNvPr>
          <p:cNvSpPr>
            <a:spLocks xmlns:a="http://schemas.openxmlformats.org/drawingml/2006/main" noGrp="1"/>
          </p:cNvSpPr>
          <p:nvPr/>
        </p:nvSpPr>
        <p:spPr>
          <a:xfrm xmlns:a="http://schemas.openxmlformats.org/drawingml/2006/main">
            <a:off x="1095375" y="8010525"/>
            <a:ext cx="1609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5253D"/>
                </a:solidFill>
                <a:latin typeface="Arial"/>
                <a:ea typeface="Arial"/>
                <a:cs typeface="Arial"/>
              </a:defRPr>
            </a:pPr>
            <a:r>
              <a:rPr sz="2250" b="1">
                <a:solidFill>
                  <a:srgbClr val="15253D"/>
                </a:solidFill>
                <a:latin typeface="Arial"/>
                <a:ea typeface="Arial"/>
                <a:cs typeface="Arial"/>
              </a:rPr>
              <a:t>The task keeps its authorized context. The persistent copy follows the rules.</a:t>
            </a:r>
          </a:p>
        </p:txBody>
      </p:sp>
      <p:sp>
        <p:nvSpPr>
          <p:cNvPr id="29" name="">
            <a:extLst xmlns:a="http://schemas.openxmlformats.org/drawingml/2006/main">
              <a:ext uri="{FF2B5EF4-FFF2-40B4-BE49-F238E27FC236}">
                <a16:creationId xmlns:a16="http://schemas.microsoft.com/office/drawing/2014/main" id="{5050661B-CDCB-4A98-805D-C1F0A0454ED5}"/>
              </a:ext>
            </a:extLst>
          </p:cNvPr>
          <p:cNvSpPr>
            <a:spLocks xmlns:a="http://schemas.openxmlformats.org/drawingml/2006/main" noGrp="1"/>
          </p:cNvSpPr>
          <p:nvPr/>
        </p:nvSpPr>
        <p:spPr>
          <a:xfrm xmlns:a="http://schemas.openxmlformats.org/drawingml/2006/main">
            <a:off x="1095375" y="8696325"/>
            <a:ext cx="1619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647C9F"/>
                </a:solidFill>
                <a:latin typeface="Arial"/>
                <a:ea typeface="Arial"/>
                <a:cs typeface="Arial"/>
              </a:defRPr>
            </a:pPr>
            <a:r>
              <a:rPr sz="1650" b="0">
                <a:solidFill>
                  <a:srgbClr val="647C9F"/>
                </a:solidFill>
                <a:latin typeface="Arial"/>
                <a:ea typeface="Arial"/>
                <a:cs typeface="Arial"/>
              </a:rPr>
              <a:t>Prototype: local rules simulate Jev; the GBrain handoff is simulated.</a:t>
            </a:r>
          </a:p>
        </p:txBody>
      </p:sp>
    </p:spTree>
    <p:extLst>
      <p:ext uri="{BB962C8B-B14F-4D97-AF65-F5344CB8AC3E}">
        <p14:creationId xmlns:p14="http://schemas.microsoft.com/office/powerpoint/2010/main" val="3627237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2026-09-27T23:20:25.0350000Z</dcterms:created>
  <dcterms:modified xsi:type="dcterms:W3CDTF">2026-09-27T23:20:25.0360000Z</dcterms:modified>
</coreProperties>
</file>