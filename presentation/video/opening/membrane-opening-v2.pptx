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c837944f334cd8" /><Relationship Type="http://schemas.openxmlformats.org/officeDocument/2006/relationships/extended-properties" Target="/docProps/app.xml" Id="R76938116c06e467a" /><Relationship Type="http://schemas.openxmlformats.org/officeDocument/2006/relationships/officeDocument" Target="/ppt/presentation.xml" Id="R6f80359f5ba04d2b" /></Relationships>
</file>

<file path=ppt/presentation.xml><?xml version="1.0" encoding="utf-8"?>
<p:presentation xmlns:p="http://schemas.openxmlformats.org/presentationml/2006/main">
  <p:sldMasterIdLst>
    <p:sldMasterId xmlns:r="http://schemas.openxmlformats.org/officeDocument/2006/relationships" id="2147483648" r:id="R0ef6ea543d8c4f76"/>
  </p:sldMasterIdLst>
  <p:notesMasterIdLst>
    <p:notesMasterId xmlns:r="http://schemas.openxmlformats.org/officeDocument/2006/relationships" r:id="R6304e9754ff04ae0"/>
  </p:notesMasterIdLst>
  <p:sldIdLst>
    <p:sldId xmlns:r="http://schemas.openxmlformats.org/officeDocument/2006/relationships" id="256" r:id="Rbbb8f92cbcd84cd6"/>
    <p:sldId xmlns:r="http://schemas.openxmlformats.org/officeDocument/2006/relationships" id="257" r:id="R09c6d3766a60453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265cdfa53f4cf7" /><Relationship Type="http://schemas.openxmlformats.org/officeDocument/2006/relationships/slideMaster" Target="/ppt/slideMasters/slideMaster1.xml" Id="R0ef6ea543d8c4f76" /><Relationship Type="http://schemas.openxmlformats.org/officeDocument/2006/relationships/notesMaster" Target="/ppt/notesMasters/notesMaster1.xml" Id="R6304e9754ff04ae0" /><Relationship Type="http://schemas.openxmlformats.org/officeDocument/2006/relationships/presProps" Target="/ppt/presProps.xml" Id="R47ac530644a64bb4" /><Relationship Type="http://schemas.openxmlformats.org/officeDocument/2006/relationships/tableStyles" Target="/ppt/tableStyles.xml" Id="R96f90a7146a44d9a" /><Relationship Type="http://schemas.openxmlformats.org/officeDocument/2006/relationships/slide" Target="/ppt/slides/slide1.xml" Id="Rbbb8f92cbcd84cd6" /><Relationship Type="http://schemas.openxmlformats.org/officeDocument/2006/relationships/slide" Target="/ppt/slides/slide2.xml" Id="R09c6d3766a6045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6e5182e4a1743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bf8aa8d94442c5" /><Relationship Type="http://schemas.openxmlformats.org/officeDocument/2006/relationships/notesMaster" Target="/ppt/notesMasters/notesMaster1.xml" Id="Ra6db71d7be394a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11be9f6c244190" /><Relationship Type="http://schemas.openxmlformats.org/officeDocument/2006/relationships/notesMaster" Target="/ppt/notesMasters/notesMaster1.xml" Id="R8fa5e803f1b84f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Membrane is a policy layer for AI memory. Teams hesitate to adopt AI memory when they cannot control what it remembers. During an outage, an agent needs detailed context to help the team debug. But that conversation also contains temporary credentials, customer details, and raw request payloads. Information that helps solve today’s incident should not automatically become permanent company memory. Company classifications set one boundary. Employee preferences add another. Permission to use information for the current task does not automatically mean permission to remember it or use it for training. Remove too much context up front, and the agent becomes less useful. Remember everything, and teams lose control over sensitive information. That uncertainty can keep agents confined to narrow pilots. Membrane keeps the authorized context available for the task, then applies explicit rules to what the agent remembers afterwards.</a:t>
            </a:r>
          </a:p>
          <a:p xmlns:a="http://schemas.openxmlformats.org/drawingml/2006/main">
            <a:r>
              <a:t/>
            </a:r>
          </a:p>
          <a:p xmlns:a="http://schemas.openxmlformats.org/drawingml/2006/main">
            <a:r>
              <a:t>Product thesis based on the user’s problem framing, not a measured market-adoption statistic. The task uses authorized context. All incident examples in the demo are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Jev role is proposed architecture; the demo currently uses deterministic local redaction, not a live Jev call. TypeSafe describes Jev as a System One model that accepts unstructured state and returns typed probabilistic decisions rather than generated strings. Our proposed schema asks for a category, retention decision, and confidence. The application, not Jev-generated prose, assembles cleaned content. Outbound policy checks must run before hosted classification; content prohibited from leaving the environment stays on the local path. Low-confidence or unsupported cases can skip persistence. Training permission is checked separately. Source: https://typesafe.ai/blog/introducing-system-one-models-and-jev (accessed 2026-09-27). GBrain dispatch from this UI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3cfa4ed1e2461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119a522e154d88" /><Relationship Type="http://schemas.openxmlformats.org/officeDocument/2006/relationships/slideLayout" Target="/ppt/slideLayouts/slideLayout1.xml" Id="R13c14bb8676c4e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c14bb8676c4e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2f47dfd8b14c2d" /><Relationship Type="http://schemas.openxmlformats.org/officeDocument/2006/relationships/notesSlide" Target="/ppt/notesSlides/notesSlide1.xml" Id="R5fc7768fe8414d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d5122979c384bfa" /><Relationship Type="http://schemas.openxmlformats.org/officeDocument/2006/relationships/notesSlide" Target="/ppt/notesSlides/notesSlide2.xml" Id="R73317b07b7564144" /></Relationships>
</file>

<file path=ppt/slides/slide1.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73EF755-BC38-4988-833B-30D02CBE0AF4}"/>
              </a:ext>
            </a:extLst>
          </p:cNvPr>
          <p:cNvSpPr>
            <a:spLocks xmlns:a="http://schemas.openxmlformats.org/drawingml/2006/main" noGrp="1"/>
          </p:cNvSpPr>
          <p:nvPr/>
        </p:nvSpPr>
        <p:spPr>
          <a:xfrm xmlns:a="http://schemas.openxmlformats.org/drawingml/2006/main">
            <a:off x="666750" y="361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Membrane: a policy layer for AI memory</a:t>
            </a:r>
          </a:p>
        </p:txBody>
      </p:sp>
      <p:sp>
        <p:nvSpPr>
          <p:cNvPr id="2" name="">
            <a:extLst xmlns:a="http://schemas.openxmlformats.org/drawingml/2006/main">
              <a:ext uri="{FF2B5EF4-FFF2-40B4-BE49-F238E27FC236}">
                <a16:creationId xmlns:a16="http://schemas.microsoft.com/office/drawing/2014/main" id="{41A20671-9C7F-4DE5-9781-2E527601A65F}"/>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01 / THE MEMORY PROBLEM</a:t>
            </a:r>
          </a:p>
        </p:txBody>
      </p:sp>
      <p:sp>
        <p:nvSpPr>
          <p:cNvPr id="3" name="">
            <a:extLst xmlns:a="http://schemas.openxmlformats.org/drawingml/2006/main">
              <a:ext uri="{FF2B5EF4-FFF2-40B4-BE49-F238E27FC236}">
                <a16:creationId xmlns:a16="http://schemas.microsoft.com/office/drawing/2014/main" id="{9BC34EA5-EC27-43E3-BA2D-0D15406D17DD}"/>
              </a:ext>
            </a:extLst>
          </p:cNvPr>
          <p:cNvSpPr>
            <a:spLocks xmlns:a="http://schemas.openxmlformats.org/drawingml/2006/main" noGrp="1"/>
          </p:cNvSpPr>
          <p:nvPr/>
        </p:nvSpPr>
        <p:spPr>
          <a:xfrm xmlns:a="http://schemas.openxmlformats.org/drawingml/2006/main">
            <a:off x="1066800" y="1390650"/>
            <a:ext cx="16154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The memory adoption problem</a:t>
            </a:r>
          </a:p>
        </p:txBody>
      </p:sp>
      <p:sp>
        <p:nvSpPr>
          <p:cNvPr id="4" name="">
            <a:extLst xmlns:a="http://schemas.openxmlformats.org/drawingml/2006/main">
              <a:ext uri="{FF2B5EF4-FFF2-40B4-BE49-F238E27FC236}">
                <a16:creationId xmlns:a16="http://schemas.microsoft.com/office/drawing/2014/main" id="{56952B91-BF49-4ACF-B490-7322424831F0}"/>
              </a:ext>
            </a:extLst>
          </p:cNvPr>
          <p:cNvSpPr>
            <a:spLocks xmlns:a="http://schemas.openxmlformats.org/drawingml/2006/main" noGrp="1"/>
          </p:cNvSpPr>
          <p:nvPr/>
        </p:nvSpPr>
        <p:spPr>
          <a:xfrm xmlns:a="http://schemas.openxmlformats.org/drawingml/2006/main">
            <a:off x="1104900" y="2428875"/>
            <a:ext cx="15906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Useful agents need context. Teams need control over what they remember.</a:t>
            </a:r>
          </a:p>
        </p:txBody>
      </p:sp>
      <p:sp>
        <p:nvSpPr>
          <p:cNvPr id="5" name="">
            <a:extLst xmlns:a="http://schemas.openxmlformats.org/drawingml/2006/main">
              <a:ext uri="{FF2B5EF4-FFF2-40B4-BE49-F238E27FC236}">
                <a16:creationId xmlns:a16="http://schemas.microsoft.com/office/drawing/2014/main" id="{6333EFBF-AEC3-4E82-8BFB-EA7EF8202C99}"/>
              </a:ext>
            </a:extLst>
          </p:cNvPr>
          <p:cNvSpPr>
            <a:spLocks xmlns:a="http://schemas.openxmlformats.org/drawingml/2006/main" noGrp="1"/>
          </p:cNvSpPr>
          <p:nvPr/>
        </p:nvSpPr>
        <p:spPr>
          <a:xfrm xmlns:a="http://schemas.openxmlformats.org/drawingml/2006/main">
            <a:off x="1143000" y="381000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Mixed context</a:t>
            </a:r>
          </a:p>
        </p:txBody>
      </p:sp>
      <p:sp>
        <p:nvSpPr>
          <p:cNvPr id="6" name="">
            <a:extLst xmlns:a="http://schemas.openxmlformats.org/drawingml/2006/main">
              <a:ext uri="{FF2B5EF4-FFF2-40B4-BE49-F238E27FC236}">
                <a16:creationId xmlns:a16="http://schemas.microsoft.com/office/drawing/2014/main" id="{D6CDE88A-074E-4A86-8F42-D94854D3812E}"/>
              </a:ext>
            </a:extLst>
          </p:cNvPr>
          <p:cNvSpPr>
            <a:spLocks xmlns:a="http://schemas.openxmlformats.org/drawingml/2006/main" noGrp="1"/>
          </p:cNvSpPr>
          <p:nvPr/>
        </p:nvSpPr>
        <p:spPr>
          <a:xfrm xmlns:a="http://schemas.openxmlformats.org/drawingml/2006/main">
            <a:off x="1143000" y="4419600"/>
            <a:ext cx="628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Debugging clues arrive beside credentials</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and customer data.</a:t>
            </a:r>
          </a:p>
        </p:txBody>
      </p:sp>
      <p:sp>
        <p:nvSpPr>
          <p:cNvPr id="7" name="">
            <a:extLst xmlns:a="http://schemas.openxmlformats.org/drawingml/2006/main">
              <a:ext uri="{FF2B5EF4-FFF2-40B4-BE49-F238E27FC236}">
                <a16:creationId xmlns:a16="http://schemas.microsoft.com/office/drawing/2014/main" id="{E5A44552-C7DE-4CBF-97CA-518345CA6BEB}"/>
              </a:ext>
            </a:extLst>
          </p:cNvPr>
          <p:cNvSpPr>
            <a:spLocks xmlns:a="http://schemas.openxmlformats.org/drawingml/2006/main" noGrp="1"/>
          </p:cNvSpPr>
          <p:nvPr/>
        </p:nvSpPr>
        <p:spPr>
          <a:xfrm xmlns:a="http://schemas.openxmlformats.org/drawingml/2006/main">
            <a:off x="1143000" y="5705475"/>
            <a:ext cx="6286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Overlapping rules</a:t>
            </a:r>
          </a:p>
        </p:txBody>
      </p:sp>
      <p:sp>
        <p:nvSpPr>
          <p:cNvPr id="8" name="">
            <a:extLst xmlns:a="http://schemas.openxmlformats.org/drawingml/2006/main">
              <a:ext uri="{FF2B5EF4-FFF2-40B4-BE49-F238E27FC236}">
                <a16:creationId xmlns:a16="http://schemas.microsoft.com/office/drawing/2014/main" id="{1C9A0710-0B4C-424E-B75C-E63CDA64580A}"/>
              </a:ext>
            </a:extLst>
          </p:cNvPr>
          <p:cNvSpPr>
            <a:spLocks xmlns:a="http://schemas.openxmlformats.org/drawingml/2006/main" noGrp="1"/>
          </p:cNvSpPr>
          <p:nvPr/>
        </p:nvSpPr>
        <p:spPr>
          <a:xfrm xmlns:a="http://schemas.openxmlformats.org/drawingml/2006/main">
            <a:off x="1143000" y="6315075"/>
            <a:ext cx="647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Company classifications and employee</a:t>
            </a:r>
          </a:p>
          <a:p xmlns:a="http://schemas.openxmlformats.org/drawingml/2006/main">
            <a:pPr>
              <a:defRPr sz="2325" b="0">
                <a:solidFill>
                  <a:srgbClr val="647C9F"/>
                </a:solidFill>
                <a:latin typeface="Arial"/>
                <a:ea typeface="Arial"/>
                <a:cs typeface="Arial"/>
              </a:defRPr>
            </a:pPr>
            <a:r>
              <a:rPr sz="2325" b="0">
                <a:solidFill>
                  <a:srgbClr val="647C9F"/>
                </a:solidFill>
                <a:latin typeface="Arial"/>
                <a:ea typeface="Arial"/>
                <a:cs typeface="Arial"/>
              </a:rPr>
              <a:t>preferences both matter.</a:t>
            </a:r>
          </a:p>
        </p:txBody>
      </p:sp>
      <p:sp>
        <p:nvSpPr>
          <p:cNvPr id="9" name="">
            <a:extLst xmlns:a="http://schemas.openxmlformats.org/drawingml/2006/main">
              <a:ext uri="{FF2B5EF4-FFF2-40B4-BE49-F238E27FC236}">
                <a16:creationId xmlns:a16="http://schemas.microsoft.com/office/drawing/2014/main" id="{346FEFA9-2195-4D40-8706-5CC919792DED}"/>
              </a:ext>
            </a:extLst>
          </p:cNvPr>
          <p:cNvSpPr>
            <a:spLocks xmlns:a="http://schemas.openxmlformats.org/drawingml/2006/main" noGrp="1"/>
          </p:cNvSpPr>
          <p:nvPr/>
        </p:nvSpPr>
        <p:spPr>
          <a:xfrm xmlns:a="http://schemas.openxmlformats.org/drawingml/2006/main">
            <a:off x="1143000" y="7620000"/>
            <a:ext cx="647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850" b="1">
                <a:solidFill>
                  <a:srgbClr val="15253D"/>
                </a:solidFill>
                <a:latin typeface="Arial"/>
                <a:ea typeface="Arial"/>
                <a:cs typeface="Arial"/>
              </a:defRPr>
            </a:pPr>
            <a:r>
              <a:rPr sz="2850" b="1">
                <a:solidFill>
                  <a:srgbClr val="15253D"/>
                </a:solidFill>
                <a:latin typeface="Arial"/>
                <a:ea typeface="Arial"/>
                <a:cs typeface="Arial"/>
              </a:rPr>
              <a:t>Separate permissions</a:t>
            </a:r>
          </a:p>
        </p:txBody>
      </p:sp>
      <p:sp>
        <p:nvSpPr>
          <p:cNvPr id="10" name="">
            <a:extLst xmlns:a="http://schemas.openxmlformats.org/drawingml/2006/main">
              <a:ext uri="{FF2B5EF4-FFF2-40B4-BE49-F238E27FC236}">
                <a16:creationId xmlns:a16="http://schemas.microsoft.com/office/drawing/2014/main" id="{19568F4E-E1DB-4266-942F-747376B4F506}"/>
              </a:ext>
            </a:extLst>
          </p:cNvPr>
          <p:cNvSpPr>
            <a:spLocks xmlns:a="http://schemas.openxmlformats.org/drawingml/2006/main" noGrp="1"/>
          </p:cNvSpPr>
          <p:nvPr/>
        </p:nvSpPr>
        <p:spPr>
          <a:xfrm xmlns:a="http://schemas.openxmlformats.org/drawingml/2006/main">
            <a:off x="1143000" y="8229600"/>
            <a:ext cx="7000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0">
                <a:solidFill>
                  <a:srgbClr val="647C9F"/>
                </a:solidFill>
                <a:latin typeface="Arial"/>
                <a:ea typeface="Arial"/>
                <a:cs typeface="Arial"/>
              </a:defRPr>
            </a:pPr>
            <a:r>
              <a:rPr sz="2175" b="0">
                <a:solidFill>
                  <a:srgbClr val="647C9F"/>
                </a:solidFill>
                <a:latin typeface="Arial"/>
                <a:ea typeface="Arial"/>
                <a:cs typeface="Arial"/>
              </a:rPr>
              <a:t>Use now. Retain later. Train only with permission.</a:t>
            </a:r>
          </a:p>
        </p:txBody>
      </p:sp>
      <p:sp>
        <p:nvSpPr>
          <p:cNvPr id="11" name="">
            <a:extLst xmlns:a="http://schemas.openxmlformats.org/drawingml/2006/main">
              <a:ext uri="{FF2B5EF4-FFF2-40B4-BE49-F238E27FC236}">
                <a16:creationId xmlns:a16="http://schemas.microsoft.com/office/drawing/2014/main" id="{16FE371F-B70C-433F-95DB-E60B6D5AB3A4}"/>
              </a:ext>
            </a:extLst>
          </p:cNvPr>
          <p:cNvSpPr>
            <a:spLocks xmlns:a="http://schemas.openxmlformats.org/drawingml/2006/main" noGrp="1"/>
          </p:cNvSpPr>
          <p:nvPr/>
        </p:nvSpPr>
        <p:spPr>
          <a:xfrm xmlns:a="http://schemas.openxmlformats.org/drawingml/2006/main">
            <a:off x="8905875" y="3838575"/>
            <a:ext cx="7953375" cy="2362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Unclear memory rules</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keep agents in</a:t>
            </a:r>
          </a:p>
          <a:p xmlns:a="http://schemas.openxmlformats.org/drawingml/2006/main">
            <a:pPr>
              <a:defRPr sz="4875" b="1">
                <a:solidFill>
                  <a:srgbClr val="3468EF"/>
                </a:solidFill>
                <a:latin typeface="Arial"/>
                <a:ea typeface="Arial"/>
                <a:cs typeface="Arial"/>
              </a:defRPr>
            </a:pPr>
            <a:r>
              <a:rPr sz="4875" b="1">
                <a:solidFill>
                  <a:srgbClr val="3468EF"/>
                </a:solidFill>
                <a:latin typeface="Arial"/>
                <a:ea typeface="Arial"/>
                <a:cs typeface="Arial"/>
              </a:rPr>
              <a:t>restricted pilots.</a:t>
            </a:r>
          </a:p>
        </p:txBody>
      </p:sp>
      <p:sp>
        <p:nvSpPr>
          <p:cNvPr id="12" name="">
            <a:extLst xmlns:a="http://schemas.openxmlformats.org/drawingml/2006/main">
              <a:ext uri="{FF2B5EF4-FFF2-40B4-BE49-F238E27FC236}">
                <a16:creationId xmlns:a16="http://schemas.microsoft.com/office/drawing/2014/main" id="{4071DC39-500A-4D0E-9F35-D3DE890729C5}"/>
              </a:ext>
            </a:extLst>
          </p:cNvPr>
          <p:cNvSpPr>
            <a:spLocks xmlns:a="http://schemas.openxmlformats.org/drawingml/2006/main" noGrp="1"/>
          </p:cNvSpPr>
          <p:nvPr/>
        </p:nvSpPr>
        <p:spPr>
          <a:xfrm xmlns:a="http://schemas.openxmlformats.org/drawingml/2006/main">
            <a:off x="8963025" y="6877050"/>
            <a:ext cx="8096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Less context can weaken the task.</a:t>
            </a:r>
          </a:p>
          <a:p xmlns:a="http://schemas.openxmlformats.org/drawingml/2006/main">
            <a:pPr>
              <a:defRPr sz="2550" b="0">
                <a:solidFill>
                  <a:srgbClr val="15253D"/>
                </a:solidFill>
                <a:latin typeface="Arial"/>
                <a:ea typeface="Arial"/>
                <a:cs typeface="Arial"/>
              </a:defRPr>
            </a:pPr>
            <a:r>
              <a:rPr sz="2550" b="0">
                <a:solidFill>
                  <a:srgbClr val="15253D"/>
                </a:solidFill>
                <a:latin typeface="Arial"/>
                <a:ea typeface="Arial"/>
                <a:cs typeface="Arial"/>
              </a:rPr>
              <a:t>Uncontrolled retention creates risk.</a:t>
            </a:r>
          </a:p>
        </p:txBody>
      </p:sp>
    </p:spTree>
    <p:extLst>
      <p:ext uri="{BB962C8B-B14F-4D97-AF65-F5344CB8AC3E}">
        <p14:creationId xmlns:p14="http://schemas.microsoft.com/office/powerpoint/2010/main" val="1598539253"/>
      </p:ext>
    </p:extLst>
  </p:cSld>
</p:sld>
</file>

<file path=ppt/slides/slide2.xml><?xml version="1.0" encoding="utf-8"?>
<p:sld xmlns:p="http://schemas.openxmlformats.org/presentationml/2006/main">
  <p:cSld>
    <p:bg>
      <p:bgPr>
        <a:solidFill xmlns:a="http://schemas.openxmlformats.org/drawingml/2006/main">
          <a:srgbClr val="EEF2F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8352BCA-53A9-43EB-9CB6-A9B0C1617171}"/>
              </a:ext>
            </a:extLst>
          </p:cNvPr>
          <p:cNvSpPr>
            <a:spLocks xmlns:a="http://schemas.openxmlformats.org/drawingml/2006/main" noGrp="1"/>
          </p:cNvSpPr>
          <p:nvPr/>
        </p:nvSpPr>
        <p:spPr>
          <a:xfrm xmlns:a="http://schemas.openxmlformats.org/drawingml/2006/main">
            <a:off x="666750" y="361950"/>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1">
                <a:solidFill>
                  <a:srgbClr val="15253D"/>
                </a:solidFill>
                <a:latin typeface="Arial"/>
                <a:ea typeface="Arial"/>
                <a:cs typeface="Arial"/>
              </a:defRPr>
            </a:pPr>
            <a:r>
              <a:rPr sz="1950" b="1">
                <a:solidFill>
                  <a:srgbClr val="15253D"/>
                </a:solidFill>
                <a:latin typeface="Arial"/>
                <a:ea typeface="Arial"/>
                <a:cs typeface="Arial"/>
              </a:rPr>
              <a:t>Membrane: a policy layer for AI memory</a:t>
            </a:r>
          </a:p>
        </p:txBody>
      </p:sp>
      <p:sp>
        <p:nvSpPr>
          <p:cNvPr id="2" name="">
            <a:extLst xmlns:a="http://schemas.openxmlformats.org/drawingml/2006/main">
              <a:ext uri="{FF2B5EF4-FFF2-40B4-BE49-F238E27FC236}">
                <a16:creationId xmlns:a16="http://schemas.microsoft.com/office/drawing/2014/main" id="{5C962461-543E-4556-A68E-CAC2973D7AF8}"/>
              </a:ext>
            </a:extLst>
          </p:cNvPr>
          <p:cNvSpPr>
            <a:spLocks xmlns:a="http://schemas.openxmlformats.org/drawingml/2006/main" noGrp="1"/>
          </p:cNvSpPr>
          <p:nvPr/>
        </p:nvSpPr>
        <p:spPr>
          <a:xfrm xmlns:a="http://schemas.openxmlformats.org/drawingml/2006/main">
            <a:off x="13430250" y="409575"/>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647C9F"/>
                </a:solidFill>
                <a:latin typeface="Arial"/>
                <a:ea typeface="Arial"/>
                <a:cs typeface="Arial"/>
              </a:defRPr>
            </a:pPr>
            <a:r>
              <a:rPr sz="1500" b="0">
                <a:solidFill>
                  <a:srgbClr val="647C9F"/>
                </a:solidFill>
                <a:latin typeface="Arial"/>
                <a:ea typeface="Arial"/>
                <a:cs typeface="Arial"/>
              </a:rPr>
              <a:t>02 / THE JEV PIPELINE</a:t>
            </a:r>
          </a:p>
        </p:txBody>
      </p:sp>
      <p:sp>
        <p:nvSpPr>
          <p:cNvPr id="3" name="">
            <a:extLst xmlns:a="http://schemas.openxmlformats.org/drawingml/2006/main">
              <a:ext uri="{FF2B5EF4-FFF2-40B4-BE49-F238E27FC236}">
                <a16:creationId xmlns:a16="http://schemas.microsoft.com/office/drawing/2014/main" id="{4A1B09A9-1BB6-4F5F-A2FA-E40D7CFE4B20}"/>
              </a:ext>
            </a:extLst>
          </p:cNvPr>
          <p:cNvSpPr>
            <a:spLocks xmlns:a="http://schemas.openxmlformats.org/drawingml/2006/main" noGrp="1"/>
          </p:cNvSpPr>
          <p:nvPr/>
        </p:nvSpPr>
        <p:spPr>
          <a:xfrm xmlns:a="http://schemas.openxmlformats.org/drawingml/2006/main">
            <a:off x="1066800" y="1390650"/>
            <a:ext cx="16154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5400" b="1">
                <a:solidFill>
                  <a:srgbClr val="15253D"/>
                </a:solidFill>
                <a:latin typeface="Arial"/>
                <a:ea typeface="Arial"/>
                <a:cs typeface="Arial"/>
              </a:defRPr>
            </a:pPr>
            <a:r>
              <a:rPr sz="5400" b="1">
                <a:solidFill>
                  <a:srgbClr val="15253D"/>
                </a:solidFill>
                <a:latin typeface="Arial"/>
                <a:ea typeface="Arial"/>
                <a:cs typeface="Arial"/>
              </a:rPr>
              <a:t>Jev at the memory boundary</a:t>
            </a:r>
          </a:p>
        </p:txBody>
      </p:sp>
      <p:sp>
        <p:nvSpPr>
          <p:cNvPr id="4" name="">
            <a:extLst xmlns:a="http://schemas.openxmlformats.org/drawingml/2006/main">
              <a:ext uri="{FF2B5EF4-FFF2-40B4-BE49-F238E27FC236}">
                <a16:creationId xmlns:a16="http://schemas.microsoft.com/office/drawing/2014/main" id="{AC78FB21-126A-4F99-8A4F-2CE38B320874}"/>
              </a:ext>
            </a:extLst>
          </p:cNvPr>
          <p:cNvSpPr>
            <a:spLocks xmlns:a="http://schemas.openxmlformats.org/drawingml/2006/main" noGrp="1"/>
          </p:cNvSpPr>
          <p:nvPr/>
        </p:nvSpPr>
        <p:spPr>
          <a:xfrm xmlns:a="http://schemas.openxmlformats.org/drawingml/2006/main">
            <a:off x="1104900" y="2428875"/>
            <a:ext cx="1581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625" b="0">
                <a:solidFill>
                  <a:srgbClr val="647C9F"/>
                </a:solidFill>
                <a:latin typeface="Arial"/>
                <a:ea typeface="Arial"/>
                <a:cs typeface="Arial"/>
              </a:defRPr>
            </a:pPr>
            <a:r>
              <a:rPr sz="2625" b="0">
                <a:solidFill>
                  <a:srgbClr val="647C9F"/>
                </a:solidFill>
                <a:latin typeface="Arial"/>
                <a:ea typeface="Arial"/>
                <a:cs typeface="Arial"/>
              </a:rPr>
              <a:t>Structured decisions for the hook to enforce</a:t>
            </a:r>
          </a:p>
        </p:txBody>
      </p:sp>
      <p:sp>
        <p:nvSpPr>
          <p:cNvPr id="5" name="">
            <a:extLst xmlns:a="http://schemas.openxmlformats.org/drawingml/2006/main">
              <a:ext uri="{FF2B5EF4-FFF2-40B4-BE49-F238E27FC236}">
                <a16:creationId xmlns:a16="http://schemas.microsoft.com/office/drawing/2014/main" id="{8432B87B-D961-483D-9B9B-F610E9CCEB1C}"/>
              </a:ext>
            </a:extLst>
          </p:cNvPr>
          <p:cNvSpPr>
            <a:spLocks xmlns:a="http://schemas.openxmlformats.org/drawingml/2006/main" noGrp="1"/>
          </p:cNvSpPr>
          <p:nvPr/>
        </p:nvSpPr>
        <p:spPr>
          <a:xfrm xmlns:a="http://schemas.openxmlformats.org/drawingml/2006/main">
            <a:off x="5810250" y="3448050"/>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3468EF"/>
                </a:solidFill>
                <a:latin typeface="Arial"/>
                <a:ea typeface="Arial"/>
                <a:cs typeface="Arial"/>
              </a:defRPr>
            </a:pPr>
            <a:r>
              <a:rPr sz="2175" b="1">
                <a:solidFill>
                  <a:srgbClr val="3468EF"/>
                </a:solidFill>
                <a:latin typeface="Arial"/>
                <a:ea typeface="Arial"/>
                <a:cs typeface="Arial"/>
              </a:rPr>
              <a:t>Company policy + employee.md</a:t>
            </a:r>
          </a:p>
        </p:txBody>
      </p:sp>
      <p:sp>
        <p:nvSpPr>
          <p:cNvPr id="6" name="">
            <a:extLst xmlns:a="http://schemas.openxmlformats.org/drawingml/2006/main">
              <a:ext uri="{FF2B5EF4-FFF2-40B4-BE49-F238E27FC236}">
                <a16:creationId xmlns:a16="http://schemas.microsoft.com/office/drawing/2014/main" id="{22ED1A03-1058-4E6F-B474-64B7A94E96B6}"/>
              </a:ext>
            </a:extLst>
          </p:cNvPr>
          <p:cNvSpPr>
            <a:spLocks xmlns:a="http://schemas.openxmlformats.org/drawingml/2006/main" noGrp="1"/>
          </p:cNvSpPr>
          <p:nvPr/>
        </p:nvSpPr>
        <p:spPr>
          <a:xfrm xmlns:a="http://schemas.openxmlformats.org/drawingml/2006/main">
            <a:off x="5810250" y="3905250"/>
            <a:ext cx="904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Rules apply before classification and storage</a:t>
            </a:r>
          </a:p>
        </p:txBody>
      </p:sp>
      <p:sp>
        <p:nvSpPr>
          <p:cNvPr id="7" name="">
            <a:extLst xmlns:a="http://schemas.openxmlformats.org/drawingml/2006/main">
              <a:ext uri="{FF2B5EF4-FFF2-40B4-BE49-F238E27FC236}">
                <a16:creationId xmlns:a16="http://schemas.microsoft.com/office/drawing/2014/main" id="{6EC68D55-9A29-466A-A47E-214021E6DCCC}"/>
              </a:ext>
            </a:extLst>
          </p:cNvPr>
          <p:cNvSpPr>
            <a:spLocks xmlns:a="http://schemas.openxmlformats.org/drawingml/2006/main" noGrp="1"/>
          </p:cNvSpPr>
          <p:nvPr/>
        </p:nvSpPr>
        <p:spPr>
          <a:xfrm xmlns:a="http://schemas.openxmlformats.org/drawingml/2006/main">
            <a:off x="1066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8" name="">
            <a:extLst xmlns:a="http://schemas.openxmlformats.org/drawingml/2006/main">
              <a:ext uri="{FF2B5EF4-FFF2-40B4-BE49-F238E27FC236}">
                <a16:creationId xmlns:a16="http://schemas.microsoft.com/office/drawing/2014/main" id="{6BDB13A3-3497-426E-ACE4-8187DD18FE54}"/>
              </a:ext>
            </a:extLst>
          </p:cNvPr>
          <p:cNvSpPr>
            <a:spLocks xmlns:a="http://schemas.openxmlformats.org/drawingml/2006/main" noGrp="1"/>
          </p:cNvSpPr>
          <p:nvPr/>
        </p:nvSpPr>
        <p:spPr>
          <a:xfrm xmlns:a="http://schemas.openxmlformats.org/drawingml/2006/main">
            <a:off x="1276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Agent trajectory</a:t>
            </a:r>
          </a:p>
        </p:txBody>
      </p:sp>
      <p:sp>
        <p:nvSpPr>
          <p:cNvPr id="9" name="">
            <a:extLst xmlns:a="http://schemas.openxmlformats.org/drawingml/2006/main">
              <a:ext uri="{FF2B5EF4-FFF2-40B4-BE49-F238E27FC236}">
                <a16:creationId xmlns:a16="http://schemas.microsoft.com/office/drawing/2014/main" id="{9C034998-1F82-4A3A-9C2F-7EF157B16A5E}"/>
              </a:ext>
            </a:extLst>
          </p:cNvPr>
          <p:cNvSpPr>
            <a:spLocks xmlns:a="http://schemas.openxmlformats.org/drawingml/2006/main" noGrp="1"/>
          </p:cNvSpPr>
          <p:nvPr/>
        </p:nvSpPr>
        <p:spPr>
          <a:xfrm xmlns:a="http://schemas.openxmlformats.org/drawingml/2006/main">
            <a:off x="1276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Messages, calls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tool results</a:t>
            </a:r>
          </a:p>
        </p:txBody>
      </p:sp>
      <p:sp>
        <p:nvSpPr>
          <p:cNvPr id="10" name="">
            <a:extLst xmlns:a="http://schemas.openxmlformats.org/drawingml/2006/main">
              <a:ext uri="{FF2B5EF4-FFF2-40B4-BE49-F238E27FC236}">
                <a16:creationId xmlns:a16="http://schemas.microsoft.com/office/drawing/2014/main" id="{255E48C1-9525-4CA7-A8F3-716534E6EBC0}"/>
              </a:ext>
            </a:extLst>
          </p:cNvPr>
          <p:cNvSpPr>
            <a:spLocks xmlns:a="http://schemas.openxmlformats.org/drawingml/2006/main" noGrp="1"/>
          </p:cNvSpPr>
          <p:nvPr/>
        </p:nvSpPr>
        <p:spPr>
          <a:xfrm xmlns:a="http://schemas.openxmlformats.org/drawingml/2006/main">
            <a:off x="39624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49DB0EAA-D3EA-4ECF-AC20-71A0BA56270E}"/>
              </a:ext>
            </a:extLst>
          </p:cNvPr>
          <p:cNvSpPr>
            <a:spLocks xmlns:a="http://schemas.openxmlformats.org/drawingml/2006/main" noGrp="1"/>
          </p:cNvSpPr>
          <p:nvPr/>
        </p:nvSpPr>
        <p:spPr>
          <a:xfrm xmlns:a="http://schemas.openxmlformats.org/drawingml/2006/main">
            <a:off x="44005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12" name="">
            <a:extLst xmlns:a="http://schemas.openxmlformats.org/drawingml/2006/main">
              <a:ext uri="{FF2B5EF4-FFF2-40B4-BE49-F238E27FC236}">
                <a16:creationId xmlns:a16="http://schemas.microsoft.com/office/drawing/2014/main" id="{0E6EA6D4-43FF-452E-821A-5C4FAE895108}"/>
              </a:ext>
            </a:extLst>
          </p:cNvPr>
          <p:cNvSpPr>
            <a:spLocks xmlns:a="http://schemas.openxmlformats.org/drawingml/2006/main" noGrp="1"/>
          </p:cNvSpPr>
          <p:nvPr/>
        </p:nvSpPr>
        <p:spPr>
          <a:xfrm xmlns:a="http://schemas.openxmlformats.org/drawingml/2006/main">
            <a:off x="46101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Local listener</a:t>
            </a:r>
          </a:p>
        </p:txBody>
      </p:sp>
      <p:sp>
        <p:nvSpPr>
          <p:cNvPr id="13" name="">
            <a:extLst xmlns:a="http://schemas.openxmlformats.org/drawingml/2006/main">
              <a:ext uri="{FF2B5EF4-FFF2-40B4-BE49-F238E27FC236}">
                <a16:creationId xmlns:a16="http://schemas.microsoft.com/office/drawing/2014/main" id="{7F938509-EEF4-4F0E-AE4A-80AE4773EF37}"/>
              </a:ext>
            </a:extLst>
          </p:cNvPr>
          <p:cNvSpPr>
            <a:spLocks xmlns:a="http://schemas.openxmlformats.org/drawingml/2006/main" noGrp="1"/>
          </p:cNvSpPr>
          <p:nvPr/>
        </p:nvSpPr>
        <p:spPr>
          <a:xfrm xmlns:a="http://schemas.openxmlformats.org/drawingml/2006/main">
            <a:off x="46101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Intercept + check</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outbound rules</a:t>
            </a:r>
          </a:p>
        </p:txBody>
      </p:sp>
      <p:sp>
        <p:nvSpPr>
          <p:cNvPr id="14" name="">
            <a:extLst xmlns:a="http://schemas.openxmlformats.org/drawingml/2006/main">
              <a:ext uri="{FF2B5EF4-FFF2-40B4-BE49-F238E27FC236}">
                <a16:creationId xmlns:a16="http://schemas.microsoft.com/office/drawing/2014/main" id="{3AD83059-2E91-45C3-A35A-3B9D586EEA73}"/>
              </a:ext>
            </a:extLst>
          </p:cNvPr>
          <p:cNvSpPr>
            <a:spLocks xmlns:a="http://schemas.openxmlformats.org/drawingml/2006/main" noGrp="1"/>
          </p:cNvSpPr>
          <p:nvPr/>
        </p:nvSpPr>
        <p:spPr>
          <a:xfrm xmlns:a="http://schemas.openxmlformats.org/drawingml/2006/main">
            <a:off x="72961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509E7959-2F04-443A-8E03-92AC1083AE6F}"/>
              </a:ext>
            </a:extLst>
          </p:cNvPr>
          <p:cNvSpPr>
            <a:spLocks xmlns:a="http://schemas.openxmlformats.org/drawingml/2006/main" noGrp="1"/>
          </p:cNvSpPr>
          <p:nvPr/>
        </p:nvSpPr>
        <p:spPr>
          <a:xfrm xmlns:a="http://schemas.openxmlformats.org/drawingml/2006/main">
            <a:off x="7734300" y="4810125"/>
            <a:ext cx="2819400" cy="1809750"/>
          </a:xfrm>
          <a:prstGeom xmlns:a="http://schemas.openxmlformats.org/drawingml/2006/main" prst="rect">
            <a:avLst/>
          </a:prstGeom>
          <a:solidFill xmlns:a="http://schemas.openxmlformats.org/drawingml/2006/main">
            <a:srgbClr val="E6EEFF"/>
          </a:solidFill>
          <a:ln xmlns:a="http://schemas.openxmlformats.org/drawingml/2006/main" w="19050">
            <a:solidFill>
              <a:srgbClr val="3468EF"/>
            </a:solidFill>
          </a:ln>
        </p:spPr>
      </p:sp>
      <p:sp>
        <p:nvSpPr>
          <p:cNvPr id="16" name="">
            <a:extLst xmlns:a="http://schemas.openxmlformats.org/drawingml/2006/main">
              <a:ext uri="{FF2B5EF4-FFF2-40B4-BE49-F238E27FC236}">
                <a16:creationId xmlns:a16="http://schemas.microsoft.com/office/drawing/2014/main" id="{2FF5BF5C-70EC-4788-B752-2202398355D0}"/>
              </a:ext>
            </a:extLst>
          </p:cNvPr>
          <p:cNvSpPr>
            <a:spLocks xmlns:a="http://schemas.openxmlformats.org/drawingml/2006/main" noGrp="1"/>
          </p:cNvSpPr>
          <p:nvPr/>
        </p:nvSpPr>
        <p:spPr>
          <a:xfrm xmlns:a="http://schemas.openxmlformats.org/drawingml/2006/main">
            <a:off x="79438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1">
                <a:solidFill>
                  <a:srgbClr val="3468EF"/>
                </a:solidFill>
                <a:latin typeface="Arial"/>
                <a:ea typeface="Arial"/>
                <a:cs typeface="Arial"/>
              </a:defRPr>
            </a:pPr>
            <a:r>
              <a:rPr sz="3000" b="1">
                <a:solidFill>
                  <a:srgbClr val="3468EF"/>
                </a:solidFill>
                <a:latin typeface="Arial"/>
                <a:ea typeface="Arial"/>
                <a:cs typeface="Arial"/>
              </a:rPr>
              <a:t>Jev</a:t>
            </a:r>
          </a:p>
        </p:txBody>
      </p:sp>
      <p:sp>
        <p:nvSpPr>
          <p:cNvPr id="17" name="">
            <a:extLst xmlns:a="http://schemas.openxmlformats.org/drawingml/2006/main">
              <a:ext uri="{FF2B5EF4-FFF2-40B4-BE49-F238E27FC236}">
                <a16:creationId xmlns:a16="http://schemas.microsoft.com/office/drawing/2014/main" id="{04249D1B-7342-4062-B8B9-F1573B86410A}"/>
              </a:ext>
            </a:extLst>
          </p:cNvPr>
          <p:cNvSpPr>
            <a:spLocks xmlns:a="http://schemas.openxmlformats.org/drawingml/2006/main" noGrp="1"/>
          </p:cNvSpPr>
          <p:nvPr/>
        </p:nvSpPr>
        <p:spPr>
          <a:xfrm xmlns:a="http://schemas.openxmlformats.org/drawingml/2006/main">
            <a:off x="79438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Category, keep/drop</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confidence</a:t>
            </a:r>
          </a:p>
        </p:txBody>
      </p:sp>
      <p:sp>
        <p:nvSpPr>
          <p:cNvPr id="18" name="">
            <a:extLst xmlns:a="http://schemas.openxmlformats.org/drawingml/2006/main">
              <a:ext uri="{FF2B5EF4-FFF2-40B4-BE49-F238E27FC236}">
                <a16:creationId xmlns:a16="http://schemas.microsoft.com/office/drawing/2014/main" id="{14E9E93F-FB83-44C6-B4EA-1DA8848D947F}"/>
              </a:ext>
            </a:extLst>
          </p:cNvPr>
          <p:cNvSpPr>
            <a:spLocks xmlns:a="http://schemas.openxmlformats.org/drawingml/2006/main" noGrp="1"/>
          </p:cNvSpPr>
          <p:nvPr/>
        </p:nvSpPr>
        <p:spPr>
          <a:xfrm xmlns:a="http://schemas.openxmlformats.org/drawingml/2006/main">
            <a:off x="1062990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307AB990-EF7C-4F27-91D8-28313C2AEC49}"/>
              </a:ext>
            </a:extLst>
          </p:cNvPr>
          <p:cNvSpPr>
            <a:spLocks xmlns:a="http://schemas.openxmlformats.org/drawingml/2006/main" noGrp="1"/>
          </p:cNvSpPr>
          <p:nvPr/>
        </p:nvSpPr>
        <p:spPr>
          <a:xfrm xmlns:a="http://schemas.openxmlformats.org/drawingml/2006/main">
            <a:off x="1106805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0" name="">
            <a:extLst xmlns:a="http://schemas.openxmlformats.org/drawingml/2006/main">
              <a:ext uri="{FF2B5EF4-FFF2-40B4-BE49-F238E27FC236}">
                <a16:creationId xmlns:a16="http://schemas.microsoft.com/office/drawing/2014/main" id="{DF1DD656-6556-42A1-AE6D-87D05C09FD65}"/>
              </a:ext>
            </a:extLst>
          </p:cNvPr>
          <p:cNvSpPr>
            <a:spLocks xmlns:a="http://schemas.openxmlformats.org/drawingml/2006/main" noGrp="1"/>
          </p:cNvSpPr>
          <p:nvPr/>
        </p:nvSpPr>
        <p:spPr>
          <a:xfrm xmlns:a="http://schemas.openxmlformats.org/drawingml/2006/main">
            <a:off x="1127760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Policy hook</a:t>
            </a:r>
          </a:p>
        </p:txBody>
      </p:sp>
      <p:sp>
        <p:nvSpPr>
          <p:cNvPr id="21" name="">
            <a:extLst xmlns:a="http://schemas.openxmlformats.org/drawingml/2006/main">
              <a:ext uri="{FF2B5EF4-FFF2-40B4-BE49-F238E27FC236}">
                <a16:creationId xmlns:a16="http://schemas.microsoft.com/office/drawing/2014/main" id="{1ABC9545-645C-4184-B973-C3EDE419BC65}"/>
              </a:ext>
            </a:extLst>
          </p:cNvPr>
          <p:cNvSpPr>
            <a:spLocks xmlns:a="http://schemas.openxmlformats.org/drawingml/2006/main" noGrp="1"/>
          </p:cNvSpPr>
          <p:nvPr/>
        </p:nvSpPr>
        <p:spPr>
          <a:xfrm xmlns:a="http://schemas.openxmlformats.org/drawingml/2006/main">
            <a:off x="1127760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Remove excluded</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spans</a:t>
            </a:r>
          </a:p>
        </p:txBody>
      </p:sp>
      <p:sp>
        <p:nvSpPr>
          <p:cNvPr id="22" name="">
            <a:extLst xmlns:a="http://schemas.openxmlformats.org/drawingml/2006/main">
              <a:ext uri="{FF2B5EF4-FFF2-40B4-BE49-F238E27FC236}">
                <a16:creationId xmlns:a16="http://schemas.microsoft.com/office/drawing/2014/main" id="{548441F8-073C-4F15-AB31-994DFA0AB5A3}"/>
              </a:ext>
            </a:extLst>
          </p:cNvPr>
          <p:cNvSpPr>
            <a:spLocks xmlns:a="http://schemas.openxmlformats.org/drawingml/2006/main" noGrp="1"/>
          </p:cNvSpPr>
          <p:nvPr/>
        </p:nvSpPr>
        <p:spPr>
          <a:xfrm xmlns:a="http://schemas.openxmlformats.org/drawingml/2006/main">
            <a:off x="13963650" y="5286375"/>
            <a:ext cx="419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225" b="1">
                <a:solidFill>
                  <a:srgbClr val="3468EF"/>
                </a:solidFill>
                <a:latin typeface="Arial"/>
                <a:ea typeface="Arial"/>
                <a:cs typeface="Arial"/>
              </a:defRPr>
            </a:pPr>
            <a:r>
              <a:rPr sz="3225" b="1">
                <a:solidFill>
                  <a:srgbClr val="3468EF"/>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E58D87ED-6278-44A8-BAF0-BD39A3F453E0}"/>
              </a:ext>
            </a:extLst>
          </p:cNvPr>
          <p:cNvSpPr>
            <a:spLocks xmlns:a="http://schemas.openxmlformats.org/drawingml/2006/main" noGrp="1"/>
          </p:cNvSpPr>
          <p:nvPr/>
        </p:nvSpPr>
        <p:spPr>
          <a:xfrm xmlns:a="http://schemas.openxmlformats.org/drawingml/2006/main">
            <a:off x="14401800" y="4810125"/>
            <a:ext cx="2819400" cy="1809750"/>
          </a:xfrm>
          <a:prstGeom xmlns:a="http://schemas.openxmlformats.org/drawingml/2006/main" prst="rect">
            <a:avLst/>
          </a:prstGeom>
          <a:solidFill xmlns:a="http://schemas.openxmlformats.org/drawingml/2006/main">
            <a:srgbClr val="FFFFFF"/>
          </a:solidFill>
          <a:ln xmlns:a="http://schemas.openxmlformats.org/drawingml/2006/main" w="19050">
            <a:solidFill>
              <a:srgbClr val="D7E2F3"/>
            </a:solidFill>
          </a:ln>
        </p:spPr>
      </p:sp>
      <p:sp>
        <p:nvSpPr>
          <p:cNvPr id="24" name="">
            <a:extLst xmlns:a="http://schemas.openxmlformats.org/drawingml/2006/main">
              <a:ext uri="{FF2B5EF4-FFF2-40B4-BE49-F238E27FC236}">
                <a16:creationId xmlns:a16="http://schemas.microsoft.com/office/drawing/2014/main" id="{3E59D82D-9E9E-44D3-8615-5BCFA6317342}"/>
              </a:ext>
            </a:extLst>
          </p:cNvPr>
          <p:cNvSpPr>
            <a:spLocks xmlns:a="http://schemas.openxmlformats.org/drawingml/2006/main" noGrp="1"/>
          </p:cNvSpPr>
          <p:nvPr/>
        </p:nvSpPr>
        <p:spPr>
          <a:xfrm xmlns:a="http://schemas.openxmlformats.org/drawingml/2006/main">
            <a:off x="14611350" y="5048250"/>
            <a:ext cx="2457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1">
                <a:solidFill>
                  <a:srgbClr val="15253D"/>
                </a:solidFill>
                <a:latin typeface="Arial"/>
                <a:ea typeface="Arial"/>
                <a:cs typeface="Arial"/>
              </a:defRPr>
            </a:pPr>
            <a:r>
              <a:rPr sz="2325" b="1">
                <a:solidFill>
                  <a:srgbClr val="15253D"/>
                </a:solidFill>
                <a:latin typeface="Arial"/>
                <a:ea typeface="Arial"/>
                <a:cs typeface="Arial"/>
              </a:rPr>
              <a:t>GBrain</a:t>
            </a:r>
          </a:p>
        </p:txBody>
      </p:sp>
      <p:sp>
        <p:nvSpPr>
          <p:cNvPr id="25" name="">
            <a:extLst xmlns:a="http://schemas.openxmlformats.org/drawingml/2006/main">
              <a:ext uri="{FF2B5EF4-FFF2-40B4-BE49-F238E27FC236}">
                <a16:creationId xmlns:a16="http://schemas.microsoft.com/office/drawing/2014/main" id="{F03C8748-B23C-4898-B71F-FCC93881B267}"/>
              </a:ext>
            </a:extLst>
          </p:cNvPr>
          <p:cNvSpPr>
            <a:spLocks xmlns:a="http://schemas.openxmlformats.org/drawingml/2006/main" noGrp="1"/>
          </p:cNvSpPr>
          <p:nvPr/>
        </p:nvSpPr>
        <p:spPr>
          <a:xfrm xmlns:a="http://schemas.openxmlformats.org/drawingml/2006/main">
            <a:off x="14611350" y="5724525"/>
            <a:ext cx="2428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Clean facts</a:t>
            </a:r>
          </a:p>
          <a:p xmlns:a="http://schemas.openxmlformats.org/drawingml/2006/main">
            <a:pPr>
              <a:defRPr sz="1950" b="0">
                <a:solidFill>
                  <a:srgbClr val="647C9F"/>
                </a:solidFill>
                <a:latin typeface="Arial"/>
                <a:ea typeface="Arial"/>
                <a:cs typeface="Arial"/>
              </a:defRPr>
            </a:pPr>
            <a:r>
              <a:rPr sz="1950" b="0">
                <a:solidFill>
                  <a:srgbClr val="647C9F"/>
                </a:solidFill>
                <a:latin typeface="Arial"/>
                <a:ea typeface="Arial"/>
                <a:cs typeface="Arial"/>
              </a:rPr>
              <a:t>and trajectory</a:t>
            </a:r>
          </a:p>
        </p:txBody>
      </p:sp>
      <p:sp>
        <p:nvSpPr>
          <p:cNvPr id="26" name="">
            <a:extLst xmlns:a="http://schemas.openxmlformats.org/drawingml/2006/main">
              <a:ext uri="{FF2B5EF4-FFF2-40B4-BE49-F238E27FC236}">
                <a16:creationId xmlns:a16="http://schemas.microsoft.com/office/drawing/2014/main" id="{99FC1C96-7326-4D97-8765-716C57D661A2}"/>
              </a:ext>
            </a:extLst>
          </p:cNvPr>
          <p:cNvSpPr>
            <a:spLocks xmlns:a="http://schemas.openxmlformats.org/drawingml/2006/main" noGrp="1"/>
          </p:cNvSpPr>
          <p:nvPr/>
        </p:nvSpPr>
        <p:spPr>
          <a:xfrm xmlns:a="http://schemas.openxmlformats.org/drawingml/2006/main">
            <a:off x="4467225" y="6848475"/>
            <a:ext cx="3009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Only permitted input</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reaches the classifier</a:t>
            </a:r>
          </a:p>
        </p:txBody>
      </p:sp>
      <p:sp>
        <p:nvSpPr>
          <p:cNvPr id="27" name="">
            <a:extLst xmlns:a="http://schemas.openxmlformats.org/drawingml/2006/main">
              <a:ext uri="{FF2B5EF4-FFF2-40B4-BE49-F238E27FC236}">
                <a16:creationId xmlns:a16="http://schemas.microsoft.com/office/drawing/2014/main" id="{8AE9C384-B31C-472F-A89E-D3B6DC08A1DD}"/>
              </a:ext>
            </a:extLst>
          </p:cNvPr>
          <p:cNvSpPr>
            <a:spLocks xmlns:a="http://schemas.openxmlformats.org/drawingml/2006/main" noGrp="1"/>
          </p:cNvSpPr>
          <p:nvPr/>
        </p:nvSpPr>
        <p:spPr>
          <a:xfrm xmlns:a="http://schemas.openxmlformats.org/drawingml/2006/main">
            <a:off x="14458950" y="6848475"/>
            <a:ext cx="2809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Training requires</a:t>
            </a:r>
          </a:p>
          <a:p xmlns:a="http://schemas.openxmlformats.org/drawingml/2006/main">
            <a:pPr>
              <a:defRPr sz="1800" b="0">
                <a:solidFill>
                  <a:srgbClr val="647C9F"/>
                </a:solidFill>
                <a:latin typeface="Arial"/>
                <a:ea typeface="Arial"/>
                <a:cs typeface="Arial"/>
              </a:defRPr>
            </a:pPr>
            <a:r>
              <a:rPr sz="1800" b="0">
                <a:solidFill>
                  <a:srgbClr val="647C9F"/>
                </a:solidFill>
                <a:latin typeface="Arial"/>
                <a:ea typeface="Arial"/>
                <a:cs typeface="Arial"/>
              </a:rPr>
              <a:t>separate permission</a:t>
            </a:r>
          </a:p>
        </p:txBody>
      </p:sp>
      <p:sp>
        <p:nvSpPr>
          <p:cNvPr id="28" name="">
            <a:extLst xmlns:a="http://schemas.openxmlformats.org/drawingml/2006/main">
              <a:ext uri="{FF2B5EF4-FFF2-40B4-BE49-F238E27FC236}">
                <a16:creationId xmlns:a16="http://schemas.microsoft.com/office/drawing/2014/main" id="{25D928A8-6D35-4A2C-8BC3-286AD63DD04E}"/>
              </a:ext>
            </a:extLst>
          </p:cNvPr>
          <p:cNvSpPr>
            <a:spLocks xmlns:a="http://schemas.openxmlformats.org/drawingml/2006/main" noGrp="1"/>
          </p:cNvSpPr>
          <p:nvPr/>
        </p:nvSpPr>
        <p:spPr>
          <a:xfrm xmlns:a="http://schemas.openxmlformats.org/drawingml/2006/main">
            <a:off x="1095375" y="8010525"/>
            <a:ext cx="1609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250" b="1">
                <a:solidFill>
                  <a:srgbClr val="15253D"/>
                </a:solidFill>
                <a:latin typeface="Arial"/>
                <a:ea typeface="Arial"/>
                <a:cs typeface="Arial"/>
              </a:defRPr>
            </a:pPr>
            <a:r>
              <a:rPr sz="2250" b="1">
                <a:solidFill>
                  <a:srgbClr val="15253D"/>
                </a:solidFill>
                <a:latin typeface="Arial"/>
                <a:ea typeface="Arial"/>
                <a:cs typeface="Arial"/>
              </a:rPr>
              <a:t>The task keeps its authorized context. The persistent copy follows the rules.</a:t>
            </a:r>
          </a:p>
        </p:txBody>
      </p:sp>
      <p:sp>
        <p:nvSpPr>
          <p:cNvPr id="29" name="">
            <a:extLst xmlns:a="http://schemas.openxmlformats.org/drawingml/2006/main">
              <a:ext uri="{FF2B5EF4-FFF2-40B4-BE49-F238E27FC236}">
                <a16:creationId xmlns:a16="http://schemas.microsoft.com/office/drawing/2014/main" id="{B9A3CC31-48E8-44E0-9C7A-D472426C268E}"/>
              </a:ext>
            </a:extLst>
          </p:cNvPr>
          <p:cNvSpPr>
            <a:spLocks xmlns:a="http://schemas.openxmlformats.org/drawingml/2006/main" noGrp="1"/>
          </p:cNvSpPr>
          <p:nvPr/>
        </p:nvSpPr>
        <p:spPr>
          <a:xfrm xmlns:a="http://schemas.openxmlformats.org/drawingml/2006/main">
            <a:off x="1095375" y="8696325"/>
            <a:ext cx="1619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647C9F"/>
                </a:solidFill>
                <a:latin typeface="Arial"/>
                <a:ea typeface="Arial"/>
                <a:cs typeface="Arial"/>
              </a:defRPr>
            </a:pPr>
            <a:r>
              <a:rPr sz="1650" b="0">
                <a:solidFill>
                  <a:srgbClr val="647C9F"/>
                </a:solidFill>
                <a:latin typeface="Arial"/>
                <a:ea typeface="Arial"/>
                <a:cs typeface="Arial"/>
              </a:rPr>
              <a:t>Prototype: local rules simulate Jev; the GBrain handoff is simulated.</a:t>
            </a:r>
          </a:p>
        </p:txBody>
      </p:sp>
    </p:spTree>
    <p:extLst>
      <p:ext uri="{BB962C8B-B14F-4D97-AF65-F5344CB8AC3E}">
        <p14:creationId xmlns:p14="http://schemas.microsoft.com/office/powerpoint/2010/main" val="18681258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2026-09-27T23:37:56.6940000Z</dcterms:created>
  <dcterms:modified xsi:type="dcterms:W3CDTF">2026-09-27T23:37:56.6940000Z</dcterms:modified>
</coreProperties>
</file>