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80e7a8b8cb48cb" /><Relationship Type="http://schemas.openxmlformats.org/officeDocument/2006/relationships/extended-properties" Target="/docProps/app.xml" Id="R1547f1eb608a4530" /><Relationship Type="http://schemas.openxmlformats.org/officeDocument/2006/relationships/officeDocument" Target="/ppt/presentation.xml" Id="R4dffef8283c34397" /></Relationships>
</file>

<file path=ppt/presentation.xml><?xml version="1.0" encoding="utf-8"?>
<p:presentation xmlns:p="http://schemas.openxmlformats.org/presentationml/2006/main">
  <p:sldMasterIdLst>
    <p:sldMasterId xmlns:r="http://schemas.openxmlformats.org/officeDocument/2006/relationships" id="2147483648" r:id="R4dcd90e95fae42fa"/>
  </p:sldMasterIdLst>
  <p:notesMasterIdLst>
    <p:notesMasterId xmlns:r="http://schemas.openxmlformats.org/officeDocument/2006/relationships" r:id="R70bbd0b3070b4e3a"/>
  </p:notesMasterIdLst>
  <p:sldIdLst>
    <p:sldId xmlns:r="http://schemas.openxmlformats.org/officeDocument/2006/relationships" id="256" r:id="R0a3c707e0f744da5"/>
    <p:sldId xmlns:r="http://schemas.openxmlformats.org/officeDocument/2006/relationships" id="257" r:id="Rf8ea5be1523b4c5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4c888c10664f08" /><Relationship Type="http://schemas.openxmlformats.org/officeDocument/2006/relationships/slideMaster" Target="/ppt/slideMasters/slideMaster1.xml" Id="R4dcd90e95fae42fa" /><Relationship Type="http://schemas.openxmlformats.org/officeDocument/2006/relationships/notesMaster" Target="/ppt/notesMasters/notesMaster1.xml" Id="R70bbd0b3070b4e3a" /><Relationship Type="http://schemas.openxmlformats.org/officeDocument/2006/relationships/presProps" Target="/ppt/presProps.xml" Id="R7930130abf4d4620" /><Relationship Type="http://schemas.openxmlformats.org/officeDocument/2006/relationships/tableStyles" Target="/ppt/tableStyles.xml" Id="R6afca49baf794b78" /><Relationship Type="http://schemas.openxmlformats.org/officeDocument/2006/relationships/slide" Target="/ppt/slides/slide1.xml" Id="R0a3c707e0f744da5" /><Relationship Type="http://schemas.openxmlformats.org/officeDocument/2006/relationships/slide" Target="/ppt/slides/slide2.xml" Id="Rf8ea5be1523b4c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adfcbf949c4b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185e54333e4a6a" /><Relationship Type="http://schemas.openxmlformats.org/officeDocument/2006/relationships/notesMaster" Target="/ppt/notesMasters/notesMaster1.xml" Id="R7d2cc681b03345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e120dfeb6f450f" /><Relationship Type="http://schemas.openxmlformats.org/officeDocument/2006/relationships/notesMaster" Target="/ppt/notesMasters/notesMaster1.xml" Id="R6c9f9625588d4b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It’s two a.m. Checkout is failing. Your team shares logs, customer details, and a temporary credential with an AI agent. The agent helps find the fix. The incident is over. What did your AI remember? Teams hesitate to adopt AI memory when they cannot control what it remembers. Company policy restricts customer data. Employees have their own preferences. And permission to debug with information is not permission to store it or train on it. Strip away too much context, and the agent misses clues. Store everything, and sensitive details become lasting memory. Meet Membrane: a policy layer for AI memory. Keep the authorized context for the task. Control what the agent remembers afterwards.</a:t>
            </a:r>
          </a:p>
          <a:p xmlns:a="http://schemas.openxmlformats.org/drawingml/2006/main">
            <a:r>
              <a:t/>
            </a:r>
          </a:p>
          <a:p xmlns:a="http://schemas.openxmlformats.org/drawingml/2006/main">
            <a:r>
              <a:t>Product thesis, not a measured market-adoption statistic. All incident examples are synthetic. Pause after the question before explaining the adoption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Membrane listens before an agent writes to memory. Company policy and employee Markdown files provide the rules. In our design, Jev turns the trajectory into structured decisions: what kind of data is this, should it stay, and how confident is the decision? The hook removes excluded details and prepares useful facts for G Brain. Training requires separate permission. Let’s see it work.</a:t>
            </a:r>
          </a:p>
          <a:p xmlns:a="http://schemas.openxmlformats.org/drawingml/2006/main">
            <a:r>
              <a:t/>
            </a:r>
          </a:p>
          <a:p xmlns:a="http://schemas.openxmlformats.org/drawingml/2006/main">
            <a:r>
              <a:t>Jev role is proposed architecture; the demo currently uses deterministic local redaction, not a live Jev call. TypeSafe describes Jev as a System One model that accepts unstructured state and returns typed probabilistic decisions rather than generated strings. Our proposed schema asks for a category, retention decision, and confidence. The application, not Jev-generated prose, assembles cleaned content. Outbound policy checks must run before hosted classification; content prohibited from leaving the environment stays on the local path. Low-confidence or unsupported cases can skip persistence. Training permission is checked separately. Source: https://typesafe.ai/blog/introducing-system-one-models-and-jev (accessed 2026-09-27). GBrain dispatch from this UI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f0abe1dcca4b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178312467e4f99" /><Relationship Type="http://schemas.openxmlformats.org/officeDocument/2006/relationships/slideLayout" Target="/ppt/slideLayouts/slideLayout1.xml" Id="Rddd0846df31e44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d0846df31e44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afcd839eaf4b13" /><Relationship Type="http://schemas.openxmlformats.org/officeDocument/2006/relationships/notesSlide" Target="/ppt/notesSlides/notesSlide1.xml" Id="R051c6c67dbeb4a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b0035649e7494e" /><Relationship Type="http://schemas.openxmlformats.org/officeDocument/2006/relationships/notesSlide" Target="/ppt/notesSlides/notesSlide2.xml" Id="R38ff0392f40842fc" /></Relationships>
</file>

<file path=ppt/slides/slide1.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F3CE775-7351-45B2-AA3F-107540DBB05E}"/>
              </a:ext>
            </a:extLst>
          </p:cNvPr>
          <p:cNvSpPr>
            <a:spLocks xmlns:a="http://schemas.openxmlformats.org/drawingml/2006/main" noGrp="1"/>
          </p:cNvSpPr>
          <p:nvPr/>
        </p:nvSpPr>
        <p:spPr>
          <a:xfrm xmlns:a="http://schemas.openxmlformats.org/drawingml/2006/main">
            <a:off x="666750" y="361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5253D"/>
                </a:solidFill>
                <a:latin typeface="Arial"/>
                <a:ea typeface="Arial"/>
                <a:cs typeface="Arial"/>
              </a:defRPr>
            </a:pPr>
            <a:r>
              <a:rPr sz="1950" b="1">
                <a:solidFill>
                  <a:srgbClr val="15253D"/>
                </a:solidFill>
                <a:latin typeface="Arial"/>
                <a:ea typeface="Arial"/>
                <a:cs typeface="Arial"/>
              </a:rPr>
              <a:t>Membrane: a policy layer for AI memory</a:t>
            </a:r>
          </a:p>
        </p:txBody>
      </p:sp>
      <p:sp>
        <p:nvSpPr>
          <p:cNvPr id="2" name="">
            <a:extLst xmlns:a="http://schemas.openxmlformats.org/drawingml/2006/main">
              <a:ext uri="{FF2B5EF4-FFF2-40B4-BE49-F238E27FC236}">
                <a16:creationId xmlns:a16="http://schemas.microsoft.com/office/drawing/2014/main" id="{570D97E8-E1DE-44F7-8871-DD2E4364AB47}"/>
              </a:ext>
            </a:extLst>
          </p:cNvPr>
          <p:cNvSpPr>
            <a:spLocks xmlns:a="http://schemas.openxmlformats.org/drawingml/2006/main" noGrp="1"/>
          </p:cNvSpPr>
          <p:nvPr/>
        </p:nvSpPr>
        <p:spPr>
          <a:xfrm xmlns:a="http://schemas.openxmlformats.org/drawingml/2006/main">
            <a:off x="13430250" y="4095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C9F"/>
                </a:solidFill>
                <a:latin typeface="Arial"/>
                <a:ea typeface="Arial"/>
                <a:cs typeface="Arial"/>
              </a:defRPr>
            </a:pPr>
            <a:r>
              <a:rPr sz="1500" b="0">
                <a:solidFill>
                  <a:srgbClr val="647C9F"/>
                </a:solidFill>
                <a:latin typeface="Arial"/>
                <a:ea typeface="Arial"/>
                <a:cs typeface="Arial"/>
              </a:rPr>
              <a:t>01 / THE MEMORY PROBLEM</a:t>
            </a:r>
          </a:p>
        </p:txBody>
      </p:sp>
      <p:sp>
        <p:nvSpPr>
          <p:cNvPr id="3" name="">
            <a:extLst xmlns:a="http://schemas.openxmlformats.org/drawingml/2006/main">
              <a:ext uri="{FF2B5EF4-FFF2-40B4-BE49-F238E27FC236}">
                <a16:creationId xmlns:a16="http://schemas.microsoft.com/office/drawing/2014/main" id="{FAF18F62-C438-4865-9D29-1729DF945B26}"/>
              </a:ext>
            </a:extLst>
          </p:cNvPr>
          <p:cNvSpPr>
            <a:spLocks xmlns:a="http://schemas.openxmlformats.org/drawingml/2006/main" noGrp="1"/>
          </p:cNvSpPr>
          <p:nvPr/>
        </p:nvSpPr>
        <p:spPr>
          <a:xfrm xmlns:a="http://schemas.openxmlformats.org/drawingml/2006/main">
            <a:off x="1066800" y="1390650"/>
            <a:ext cx="16154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5253D"/>
                </a:solidFill>
                <a:latin typeface="Arial"/>
                <a:ea typeface="Arial"/>
                <a:cs typeface="Arial"/>
              </a:defRPr>
            </a:pPr>
            <a:r>
              <a:rPr sz="5400" b="1">
                <a:solidFill>
                  <a:srgbClr val="15253D"/>
                </a:solidFill>
                <a:latin typeface="Arial"/>
                <a:ea typeface="Arial"/>
                <a:cs typeface="Arial"/>
              </a:rPr>
              <a:t>The memory adoption problem</a:t>
            </a:r>
          </a:p>
        </p:txBody>
      </p:sp>
      <p:sp>
        <p:nvSpPr>
          <p:cNvPr id="4" name="">
            <a:extLst xmlns:a="http://schemas.openxmlformats.org/drawingml/2006/main">
              <a:ext uri="{FF2B5EF4-FFF2-40B4-BE49-F238E27FC236}">
                <a16:creationId xmlns:a16="http://schemas.microsoft.com/office/drawing/2014/main" id="{EF40D755-CC11-4FF3-A8E3-45D555684EB3}"/>
              </a:ext>
            </a:extLst>
          </p:cNvPr>
          <p:cNvSpPr>
            <a:spLocks xmlns:a="http://schemas.openxmlformats.org/drawingml/2006/main" noGrp="1"/>
          </p:cNvSpPr>
          <p:nvPr/>
        </p:nvSpPr>
        <p:spPr>
          <a:xfrm xmlns:a="http://schemas.openxmlformats.org/drawingml/2006/main">
            <a:off x="1104900" y="2428875"/>
            <a:ext cx="1590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647C9F"/>
                </a:solidFill>
                <a:latin typeface="Arial"/>
                <a:ea typeface="Arial"/>
                <a:cs typeface="Arial"/>
              </a:defRPr>
            </a:pPr>
            <a:r>
              <a:rPr sz="2625" b="0">
                <a:solidFill>
                  <a:srgbClr val="647C9F"/>
                </a:solidFill>
                <a:latin typeface="Arial"/>
                <a:ea typeface="Arial"/>
                <a:cs typeface="Arial"/>
              </a:rPr>
              <a:t>Useful agents need context. Teams need control over what they remember.</a:t>
            </a:r>
          </a:p>
        </p:txBody>
      </p:sp>
      <p:sp>
        <p:nvSpPr>
          <p:cNvPr id="5" name="">
            <a:extLst xmlns:a="http://schemas.openxmlformats.org/drawingml/2006/main">
              <a:ext uri="{FF2B5EF4-FFF2-40B4-BE49-F238E27FC236}">
                <a16:creationId xmlns:a16="http://schemas.microsoft.com/office/drawing/2014/main" id="{A8CA10C3-D6A7-419F-B1E7-C8883FD0CB51}"/>
              </a:ext>
            </a:extLst>
          </p:cNvPr>
          <p:cNvSpPr>
            <a:spLocks xmlns:a="http://schemas.openxmlformats.org/drawingml/2006/main" noGrp="1"/>
          </p:cNvSpPr>
          <p:nvPr/>
        </p:nvSpPr>
        <p:spPr>
          <a:xfrm xmlns:a="http://schemas.openxmlformats.org/drawingml/2006/main">
            <a:off x="1143000" y="381000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Mixed context</a:t>
            </a:r>
          </a:p>
        </p:txBody>
      </p:sp>
      <p:sp>
        <p:nvSpPr>
          <p:cNvPr id="6" name="">
            <a:extLst xmlns:a="http://schemas.openxmlformats.org/drawingml/2006/main">
              <a:ext uri="{FF2B5EF4-FFF2-40B4-BE49-F238E27FC236}">
                <a16:creationId xmlns:a16="http://schemas.microsoft.com/office/drawing/2014/main" id="{3E86CF84-CAB6-4D37-8CA0-54C03B0AE216}"/>
              </a:ext>
            </a:extLst>
          </p:cNvPr>
          <p:cNvSpPr>
            <a:spLocks xmlns:a="http://schemas.openxmlformats.org/drawingml/2006/main" noGrp="1"/>
          </p:cNvSpPr>
          <p:nvPr/>
        </p:nvSpPr>
        <p:spPr>
          <a:xfrm xmlns:a="http://schemas.openxmlformats.org/drawingml/2006/main">
            <a:off x="1143000" y="4419600"/>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Debugging clues arrive beside credentials</a:t>
            </a:r>
          </a:p>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and customer data.</a:t>
            </a:r>
          </a:p>
        </p:txBody>
      </p:sp>
      <p:sp>
        <p:nvSpPr>
          <p:cNvPr id="7" name="">
            <a:extLst xmlns:a="http://schemas.openxmlformats.org/drawingml/2006/main">
              <a:ext uri="{FF2B5EF4-FFF2-40B4-BE49-F238E27FC236}">
                <a16:creationId xmlns:a16="http://schemas.microsoft.com/office/drawing/2014/main" id="{31C60E42-F437-449A-859C-46C504E5C0D5}"/>
              </a:ext>
            </a:extLst>
          </p:cNvPr>
          <p:cNvSpPr>
            <a:spLocks xmlns:a="http://schemas.openxmlformats.org/drawingml/2006/main" noGrp="1"/>
          </p:cNvSpPr>
          <p:nvPr/>
        </p:nvSpPr>
        <p:spPr>
          <a:xfrm xmlns:a="http://schemas.openxmlformats.org/drawingml/2006/main">
            <a:off x="1143000" y="5705475"/>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Overlapping rules</a:t>
            </a:r>
          </a:p>
        </p:txBody>
      </p:sp>
      <p:sp>
        <p:nvSpPr>
          <p:cNvPr id="8" name="">
            <a:extLst xmlns:a="http://schemas.openxmlformats.org/drawingml/2006/main">
              <a:ext uri="{FF2B5EF4-FFF2-40B4-BE49-F238E27FC236}">
                <a16:creationId xmlns:a16="http://schemas.microsoft.com/office/drawing/2014/main" id="{15ABCFD2-E099-4574-98A2-2E07094322C3}"/>
              </a:ext>
            </a:extLst>
          </p:cNvPr>
          <p:cNvSpPr>
            <a:spLocks xmlns:a="http://schemas.openxmlformats.org/drawingml/2006/main" noGrp="1"/>
          </p:cNvSpPr>
          <p:nvPr/>
        </p:nvSpPr>
        <p:spPr>
          <a:xfrm xmlns:a="http://schemas.openxmlformats.org/drawingml/2006/main">
            <a:off x="1143000" y="6315075"/>
            <a:ext cx="647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Company classifications and employee</a:t>
            </a:r>
          </a:p>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preferences both matter.</a:t>
            </a:r>
          </a:p>
        </p:txBody>
      </p:sp>
      <p:sp>
        <p:nvSpPr>
          <p:cNvPr id="9" name="">
            <a:extLst xmlns:a="http://schemas.openxmlformats.org/drawingml/2006/main">
              <a:ext uri="{FF2B5EF4-FFF2-40B4-BE49-F238E27FC236}">
                <a16:creationId xmlns:a16="http://schemas.microsoft.com/office/drawing/2014/main" id="{9B9ACF4D-5F19-4A35-9ACA-0EDF00D5D505}"/>
              </a:ext>
            </a:extLst>
          </p:cNvPr>
          <p:cNvSpPr>
            <a:spLocks xmlns:a="http://schemas.openxmlformats.org/drawingml/2006/main" noGrp="1"/>
          </p:cNvSpPr>
          <p:nvPr/>
        </p:nvSpPr>
        <p:spPr>
          <a:xfrm xmlns:a="http://schemas.openxmlformats.org/drawingml/2006/main">
            <a:off x="1143000" y="762000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Separate permissions</a:t>
            </a:r>
          </a:p>
        </p:txBody>
      </p:sp>
      <p:sp>
        <p:nvSpPr>
          <p:cNvPr id="10" name="">
            <a:extLst xmlns:a="http://schemas.openxmlformats.org/drawingml/2006/main">
              <a:ext uri="{FF2B5EF4-FFF2-40B4-BE49-F238E27FC236}">
                <a16:creationId xmlns:a16="http://schemas.microsoft.com/office/drawing/2014/main" id="{FADC30CF-F4BD-4A37-A508-2634ACEB4086}"/>
              </a:ext>
            </a:extLst>
          </p:cNvPr>
          <p:cNvSpPr>
            <a:spLocks xmlns:a="http://schemas.openxmlformats.org/drawingml/2006/main" noGrp="1"/>
          </p:cNvSpPr>
          <p:nvPr/>
        </p:nvSpPr>
        <p:spPr>
          <a:xfrm xmlns:a="http://schemas.openxmlformats.org/drawingml/2006/main">
            <a:off x="1143000" y="8229600"/>
            <a:ext cx="700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647C9F"/>
                </a:solidFill>
                <a:latin typeface="Arial"/>
                <a:ea typeface="Arial"/>
                <a:cs typeface="Arial"/>
              </a:defRPr>
            </a:pPr>
            <a:r>
              <a:rPr sz="2175" b="0">
                <a:solidFill>
                  <a:srgbClr val="647C9F"/>
                </a:solidFill>
                <a:latin typeface="Arial"/>
                <a:ea typeface="Arial"/>
                <a:cs typeface="Arial"/>
              </a:rPr>
              <a:t>Use now. Retain later. Train only with permission.</a:t>
            </a:r>
          </a:p>
        </p:txBody>
      </p:sp>
      <p:sp>
        <p:nvSpPr>
          <p:cNvPr id="11" name="">
            <a:extLst xmlns:a="http://schemas.openxmlformats.org/drawingml/2006/main">
              <a:ext uri="{FF2B5EF4-FFF2-40B4-BE49-F238E27FC236}">
                <a16:creationId xmlns:a16="http://schemas.microsoft.com/office/drawing/2014/main" id="{7FCE569C-1AD0-4DE4-91AD-8D55A3BA5552}"/>
              </a:ext>
            </a:extLst>
          </p:cNvPr>
          <p:cNvSpPr>
            <a:spLocks xmlns:a="http://schemas.openxmlformats.org/drawingml/2006/main" noGrp="1"/>
          </p:cNvSpPr>
          <p:nvPr/>
        </p:nvSpPr>
        <p:spPr>
          <a:xfrm xmlns:a="http://schemas.openxmlformats.org/drawingml/2006/main">
            <a:off x="8905875" y="3838575"/>
            <a:ext cx="795337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Unclear memory rules</a:t>
            </a:r>
          </a:p>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keep agents in</a:t>
            </a:r>
          </a:p>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restricted pilots.</a:t>
            </a:r>
          </a:p>
        </p:txBody>
      </p:sp>
      <p:sp>
        <p:nvSpPr>
          <p:cNvPr id="12" name="">
            <a:extLst xmlns:a="http://schemas.openxmlformats.org/drawingml/2006/main">
              <a:ext uri="{FF2B5EF4-FFF2-40B4-BE49-F238E27FC236}">
                <a16:creationId xmlns:a16="http://schemas.microsoft.com/office/drawing/2014/main" id="{AE01D33F-05F8-4B9C-A80B-5308BF65995A}"/>
              </a:ext>
            </a:extLst>
          </p:cNvPr>
          <p:cNvSpPr>
            <a:spLocks xmlns:a="http://schemas.openxmlformats.org/drawingml/2006/main" noGrp="1"/>
          </p:cNvSpPr>
          <p:nvPr/>
        </p:nvSpPr>
        <p:spPr>
          <a:xfrm xmlns:a="http://schemas.openxmlformats.org/drawingml/2006/main">
            <a:off x="8963025" y="687705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253D"/>
                </a:solidFill>
                <a:latin typeface="Arial"/>
                <a:ea typeface="Arial"/>
                <a:cs typeface="Arial"/>
              </a:defRPr>
            </a:pPr>
            <a:r>
              <a:rPr sz="2550" b="0">
                <a:solidFill>
                  <a:srgbClr val="15253D"/>
                </a:solidFill>
                <a:latin typeface="Arial"/>
                <a:ea typeface="Arial"/>
                <a:cs typeface="Arial"/>
              </a:rPr>
              <a:t>Less context can weaken the task.</a:t>
            </a:r>
          </a:p>
          <a:p xmlns:a="http://schemas.openxmlformats.org/drawingml/2006/main">
            <a:pPr>
              <a:defRPr sz="2550" b="0">
                <a:solidFill>
                  <a:srgbClr val="15253D"/>
                </a:solidFill>
                <a:latin typeface="Arial"/>
                <a:ea typeface="Arial"/>
                <a:cs typeface="Arial"/>
              </a:defRPr>
            </a:pPr>
            <a:r>
              <a:rPr sz="2550" b="0">
                <a:solidFill>
                  <a:srgbClr val="15253D"/>
                </a:solidFill>
                <a:latin typeface="Arial"/>
                <a:ea typeface="Arial"/>
                <a:cs typeface="Arial"/>
              </a:rPr>
              <a:t>Uncontrolled retention creates risk.</a:t>
            </a:r>
          </a:p>
        </p:txBody>
      </p:sp>
    </p:spTree>
    <p:extLst>
      <p:ext uri="{BB962C8B-B14F-4D97-AF65-F5344CB8AC3E}">
        <p14:creationId xmlns:p14="http://schemas.microsoft.com/office/powerpoint/2010/main" val="1832014635"/>
      </p:ext>
    </p:extLst>
  </p:cSld>
</p:sld>
</file>

<file path=ppt/slides/slide2.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E124803-5194-48FB-9CC5-211309B4B69D}"/>
              </a:ext>
            </a:extLst>
          </p:cNvPr>
          <p:cNvSpPr>
            <a:spLocks xmlns:a="http://schemas.openxmlformats.org/drawingml/2006/main" noGrp="1"/>
          </p:cNvSpPr>
          <p:nvPr/>
        </p:nvSpPr>
        <p:spPr>
          <a:xfrm xmlns:a="http://schemas.openxmlformats.org/drawingml/2006/main">
            <a:off x="666750" y="361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5253D"/>
                </a:solidFill>
                <a:latin typeface="Arial"/>
                <a:ea typeface="Arial"/>
                <a:cs typeface="Arial"/>
              </a:defRPr>
            </a:pPr>
            <a:r>
              <a:rPr sz="1950" b="1">
                <a:solidFill>
                  <a:srgbClr val="15253D"/>
                </a:solidFill>
                <a:latin typeface="Arial"/>
                <a:ea typeface="Arial"/>
                <a:cs typeface="Arial"/>
              </a:rPr>
              <a:t>Membrane: a policy layer for AI memory</a:t>
            </a:r>
          </a:p>
        </p:txBody>
      </p:sp>
      <p:sp>
        <p:nvSpPr>
          <p:cNvPr id="2" name="">
            <a:extLst xmlns:a="http://schemas.openxmlformats.org/drawingml/2006/main">
              <a:ext uri="{FF2B5EF4-FFF2-40B4-BE49-F238E27FC236}">
                <a16:creationId xmlns:a16="http://schemas.microsoft.com/office/drawing/2014/main" id="{5DD1627E-C9E1-4730-AAFD-C49FE3150A3C}"/>
              </a:ext>
            </a:extLst>
          </p:cNvPr>
          <p:cNvSpPr>
            <a:spLocks xmlns:a="http://schemas.openxmlformats.org/drawingml/2006/main" noGrp="1"/>
          </p:cNvSpPr>
          <p:nvPr/>
        </p:nvSpPr>
        <p:spPr>
          <a:xfrm xmlns:a="http://schemas.openxmlformats.org/drawingml/2006/main">
            <a:off x="13430250" y="4095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C9F"/>
                </a:solidFill>
                <a:latin typeface="Arial"/>
                <a:ea typeface="Arial"/>
                <a:cs typeface="Arial"/>
              </a:defRPr>
            </a:pPr>
            <a:r>
              <a:rPr sz="1500" b="0">
                <a:solidFill>
                  <a:srgbClr val="647C9F"/>
                </a:solidFill>
                <a:latin typeface="Arial"/>
                <a:ea typeface="Arial"/>
                <a:cs typeface="Arial"/>
              </a:rPr>
              <a:t>02 / THE JEV PIPELINE</a:t>
            </a:r>
          </a:p>
        </p:txBody>
      </p:sp>
      <p:sp>
        <p:nvSpPr>
          <p:cNvPr id="3" name="">
            <a:extLst xmlns:a="http://schemas.openxmlformats.org/drawingml/2006/main">
              <a:ext uri="{FF2B5EF4-FFF2-40B4-BE49-F238E27FC236}">
                <a16:creationId xmlns:a16="http://schemas.microsoft.com/office/drawing/2014/main" id="{55B6E56E-528B-4808-A2AD-8AA984A29ECC}"/>
              </a:ext>
            </a:extLst>
          </p:cNvPr>
          <p:cNvSpPr>
            <a:spLocks xmlns:a="http://schemas.openxmlformats.org/drawingml/2006/main" noGrp="1"/>
          </p:cNvSpPr>
          <p:nvPr/>
        </p:nvSpPr>
        <p:spPr>
          <a:xfrm xmlns:a="http://schemas.openxmlformats.org/drawingml/2006/main">
            <a:off x="1066800" y="1390650"/>
            <a:ext cx="16154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5253D"/>
                </a:solidFill>
                <a:latin typeface="Arial"/>
                <a:ea typeface="Arial"/>
                <a:cs typeface="Arial"/>
              </a:defRPr>
            </a:pPr>
            <a:r>
              <a:rPr sz="5400" b="1">
                <a:solidFill>
                  <a:srgbClr val="15253D"/>
                </a:solidFill>
                <a:latin typeface="Arial"/>
                <a:ea typeface="Arial"/>
                <a:cs typeface="Arial"/>
              </a:rPr>
              <a:t>Jev at the memory boundary</a:t>
            </a:r>
          </a:p>
        </p:txBody>
      </p:sp>
      <p:sp>
        <p:nvSpPr>
          <p:cNvPr id="4" name="">
            <a:extLst xmlns:a="http://schemas.openxmlformats.org/drawingml/2006/main">
              <a:ext uri="{FF2B5EF4-FFF2-40B4-BE49-F238E27FC236}">
                <a16:creationId xmlns:a16="http://schemas.microsoft.com/office/drawing/2014/main" id="{89497D91-202B-4E59-A5BF-6D9AF826A879}"/>
              </a:ext>
            </a:extLst>
          </p:cNvPr>
          <p:cNvSpPr>
            <a:spLocks xmlns:a="http://schemas.openxmlformats.org/drawingml/2006/main" noGrp="1"/>
          </p:cNvSpPr>
          <p:nvPr/>
        </p:nvSpPr>
        <p:spPr>
          <a:xfrm xmlns:a="http://schemas.openxmlformats.org/drawingml/2006/main">
            <a:off x="1104900" y="2428875"/>
            <a:ext cx="1581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647C9F"/>
                </a:solidFill>
                <a:latin typeface="Arial"/>
                <a:ea typeface="Arial"/>
                <a:cs typeface="Arial"/>
              </a:defRPr>
            </a:pPr>
            <a:r>
              <a:rPr sz="2625" b="0">
                <a:solidFill>
                  <a:srgbClr val="647C9F"/>
                </a:solidFill>
                <a:latin typeface="Arial"/>
                <a:ea typeface="Arial"/>
                <a:cs typeface="Arial"/>
              </a:rPr>
              <a:t>Structured decisions for the hook to enforce</a:t>
            </a:r>
          </a:p>
        </p:txBody>
      </p:sp>
      <p:sp>
        <p:nvSpPr>
          <p:cNvPr id="5" name="">
            <a:extLst xmlns:a="http://schemas.openxmlformats.org/drawingml/2006/main">
              <a:ext uri="{FF2B5EF4-FFF2-40B4-BE49-F238E27FC236}">
                <a16:creationId xmlns:a16="http://schemas.microsoft.com/office/drawing/2014/main" id="{1AC9F84E-1CA6-4E25-A21F-CBE2AA20DB61}"/>
              </a:ext>
            </a:extLst>
          </p:cNvPr>
          <p:cNvSpPr>
            <a:spLocks xmlns:a="http://schemas.openxmlformats.org/drawingml/2006/main" noGrp="1"/>
          </p:cNvSpPr>
          <p:nvPr/>
        </p:nvSpPr>
        <p:spPr>
          <a:xfrm xmlns:a="http://schemas.openxmlformats.org/drawingml/2006/main">
            <a:off x="5810250" y="3448050"/>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468EF"/>
                </a:solidFill>
                <a:latin typeface="Arial"/>
                <a:ea typeface="Arial"/>
                <a:cs typeface="Arial"/>
              </a:defRPr>
            </a:pPr>
            <a:r>
              <a:rPr sz="2175" b="1">
                <a:solidFill>
                  <a:srgbClr val="3468EF"/>
                </a:solidFill>
                <a:latin typeface="Arial"/>
                <a:ea typeface="Arial"/>
                <a:cs typeface="Arial"/>
              </a:rPr>
              <a:t>Company policy + employee.md</a:t>
            </a:r>
          </a:p>
        </p:txBody>
      </p:sp>
      <p:sp>
        <p:nvSpPr>
          <p:cNvPr id="6" name="">
            <a:extLst xmlns:a="http://schemas.openxmlformats.org/drawingml/2006/main">
              <a:ext uri="{FF2B5EF4-FFF2-40B4-BE49-F238E27FC236}">
                <a16:creationId xmlns:a16="http://schemas.microsoft.com/office/drawing/2014/main" id="{879952A6-7A03-4A0A-ADA9-B7ABD18764D8}"/>
              </a:ext>
            </a:extLst>
          </p:cNvPr>
          <p:cNvSpPr>
            <a:spLocks xmlns:a="http://schemas.openxmlformats.org/drawingml/2006/main" noGrp="1"/>
          </p:cNvSpPr>
          <p:nvPr/>
        </p:nvSpPr>
        <p:spPr>
          <a:xfrm xmlns:a="http://schemas.openxmlformats.org/drawingml/2006/main">
            <a:off x="5810250" y="3905250"/>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Rules apply before classification and storage</a:t>
            </a:r>
          </a:p>
        </p:txBody>
      </p:sp>
      <p:sp>
        <p:nvSpPr>
          <p:cNvPr id="7" name="">
            <a:extLst xmlns:a="http://schemas.openxmlformats.org/drawingml/2006/main">
              <a:ext uri="{FF2B5EF4-FFF2-40B4-BE49-F238E27FC236}">
                <a16:creationId xmlns:a16="http://schemas.microsoft.com/office/drawing/2014/main" id="{A4411739-43FF-4F97-92CE-C4F618A1756C}"/>
              </a:ext>
            </a:extLst>
          </p:cNvPr>
          <p:cNvSpPr>
            <a:spLocks xmlns:a="http://schemas.openxmlformats.org/drawingml/2006/main" noGrp="1"/>
          </p:cNvSpPr>
          <p:nvPr/>
        </p:nvSpPr>
        <p:spPr>
          <a:xfrm xmlns:a="http://schemas.openxmlformats.org/drawingml/2006/main">
            <a:off x="106680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8" name="">
            <a:extLst xmlns:a="http://schemas.openxmlformats.org/drawingml/2006/main">
              <a:ext uri="{FF2B5EF4-FFF2-40B4-BE49-F238E27FC236}">
                <a16:creationId xmlns:a16="http://schemas.microsoft.com/office/drawing/2014/main" id="{481FCD44-EAB4-4495-B368-F7D60F45B60D}"/>
              </a:ext>
            </a:extLst>
          </p:cNvPr>
          <p:cNvSpPr>
            <a:spLocks xmlns:a="http://schemas.openxmlformats.org/drawingml/2006/main" noGrp="1"/>
          </p:cNvSpPr>
          <p:nvPr/>
        </p:nvSpPr>
        <p:spPr>
          <a:xfrm xmlns:a="http://schemas.openxmlformats.org/drawingml/2006/main">
            <a:off x="12763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Agent trajectory</a:t>
            </a:r>
          </a:p>
        </p:txBody>
      </p:sp>
      <p:sp>
        <p:nvSpPr>
          <p:cNvPr id="9" name="">
            <a:extLst xmlns:a="http://schemas.openxmlformats.org/drawingml/2006/main">
              <a:ext uri="{FF2B5EF4-FFF2-40B4-BE49-F238E27FC236}">
                <a16:creationId xmlns:a16="http://schemas.microsoft.com/office/drawing/2014/main" id="{B0B46F76-FE0A-4FB4-BB68-16B1632E7556}"/>
              </a:ext>
            </a:extLst>
          </p:cNvPr>
          <p:cNvSpPr>
            <a:spLocks xmlns:a="http://schemas.openxmlformats.org/drawingml/2006/main" noGrp="1"/>
          </p:cNvSpPr>
          <p:nvPr/>
        </p:nvSpPr>
        <p:spPr>
          <a:xfrm xmlns:a="http://schemas.openxmlformats.org/drawingml/2006/main">
            <a:off x="12763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Messages, calls</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tool results</a:t>
            </a:r>
          </a:p>
        </p:txBody>
      </p:sp>
      <p:sp>
        <p:nvSpPr>
          <p:cNvPr id="10" name="">
            <a:extLst xmlns:a="http://schemas.openxmlformats.org/drawingml/2006/main">
              <a:ext uri="{FF2B5EF4-FFF2-40B4-BE49-F238E27FC236}">
                <a16:creationId xmlns:a16="http://schemas.microsoft.com/office/drawing/2014/main" id="{638FF035-1528-4A2A-8B8B-9F4FEE67C2D2}"/>
              </a:ext>
            </a:extLst>
          </p:cNvPr>
          <p:cNvSpPr>
            <a:spLocks xmlns:a="http://schemas.openxmlformats.org/drawingml/2006/main" noGrp="1"/>
          </p:cNvSpPr>
          <p:nvPr/>
        </p:nvSpPr>
        <p:spPr>
          <a:xfrm xmlns:a="http://schemas.openxmlformats.org/drawingml/2006/main">
            <a:off x="396240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FF145F0F-745E-4280-93FD-B5D8BEA3E903}"/>
              </a:ext>
            </a:extLst>
          </p:cNvPr>
          <p:cNvSpPr>
            <a:spLocks xmlns:a="http://schemas.openxmlformats.org/drawingml/2006/main" noGrp="1"/>
          </p:cNvSpPr>
          <p:nvPr/>
        </p:nvSpPr>
        <p:spPr>
          <a:xfrm xmlns:a="http://schemas.openxmlformats.org/drawingml/2006/main">
            <a:off x="440055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12" name="">
            <a:extLst xmlns:a="http://schemas.openxmlformats.org/drawingml/2006/main">
              <a:ext uri="{FF2B5EF4-FFF2-40B4-BE49-F238E27FC236}">
                <a16:creationId xmlns:a16="http://schemas.microsoft.com/office/drawing/2014/main" id="{5E4D2F9D-76BB-4217-80DE-56919447E0D2}"/>
              </a:ext>
            </a:extLst>
          </p:cNvPr>
          <p:cNvSpPr>
            <a:spLocks xmlns:a="http://schemas.openxmlformats.org/drawingml/2006/main" noGrp="1"/>
          </p:cNvSpPr>
          <p:nvPr/>
        </p:nvSpPr>
        <p:spPr>
          <a:xfrm xmlns:a="http://schemas.openxmlformats.org/drawingml/2006/main">
            <a:off x="461010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Local listener</a:t>
            </a:r>
          </a:p>
        </p:txBody>
      </p:sp>
      <p:sp>
        <p:nvSpPr>
          <p:cNvPr id="13" name="">
            <a:extLst xmlns:a="http://schemas.openxmlformats.org/drawingml/2006/main">
              <a:ext uri="{FF2B5EF4-FFF2-40B4-BE49-F238E27FC236}">
                <a16:creationId xmlns:a16="http://schemas.microsoft.com/office/drawing/2014/main" id="{4942F50A-F65D-4324-A3F7-A7FB817B5B74}"/>
              </a:ext>
            </a:extLst>
          </p:cNvPr>
          <p:cNvSpPr>
            <a:spLocks xmlns:a="http://schemas.openxmlformats.org/drawingml/2006/main" noGrp="1"/>
          </p:cNvSpPr>
          <p:nvPr/>
        </p:nvSpPr>
        <p:spPr>
          <a:xfrm xmlns:a="http://schemas.openxmlformats.org/drawingml/2006/main">
            <a:off x="461010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Intercept + check</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outbound rules</a:t>
            </a:r>
          </a:p>
        </p:txBody>
      </p:sp>
      <p:sp>
        <p:nvSpPr>
          <p:cNvPr id="14" name="">
            <a:extLst xmlns:a="http://schemas.openxmlformats.org/drawingml/2006/main">
              <a:ext uri="{FF2B5EF4-FFF2-40B4-BE49-F238E27FC236}">
                <a16:creationId xmlns:a16="http://schemas.microsoft.com/office/drawing/2014/main" id="{E4E035F2-4489-4DA3-8D67-9857C8D97F97}"/>
              </a:ext>
            </a:extLst>
          </p:cNvPr>
          <p:cNvSpPr>
            <a:spLocks xmlns:a="http://schemas.openxmlformats.org/drawingml/2006/main" noGrp="1"/>
          </p:cNvSpPr>
          <p:nvPr/>
        </p:nvSpPr>
        <p:spPr>
          <a:xfrm xmlns:a="http://schemas.openxmlformats.org/drawingml/2006/main">
            <a:off x="729615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3B5BA7B-C00A-4CC1-B7D7-AFAE8322770F}"/>
              </a:ext>
            </a:extLst>
          </p:cNvPr>
          <p:cNvSpPr>
            <a:spLocks xmlns:a="http://schemas.openxmlformats.org/drawingml/2006/main" noGrp="1"/>
          </p:cNvSpPr>
          <p:nvPr/>
        </p:nvSpPr>
        <p:spPr>
          <a:xfrm xmlns:a="http://schemas.openxmlformats.org/drawingml/2006/main">
            <a:off x="7734300" y="4810125"/>
            <a:ext cx="2819400" cy="1809750"/>
          </a:xfrm>
          <a:prstGeom xmlns:a="http://schemas.openxmlformats.org/drawingml/2006/main" prst="rect">
            <a:avLst/>
          </a:prstGeom>
          <a:solidFill xmlns:a="http://schemas.openxmlformats.org/drawingml/2006/main">
            <a:srgbClr val="E6EEFF"/>
          </a:solidFill>
          <a:ln xmlns:a="http://schemas.openxmlformats.org/drawingml/2006/main" w="19050">
            <a:solidFill>
              <a:srgbClr val="3468EF"/>
            </a:solidFill>
          </a:ln>
        </p:spPr>
      </p:sp>
      <p:sp>
        <p:nvSpPr>
          <p:cNvPr id="16" name="">
            <a:extLst xmlns:a="http://schemas.openxmlformats.org/drawingml/2006/main">
              <a:ext uri="{FF2B5EF4-FFF2-40B4-BE49-F238E27FC236}">
                <a16:creationId xmlns:a16="http://schemas.microsoft.com/office/drawing/2014/main" id="{4A4CB885-1059-40B8-B7CD-52A893EA7285}"/>
              </a:ext>
            </a:extLst>
          </p:cNvPr>
          <p:cNvSpPr>
            <a:spLocks xmlns:a="http://schemas.openxmlformats.org/drawingml/2006/main" noGrp="1"/>
          </p:cNvSpPr>
          <p:nvPr/>
        </p:nvSpPr>
        <p:spPr>
          <a:xfrm xmlns:a="http://schemas.openxmlformats.org/drawingml/2006/main">
            <a:off x="79438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3468EF"/>
                </a:solidFill>
                <a:latin typeface="Arial"/>
                <a:ea typeface="Arial"/>
                <a:cs typeface="Arial"/>
              </a:defRPr>
            </a:pPr>
            <a:r>
              <a:rPr sz="3000" b="1">
                <a:solidFill>
                  <a:srgbClr val="3468EF"/>
                </a:solidFill>
                <a:latin typeface="Arial"/>
                <a:ea typeface="Arial"/>
                <a:cs typeface="Arial"/>
              </a:rPr>
              <a:t>Jev</a:t>
            </a:r>
          </a:p>
        </p:txBody>
      </p:sp>
      <p:sp>
        <p:nvSpPr>
          <p:cNvPr id="17" name="">
            <a:extLst xmlns:a="http://schemas.openxmlformats.org/drawingml/2006/main">
              <a:ext uri="{FF2B5EF4-FFF2-40B4-BE49-F238E27FC236}">
                <a16:creationId xmlns:a16="http://schemas.microsoft.com/office/drawing/2014/main" id="{468D25D9-183A-4523-B336-8F0C11E93F12}"/>
              </a:ext>
            </a:extLst>
          </p:cNvPr>
          <p:cNvSpPr>
            <a:spLocks xmlns:a="http://schemas.openxmlformats.org/drawingml/2006/main" noGrp="1"/>
          </p:cNvSpPr>
          <p:nvPr/>
        </p:nvSpPr>
        <p:spPr>
          <a:xfrm xmlns:a="http://schemas.openxmlformats.org/drawingml/2006/main">
            <a:off x="79438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Category, keep/drop</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confidence</a:t>
            </a:r>
          </a:p>
        </p:txBody>
      </p:sp>
      <p:sp>
        <p:nvSpPr>
          <p:cNvPr id="18" name="">
            <a:extLst xmlns:a="http://schemas.openxmlformats.org/drawingml/2006/main">
              <a:ext uri="{FF2B5EF4-FFF2-40B4-BE49-F238E27FC236}">
                <a16:creationId xmlns:a16="http://schemas.microsoft.com/office/drawing/2014/main" id="{511C06A8-B1D6-4753-AF51-DB205D7FA120}"/>
              </a:ext>
            </a:extLst>
          </p:cNvPr>
          <p:cNvSpPr>
            <a:spLocks xmlns:a="http://schemas.openxmlformats.org/drawingml/2006/main" noGrp="1"/>
          </p:cNvSpPr>
          <p:nvPr/>
        </p:nvSpPr>
        <p:spPr>
          <a:xfrm xmlns:a="http://schemas.openxmlformats.org/drawingml/2006/main">
            <a:off x="1062990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4FF5D6A1-9B7D-4D0B-ACDF-3F90E93A85F3}"/>
              </a:ext>
            </a:extLst>
          </p:cNvPr>
          <p:cNvSpPr>
            <a:spLocks xmlns:a="http://schemas.openxmlformats.org/drawingml/2006/main" noGrp="1"/>
          </p:cNvSpPr>
          <p:nvPr/>
        </p:nvSpPr>
        <p:spPr>
          <a:xfrm xmlns:a="http://schemas.openxmlformats.org/drawingml/2006/main">
            <a:off x="1106805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20" name="">
            <a:extLst xmlns:a="http://schemas.openxmlformats.org/drawingml/2006/main">
              <a:ext uri="{FF2B5EF4-FFF2-40B4-BE49-F238E27FC236}">
                <a16:creationId xmlns:a16="http://schemas.microsoft.com/office/drawing/2014/main" id="{042A524B-7450-407A-94FC-776389EDE9F5}"/>
              </a:ext>
            </a:extLst>
          </p:cNvPr>
          <p:cNvSpPr>
            <a:spLocks xmlns:a="http://schemas.openxmlformats.org/drawingml/2006/main" noGrp="1"/>
          </p:cNvSpPr>
          <p:nvPr/>
        </p:nvSpPr>
        <p:spPr>
          <a:xfrm xmlns:a="http://schemas.openxmlformats.org/drawingml/2006/main">
            <a:off x="1127760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Policy hook</a:t>
            </a:r>
          </a:p>
        </p:txBody>
      </p:sp>
      <p:sp>
        <p:nvSpPr>
          <p:cNvPr id="21" name="">
            <a:extLst xmlns:a="http://schemas.openxmlformats.org/drawingml/2006/main">
              <a:ext uri="{FF2B5EF4-FFF2-40B4-BE49-F238E27FC236}">
                <a16:creationId xmlns:a16="http://schemas.microsoft.com/office/drawing/2014/main" id="{3028BD3D-C580-4D37-BEBE-5653B45DD4E7}"/>
              </a:ext>
            </a:extLst>
          </p:cNvPr>
          <p:cNvSpPr>
            <a:spLocks xmlns:a="http://schemas.openxmlformats.org/drawingml/2006/main" noGrp="1"/>
          </p:cNvSpPr>
          <p:nvPr/>
        </p:nvSpPr>
        <p:spPr>
          <a:xfrm xmlns:a="http://schemas.openxmlformats.org/drawingml/2006/main">
            <a:off x="1127760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Remove excluded</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spans</a:t>
            </a:r>
          </a:p>
        </p:txBody>
      </p:sp>
      <p:sp>
        <p:nvSpPr>
          <p:cNvPr id="22" name="">
            <a:extLst xmlns:a="http://schemas.openxmlformats.org/drawingml/2006/main">
              <a:ext uri="{FF2B5EF4-FFF2-40B4-BE49-F238E27FC236}">
                <a16:creationId xmlns:a16="http://schemas.microsoft.com/office/drawing/2014/main" id="{82439C40-C132-4125-9CD9-44C59E926540}"/>
              </a:ext>
            </a:extLst>
          </p:cNvPr>
          <p:cNvSpPr>
            <a:spLocks xmlns:a="http://schemas.openxmlformats.org/drawingml/2006/main" noGrp="1"/>
          </p:cNvSpPr>
          <p:nvPr/>
        </p:nvSpPr>
        <p:spPr>
          <a:xfrm xmlns:a="http://schemas.openxmlformats.org/drawingml/2006/main">
            <a:off x="1396365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48DD1584-E727-451B-894F-9210392D83E4}"/>
              </a:ext>
            </a:extLst>
          </p:cNvPr>
          <p:cNvSpPr>
            <a:spLocks xmlns:a="http://schemas.openxmlformats.org/drawingml/2006/main" noGrp="1"/>
          </p:cNvSpPr>
          <p:nvPr/>
        </p:nvSpPr>
        <p:spPr>
          <a:xfrm xmlns:a="http://schemas.openxmlformats.org/drawingml/2006/main">
            <a:off x="1440180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24" name="">
            <a:extLst xmlns:a="http://schemas.openxmlformats.org/drawingml/2006/main">
              <a:ext uri="{FF2B5EF4-FFF2-40B4-BE49-F238E27FC236}">
                <a16:creationId xmlns:a16="http://schemas.microsoft.com/office/drawing/2014/main" id="{13C9C9C3-DFF9-4F0E-BAB6-1BF4C780BECB}"/>
              </a:ext>
            </a:extLst>
          </p:cNvPr>
          <p:cNvSpPr>
            <a:spLocks xmlns:a="http://schemas.openxmlformats.org/drawingml/2006/main" noGrp="1"/>
          </p:cNvSpPr>
          <p:nvPr/>
        </p:nvSpPr>
        <p:spPr>
          <a:xfrm xmlns:a="http://schemas.openxmlformats.org/drawingml/2006/main">
            <a:off x="146113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GBrain</a:t>
            </a:r>
          </a:p>
        </p:txBody>
      </p:sp>
      <p:sp>
        <p:nvSpPr>
          <p:cNvPr id="25" name="">
            <a:extLst xmlns:a="http://schemas.openxmlformats.org/drawingml/2006/main">
              <a:ext uri="{FF2B5EF4-FFF2-40B4-BE49-F238E27FC236}">
                <a16:creationId xmlns:a16="http://schemas.microsoft.com/office/drawing/2014/main" id="{8BB24E74-ACD6-4FAE-BFB7-132E6A7CEE27}"/>
              </a:ext>
            </a:extLst>
          </p:cNvPr>
          <p:cNvSpPr>
            <a:spLocks xmlns:a="http://schemas.openxmlformats.org/drawingml/2006/main" noGrp="1"/>
          </p:cNvSpPr>
          <p:nvPr/>
        </p:nvSpPr>
        <p:spPr>
          <a:xfrm xmlns:a="http://schemas.openxmlformats.org/drawingml/2006/main">
            <a:off x="146113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Clean facts</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trajectory</a:t>
            </a:r>
          </a:p>
        </p:txBody>
      </p:sp>
      <p:sp>
        <p:nvSpPr>
          <p:cNvPr id="26" name="">
            <a:extLst xmlns:a="http://schemas.openxmlformats.org/drawingml/2006/main">
              <a:ext uri="{FF2B5EF4-FFF2-40B4-BE49-F238E27FC236}">
                <a16:creationId xmlns:a16="http://schemas.microsoft.com/office/drawing/2014/main" id="{EDB58104-3654-4660-9D3F-50CBC0EE5156}"/>
              </a:ext>
            </a:extLst>
          </p:cNvPr>
          <p:cNvSpPr>
            <a:spLocks xmlns:a="http://schemas.openxmlformats.org/drawingml/2006/main" noGrp="1"/>
          </p:cNvSpPr>
          <p:nvPr/>
        </p:nvSpPr>
        <p:spPr>
          <a:xfrm xmlns:a="http://schemas.openxmlformats.org/drawingml/2006/main">
            <a:off x="4467225" y="6848475"/>
            <a:ext cx="30099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Only permitted input</a:t>
            </a:r>
          </a:p>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reaches the classifier</a:t>
            </a:r>
          </a:p>
        </p:txBody>
      </p:sp>
      <p:sp>
        <p:nvSpPr>
          <p:cNvPr id="27" name="">
            <a:extLst xmlns:a="http://schemas.openxmlformats.org/drawingml/2006/main">
              <a:ext uri="{FF2B5EF4-FFF2-40B4-BE49-F238E27FC236}">
                <a16:creationId xmlns:a16="http://schemas.microsoft.com/office/drawing/2014/main" id="{AE5B55D0-33E1-4CD9-8CF6-190750D7066C}"/>
              </a:ext>
            </a:extLst>
          </p:cNvPr>
          <p:cNvSpPr>
            <a:spLocks xmlns:a="http://schemas.openxmlformats.org/drawingml/2006/main" noGrp="1"/>
          </p:cNvSpPr>
          <p:nvPr/>
        </p:nvSpPr>
        <p:spPr>
          <a:xfrm xmlns:a="http://schemas.openxmlformats.org/drawingml/2006/main">
            <a:off x="14458950" y="6848475"/>
            <a:ext cx="2809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Training requires</a:t>
            </a:r>
          </a:p>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separate permission</a:t>
            </a:r>
          </a:p>
        </p:txBody>
      </p:sp>
      <p:sp>
        <p:nvSpPr>
          <p:cNvPr id="28" name="">
            <a:extLst xmlns:a="http://schemas.openxmlformats.org/drawingml/2006/main">
              <a:ext uri="{FF2B5EF4-FFF2-40B4-BE49-F238E27FC236}">
                <a16:creationId xmlns:a16="http://schemas.microsoft.com/office/drawing/2014/main" id="{109B96CF-8BEB-48AE-9834-DEC8A672DABE}"/>
              </a:ext>
            </a:extLst>
          </p:cNvPr>
          <p:cNvSpPr>
            <a:spLocks xmlns:a="http://schemas.openxmlformats.org/drawingml/2006/main" noGrp="1"/>
          </p:cNvSpPr>
          <p:nvPr/>
        </p:nvSpPr>
        <p:spPr>
          <a:xfrm xmlns:a="http://schemas.openxmlformats.org/drawingml/2006/main">
            <a:off x="1095375" y="8010525"/>
            <a:ext cx="1609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5253D"/>
                </a:solidFill>
                <a:latin typeface="Arial"/>
                <a:ea typeface="Arial"/>
                <a:cs typeface="Arial"/>
              </a:defRPr>
            </a:pPr>
            <a:r>
              <a:rPr sz="2250" b="1">
                <a:solidFill>
                  <a:srgbClr val="15253D"/>
                </a:solidFill>
                <a:latin typeface="Arial"/>
                <a:ea typeface="Arial"/>
                <a:cs typeface="Arial"/>
              </a:rPr>
              <a:t>The task keeps its authorized context. The persistent copy follows the rules.</a:t>
            </a:r>
          </a:p>
        </p:txBody>
      </p:sp>
      <p:sp>
        <p:nvSpPr>
          <p:cNvPr id="29" name="">
            <a:extLst xmlns:a="http://schemas.openxmlformats.org/drawingml/2006/main">
              <a:ext uri="{FF2B5EF4-FFF2-40B4-BE49-F238E27FC236}">
                <a16:creationId xmlns:a16="http://schemas.microsoft.com/office/drawing/2014/main" id="{E9E5804C-69CF-4C8D-8A4B-AFE12844E0FD}"/>
              </a:ext>
            </a:extLst>
          </p:cNvPr>
          <p:cNvSpPr>
            <a:spLocks xmlns:a="http://schemas.openxmlformats.org/drawingml/2006/main" noGrp="1"/>
          </p:cNvSpPr>
          <p:nvPr/>
        </p:nvSpPr>
        <p:spPr>
          <a:xfrm xmlns:a="http://schemas.openxmlformats.org/drawingml/2006/main">
            <a:off x="1095375" y="8696325"/>
            <a:ext cx="1619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647C9F"/>
                </a:solidFill>
                <a:latin typeface="Arial"/>
                <a:ea typeface="Arial"/>
                <a:cs typeface="Arial"/>
              </a:defRPr>
            </a:pPr>
            <a:r>
              <a:rPr sz="1650" b="0">
                <a:solidFill>
                  <a:srgbClr val="647C9F"/>
                </a:solidFill>
                <a:latin typeface="Arial"/>
                <a:ea typeface="Arial"/>
                <a:cs typeface="Arial"/>
              </a:rPr>
              <a:t>Prototype: local rules simulate Jev; the GBrain handoff is simulated.</a:t>
            </a:r>
          </a:p>
        </p:txBody>
      </p:sp>
    </p:spTree>
    <p:extLst>
      <p:ext uri="{BB962C8B-B14F-4D97-AF65-F5344CB8AC3E}">
        <p14:creationId xmlns:p14="http://schemas.microsoft.com/office/powerpoint/2010/main" val="15593867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2026-09-27T23:39:07.7130000Z</dcterms:created>
  <dcterms:modified xsi:type="dcterms:W3CDTF">2026-09-27T23:39:07.7130000Z</dcterms:modified>
</coreProperties>
</file>