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ae7216796a40a9" /><Relationship Type="http://schemas.openxmlformats.org/officeDocument/2006/relationships/extended-properties" Target="/docProps/app.xml" Id="R2bea002257ce44c2" /><Relationship Type="http://schemas.openxmlformats.org/officeDocument/2006/relationships/officeDocument" Target="/ppt/presentation.xml" Id="Re272e8a4682f4ef5" /></Relationships>
</file>

<file path=ppt/presentation.xml><?xml version="1.0" encoding="utf-8"?>
<p:presentation xmlns:p="http://schemas.openxmlformats.org/presentationml/2006/main">
  <p:sldMasterIdLst>
    <p:sldMasterId xmlns:r="http://schemas.openxmlformats.org/officeDocument/2006/relationships" id="2147483648" r:id="R9d1660afabf94ae0"/>
  </p:sldMasterIdLst>
  <p:notesMasterIdLst>
    <p:notesMasterId xmlns:r="http://schemas.openxmlformats.org/officeDocument/2006/relationships" r:id="R9d07f02e062349a3"/>
  </p:notesMasterIdLst>
  <p:sldIdLst>
    <p:sldId xmlns:r="http://schemas.openxmlformats.org/officeDocument/2006/relationships" id="256" r:id="R7ae54b42c7ea4b60"/>
    <p:sldId xmlns:r="http://schemas.openxmlformats.org/officeDocument/2006/relationships" id="257" r:id="R4ae3a407f39c4648"/>
    <p:sldId xmlns:r="http://schemas.openxmlformats.org/officeDocument/2006/relationships" id="258" r:id="R2c130844ff444a14"/>
    <p:sldId xmlns:r="http://schemas.openxmlformats.org/officeDocument/2006/relationships" id="259" r:id="Rda747e3420b344eb"/>
    <p:sldId xmlns:r="http://schemas.openxmlformats.org/officeDocument/2006/relationships" id="260" r:id="Re53fdbc867724434"/>
    <p:sldId xmlns:r="http://schemas.openxmlformats.org/officeDocument/2006/relationships" id="261" r:id="R19b67eaefcc3479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fc0ea776df40f5" /><Relationship Type="http://schemas.openxmlformats.org/officeDocument/2006/relationships/slideMaster" Target="/ppt/slideMasters/slideMaster1.xml" Id="R9d1660afabf94ae0" /><Relationship Type="http://schemas.openxmlformats.org/officeDocument/2006/relationships/notesMaster" Target="/ppt/notesMasters/notesMaster1.xml" Id="R9d07f02e062349a3" /><Relationship Type="http://schemas.openxmlformats.org/officeDocument/2006/relationships/presProps" Target="/ppt/presProps.xml" Id="Rb9df5febd7054cf9" /><Relationship Type="http://schemas.openxmlformats.org/officeDocument/2006/relationships/tableStyles" Target="/ppt/tableStyles.xml" Id="Rcf1c599f54b942f6" /><Relationship Type="http://schemas.openxmlformats.org/officeDocument/2006/relationships/slide" Target="/ppt/slides/slide1.xml" Id="R7ae54b42c7ea4b60" /><Relationship Type="http://schemas.openxmlformats.org/officeDocument/2006/relationships/slide" Target="/ppt/slides/slide2.xml" Id="R4ae3a407f39c4648" /><Relationship Type="http://schemas.openxmlformats.org/officeDocument/2006/relationships/slide" Target="/ppt/slides/slide3.xml" Id="R2c130844ff444a14" /><Relationship Type="http://schemas.openxmlformats.org/officeDocument/2006/relationships/slide" Target="/ppt/slides/slide4.xml" Id="Rda747e3420b344eb" /><Relationship Type="http://schemas.openxmlformats.org/officeDocument/2006/relationships/slide" Target="/ppt/slides/slide5.xml" Id="Re53fdbc867724434" /><Relationship Type="http://schemas.openxmlformats.org/officeDocument/2006/relationships/slide" Target="/ppt/slides/slide6.xml" Id="R19b67eaefcc347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6e862add7948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93d7b700654986" /><Relationship Type="http://schemas.openxmlformats.org/officeDocument/2006/relationships/notesMaster" Target="/ppt/notesMasters/notesMaster1.xml" Id="R53ef70d927e14c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355771f63f4537" /><Relationship Type="http://schemas.openxmlformats.org/officeDocument/2006/relationships/notesMaster" Target="/ppt/notesMasters/notesMaster1.xml" Id="R5624f2beac8a4a7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1ee121ed184f5c" /><Relationship Type="http://schemas.openxmlformats.org/officeDocument/2006/relationships/notesMaster" Target="/ppt/notesMasters/notesMaster1.xml" Id="R4b372f18befe4a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18ab7ac59446c7" /><Relationship Type="http://schemas.openxmlformats.org/officeDocument/2006/relationships/notesMaster" Target="/ppt/notesMasters/notesMaster1.xml" Id="R3f3f50bc9fef46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735efc0d32469f" /><Relationship Type="http://schemas.openxmlformats.org/officeDocument/2006/relationships/notesMaster" Target="/ppt/notesMasters/notesMaster1.xml" Id="Rb3ae6b15c8a040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97e5ec43944bc4" /><Relationship Type="http://schemas.openxmlformats.org/officeDocument/2006/relationships/notesMaster" Target="/ppt/notesMasters/notesMaster1.xml" Id="Rd223135f6f9f4b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 needs context to do its job. But a useful conversation can contain details that should never become persistent company memory. When &amp; What puts a small policy hook at the point where an agent tries to save memory. Our demo focuses on that one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synthetic message from Maya. The agent can use the whole message for the immediate task. Persistent memory needs a more selective treatment. The medical reason stays out. Coverage can be useful until Friday. Maya’s writing preference can remain private. Training permission is separate and defaults to no in this example. Scope and expiry are labels in the current demo, not proof of downstream enforcement.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UI has three parts. Load employee rules as Markdown. Paste or import an agent trajectory. Run the hook to see intercepted memory calls and the edited outgoing payloads. The current implementation uses deterministic rules. It does not modify the original user or assistant messages, and there is no manual approval queue. This is a narrow prototype at the write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the agent tries to save a mixed memory. Our hook removes the sentence containing the medical detail. It keeps the useful coverage fact and adds the proposed expiry, audience and training metadata. The original conversation remains available for the current task. Be explicit during the demo: this screen shows the outgoing intent, and the write to GBrain is simulated. The simple sentence rules can discard useful details when sensitive and useful information share a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Maya changes her preference. Add this line to the rules: Remember my writing preferences: no. Run the same trajectory again. The writing preference changes from an allowed private memory intent to a blocked write. This demonstrates control without a separate review workflow. It affects the hook’s next run. It does not remove previously stored facts or undo prior model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runs today is the rule parser and memory-write interceptor, with visible before and after payloads. Local GBrain is installed, and separate CLI checks have verified save, recall and withdrawal from active recall. We have not verified a full live route from this hook to GBrain. The next connection is dispatch plus enforcement of audience and expiry during retrieval. Model-assisted classification and training recommendations are possible later, but no Jev or River model is running in this draft. This is a hackathon prototype, not a production compliance or permanent erasure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0250fbcf7841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1b248566f7481a" /><Relationship Type="http://schemas.openxmlformats.org/officeDocument/2006/relationships/slideLayout" Target="/ppt/slideLayouts/slideLayout1.xml" Id="R8f789c19bd5a4b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789c19bd5a4b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dcae3aec47a4564" /><Relationship Type="http://schemas.openxmlformats.org/officeDocument/2006/relationships/notesSlide" Target="/ppt/notesSlides/notesSlide1.xml" Id="Rab3364c5236646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c24f8d0daf41c7" /><Relationship Type="http://schemas.openxmlformats.org/officeDocument/2006/relationships/notesSlide" Target="/ppt/notesSlides/notesSlide2.xml" Id="Rc62e063bd3ba41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81ea60e57fe4846" /><Relationship Type="http://schemas.openxmlformats.org/officeDocument/2006/relationships/notesSlide" Target="/ppt/notesSlides/notesSlide3.xml" Id="Rc835867af5e34d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f0bcc269fbc4a76" /><Relationship Type="http://schemas.openxmlformats.org/officeDocument/2006/relationships/notesSlide" Target="/ppt/notesSlides/notesSlide4.xml" Id="R426193b4e4d84f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1150279ed024898" /><Relationship Type="http://schemas.openxmlformats.org/officeDocument/2006/relationships/notesSlide" Target="/ppt/notesSlides/notesSlide5.xml" Id="R886103d6e5924a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427e6fad2e420a" /><Relationship Type="http://schemas.openxmlformats.org/officeDocument/2006/relationships/notesSlide" Target="/ppt/notesSlides/notesSlide6.xml" Id="R82a11dbc27934d8e" /></Relationships>
</file>

<file path=ppt/slides/slide1.xml><?xml version="1.0" encoding="utf-8"?>
<p:sld xmlns:p="http://schemas.openxmlformats.org/presentationml/2006/main">
  <p:cSld>
    <p:bg>
      <p:bgPr>
        <a:solidFill xmlns:a="http://schemas.openxmlformats.org/drawingml/2006/main">
          <a:srgbClr val="173C3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5558C56-49E1-4825-91F9-8EAC9CE2D319}"/>
              </a:ext>
            </a:extLst>
          </p:cNvPr>
          <p:cNvSpPr>
            <a:spLocks xmlns:a="http://schemas.openxmlformats.org/drawingml/2006/main" noGrp="1"/>
          </p:cNvSpPr>
          <p:nvPr/>
        </p:nvSpPr>
        <p:spPr>
          <a:xfrm xmlns:a="http://schemas.openxmlformats.org/drawingml/2006/main">
            <a:off x="723900" y="1676400"/>
            <a:ext cx="107442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7500" b="1">
                <a:solidFill>
                  <a:srgbClr val="F6F3EC"/>
                </a:solidFill>
                <a:latin typeface="Helvetica Neue"/>
                <a:ea typeface="Helvetica Neue"/>
                <a:cs typeface="Helvetica Neue"/>
              </a:defRPr>
            </a:pPr>
            <a:r>
              <a:rPr sz="7500" b="1">
                <a:solidFill>
                  <a:srgbClr val="F6F3EC"/>
                </a:solidFill>
                <a:latin typeface="Helvetica Neue"/>
                <a:ea typeface="Helvetica Neue"/>
                <a:cs typeface="Helvetica Neue"/>
              </a:rPr>
              <a:t>When &amp; What</a:t>
            </a:r>
          </a:p>
        </p:txBody>
      </p:sp>
      <p:sp>
        <p:nvSpPr>
          <p:cNvPr id="2" name="">
            <a:extLst xmlns:a="http://schemas.openxmlformats.org/drawingml/2006/main">
              <a:ext uri="{FF2B5EF4-FFF2-40B4-BE49-F238E27FC236}">
                <a16:creationId xmlns:a16="http://schemas.microsoft.com/office/drawing/2014/main" id="{F68076B4-BFB5-4AB5-A9E2-332169C2B645}"/>
              </a:ext>
            </a:extLst>
          </p:cNvPr>
          <p:cNvSpPr>
            <a:spLocks xmlns:a="http://schemas.openxmlformats.org/drawingml/2006/main" noGrp="1"/>
          </p:cNvSpPr>
          <p:nvPr/>
        </p:nvSpPr>
        <p:spPr>
          <a:xfrm xmlns:a="http://schemas.openxmlformats.org/drawingml/2006/main">
            <a:off x="762000" y="3057525"/>
            <a:ext cx="10191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75" b="0">
                <a:solidFill>
                  <a:srgbClr val="F6F3EC"/>
                </a:solidFill>
                <a:latin typeface="Helvetica Neue"/>
                <a:ea typeface="Helvetica Neue"/>
                <a:cs typeface="Helvetica Neue"/>
              </a:defRPr>
            </a:pPr>
            <a:r>
              <a:rPr sz="3675" b="0">
                <a:solidFill>
                  <a:srgbClr val="F6F3EC"/>
                </a:solidFill>
                <a:latin typeface="Helvetica Neue"/>
                <a:ea typeface="Helvetica Neue"/>
                <a:cs typeface="Helvetica Neue"/>
              </a:rPr>
              <a:t>Memory surgery for your company’s AI</a:t>
            </a:r>
          </a:p>
        </p:txBody>
      </p:sp>
      <p:sp>
        <p:nvSpPr>
          <p:cNvPr id="3" name="">
            <a:extLst xmlns:a="http://schemas.openxmlformats.org/drawingml/2006/main">
              <a:ext uri="{FF2B5EF4-FFF2-40B4-BE49-F238E27FC236}">
                <a16:creationId xmlns:a16="http://schemas.microsoft.com/office/drawing/2014/main" id="{83ACD885-66A4-4DCD-9907-1FE8B004D2BF}"/>
              </a:ext>
            </a:extLst>
          </p:cNvPr>
          <p:cNvSpPr>
            <a:spLocks xmlns:a="http://schemas.openxmlformats.org/drawingml/2006/main" noGrp="1"/>
          </p:cNvSpPr>
          <p:nvPr/>
        </p:nvSpPr>
        <p:spPr>
          <a:xfrm xmlns:a="http://schemas.openxmlformats.org/drawingml/2006/main">
            <a:off x="781050" y="565785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0">
                <a:solidFill>
                  <a:srgbClr val="ACC6BA"/>
                </a:solidFill>
                <a:latin typeface="Helvetica Neue"/>
                <a:ea typeface="Helvetica Neue"/>
                <a:cs typeface="Helvetica Neue"/>
              </a:defRPr>
            </a:pPr>
            <a:r>
              <a:rPr sz="1950" b="0">
                <a:solidFill>
                  <a:srgbClr val="ACC6BA"/>
                </a:solidFill>
                <a:latin typeface="Helvetica Neue"/>
                <a:ea typeface="Helvetica Neue"/>
                <a:cs typeface="Helvetica Neue"/>
              </a:rPr>
              <a:t>A Markdown hook for selective AI memory</a:t>
            </a:r>
          </a:p>
        </p:txBody>
      </p:sp>
    </p:spTree>
    <p:extLst>
      <p:ext uri="{BB962C8B-B14F-4D97-AF65-F5344CB8AC3E}">
        <p14:creationId xmlns:p14="http://schemas.microsoft.com/office/powerpoint/2010/main" val="1665882956"/>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F067D66-D3BE-489D-93F6-D1FAA5C642E9}"/>
              </a:ext>
            </a:extLst>
          </p:cNvPr>
          <p:cNvSpPr>
            <a:spLocks xmlns:a="http://schemas.openxmlformats.org/drawingml/2006/main" noGrp="1"/>
          </p:cNvSpPr>
          <p:nvPr/>
        </p:nvSpPr>
        <p:spPr>
          <a:xfrm xmlns:a="http://schemas.openxmlformats.org/drawingml/2006/main">
            <a:off x="723900" y="590550"/>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73C34"/>
                </a:solidFill>
                <a:latin typeface="Helvetica Neue"/>
                <a:ea typeface="Helvetica Neue"/>
                <a:cs typeface="Helvetica Neue"/>
              </a:defRPr>
            </a:pPr>
            <a:r>
              <a:rPr sz="3600" b="1">
                <a:solidFill>
                  <a:srgbClr val="173C34"/>
                </a:solidFill>
                <a:latin typeface="Helvetica Neue"/>
                <a:ea typeface="Helvetica Neue"/>
                <a:cs typeface="Helvetica Neue"/>
              </a:rPr>
              <a:t>One message, different memory rules</a:t>
            </a:r>
          </a:p>
        </p:txBody>
      </p:sp>
      <p:sp>
        <p:nvSpPr>
          <p:cNvPr id="2" name="">
            <a:extLst xmlns:a="http://schemas.openxmlformats.org/drawingml/2006/main">
              <a:ext uri="{FF2B5EF4-FFF2-40B4-BE49-F238E27FC236}">
                <a16:creationId xmlns:a16="http://schemas.microsoft.com/office/drawing/2014/main" id="{4CFC2837-FDC4-47D5-8097-85EE89553CB0}"/>
              </a:ext>
            </a:extLst>
          </p:cNvPr>
          <p:cNvSpPr>
            <a:spLocks xmlns:a="http://schemas.openxmlformats.org/drawingml/2006/main" noGrp="1"/>
          </p:cNvSpPr>
          <p:nvPr/>
        </p:nvSpPr>
        <p:spPr>
          <a:xfrm xmlns:a="http://schemas.openxmlformats.org/drawingml/2006/main">
            <a:off x="742950" y="1771650"/>
            <a:ext cx="1047750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0">
                <a:solidFill>
                  <a:srgbClr val="173C34"/>
                </a:solidFill>
                <a:latin typeface="Helvetica Neue"/>
                <a:ea typeface="Helvetica Neue"/>
                <a:cs typeface="Helvetica Neue"/>
              </a:defRPr>
            </a:pPr>
            <a:r>
              <a:rPr sz="2625" b="0">
                <a:solidFill>
                  <a:srgbClr val="173C34"/>
                </a:solidFill>
                <a:latin typeface="Helvetica Neue"/>
                <a:ea typeface="Helvetica Neue"/>
                <a:cs typeface="Helvetica Neue"/>
              </a:rPr>
              <a:t>“I’ll be offline Friday for an oncology appointment.</a:t>
            </a:r>
          </a:p>
          <a:p xmlns:a="http://schemas.openxmlformats.org/drawingml/2006/main">
            <a:pPr>
              <a:defRPr sz="2625" b="0">
                <a:solidFill>
                  <a:srgbClr val="173C34"/>
                </a:solidFill>
                <a:latin typeface="Helvetica Neue"/>
                <a:ea typeface="Helvetica Neue"/>
                <a:cs typeface="Helvetica Neue"/>
              </a:defRPr>
            </a:pPr>
            <a:r>
              <a:rPr sz="2625" b="0">
                <a:solidFill>
                  <a:srgbClr val="173C34"/>
                </a:solidFill>
                <a:latin typeface="Helvetica Neue"/>
                <a:ea typeface="Helvetica Neue"/>
                <a:cs typeface="Helvetica Neue"/>
              </a:rPr>
              <a:t>Ravi is covering enterprise escalations.</a:t>
            </a:r>
          </a:p>
          <a:p xmlns:a="http://schemas.openxmlformats.org/drawingml/2006/main">
            <a:pPr>
              <a:defRPr sz="2625" b="0">
                <a:solidFill>
                  <a:srgbClr val="173C34"/>
                </a:solidFill>
                <a:latin typeface="Helvetica Neue"/>
                <a:ea typeface="Helvetica Neue"/>
                <a:cs typeface="Helvetica Neue"/>
              </a:defRPr>
            </a:pPr>
            <a:r>
              <a:rPr sz="2625" b="0">
                <a:solidFill>
                  <a:srgbClr val="173C34"/>
                </a:solidFill>
                <a:latin typeface="Helvetica Neue"/>
                <a:ea typeface="Helvetica Neue"/>
                <a:cs typeface="Helvetica Neue"/>
              </a:rPr>
              <a:t>Please keep my updates to three bullets.”</a:t>
            </a:r>
          </a:p>
        </p:txBody>
      </p:sp>
      <p:graphicFrame>
        <p:nvGraphicFramePr>
          <p:cNvPr id="7" name=""/>
          <p:cNvGraphicFramePr/>
          <p:nvPr/>
        </p:nvGraphicFramePr>
        <p:xfrm>
          <a:off xmlns:a="http://schemas.openxmlformats.org/drawingml/2006/main" x="742950" y="3829050"/>
          <a:ext xmlns:a="http://schemas.openxmlformats.org/drawingml/2006/main" cx="10668000" cy="1800225"/>
        </p:xfrm>
        <a:graphic xmlns:a="http://schemas.openxmlformats.org/drawingml/2006/main">
          <a:graphicData uri="http://schemas.openxmlformats.org/drawingml/2006/table">
            <a:tbl>
              <a:tblPr firstRow="0" bandRow="0"/>
              <a:tblGrid>
                <a:gridCol w="4476750"/>
                <a:gridCol w="6191250"/>
              </a:tblGrid>
              <a:tr h="600075">
                <a:tc>
                  <a:txBody>
                    <a:bodyPr/>
                    <a:lstStyle/>
                    <a:p>
                      <a:r>
                        <a:rPr sz="2100" b="0">
                          <a:solidFill>
                            <a:srgbClr val="64756D"/>
                          </a:solidFill>
                          <a:latin typeface="Helvetica Neue"/>
                          <a:ea typeface="Helvetica Neue"/>
                          <a:cs typeface="Helvetica Neue"/>
                        </a:rPr>
                        <a:t>Medical detail</a:t>
                      </a:r>
                    </a:p>
                  </a:txBody>
                  <a:tcPr marL="91440" marR="91440" marT="45720" marB="45720">
                    <a:solidFill>
                      <a:srgbClr val="F6F3EC"/>
                    </a:solidFill>
                  </a:tcPr>
                </a:tc>
                <a:tc>
                  <a:txBody>
                    <a:bodyPr/>
                    <a:lstStyle/>
                    <a:p>
                      <a:r>
                        <a:rPr sz="2100" b="1">
                          <a:solidFill>
                            <a:srgbClr val="A7493B"/>
                          </a:solidFill>
                          <a:latin typeface="Helvetica Neue"/>
                          <a:ea typeface="Helvetica Neue"/>
                          <a:cs typeface="Helvetica Neue"/>
                        </a:rPr>
                        <a:t>Exclude from memory and training</a:t>
                      </a:r>
                    </a:p>
                  </a:txBody>
                  <a:tcPr marL="91440" marR="91440" marT="45720" marB="45720">
                    <a:solidFill>
                      <a:srgbClr val="F6F3EC"/>
                    </a:solidFill>
                  </a:tcPr>
                </a:tc>
              </a:tr>
              <a:tr h="600075">
                <a:tc>
                  <a:txBody>
                    <a:bodyPr/>
                    <a:lstStyle/>
                    <a:p>
                      <a:r>
                        <a:rPr sz="2100" b="0">
                          <a:solidFill>
                            <a:srgbClr val="64756D"/>
                          </a:solidFill>
                          <a:latin typeface="Helvetica Neue"/>
                          <a:ea typeface="Helvetica Neue"/>
                          <a:cs typeface="Helvetica Neue"/>
                        </a:rPr>
                        <a:t>Work coverage</a:t>
                      </a:r>
                    </a:p>
                  </a:txBody>
                  <a:tcPr marL="91440" marR="91440" marT="45720" marB="45720">
                    <a:solidFill>
                      <a:srgbClr val="F6F3EC"/>
                    </a:solidFill>
                  </a:tcPr>
                </a:tc>
                <a:tc>
                  <a:txBody>
                    <a:bodyPr/>
                    <a:lstStyle/>
                    <a:p>
                      <a:r>
                        <a:rPr sz="2100" b="1">
                          <a:solidFill>
                            <a:srgbClr val="23826A"/>
                          </a:solidFill>
                          <a:latin typeface="Helvetica Neue"/>
                          <a:ea typeface="Helvetica Neue"/>
                          <a:cs typeface="Helvetica Neue"/>
                        </a:rPr>
                        <a:t>Keep until Friday</a:t>
                      </a:r>
                    </a:p>
                  </a:txBody>
                  <a:tcPr marL="91440" marR="91440" marT="45720" marB="45720">
                    <a:solidFill>
                      <a:srgbClr val="F6F3EC"/>
                    </a:solidFill>
                  </a:tcPr>
                </a:tc>
              </a:tr>
              <a:tr h="600075">
                <a:tc>
                  <a:txBody>
                    <a:bodyPr/>
                    <a:lstStyle/>
                    <a:p>
                      <a:r>
                        <a:rPr sz="2100" b="0">
                          <a:solidFill>
                            <a:srgbClr val="64756D"/>
                          </a:solidFill>
                          <a:latin typeface="Helvetica Neue"/>
                          <a:ea typeface="Helvetica Neue"/>
                          <a:cs typeface="Helvetica Neue"/>
                        </a:rPr>
                        <a:t>Writing preference</a:t>
                      </a:r>
                    </a:p>
                  </a:txBody>
                  <a:tcPr marL="91440" marR="91440" marT="45720" marB="45720">
                    <a:solidFill>
                      <a:srgbClr val="F6F3EC"/>
                    </a:solidFill>
                  </a:tcPr>
                </a:tc>
                <a:tc>
                  <a:txBody>
                    <a:bodyPr/>
                    <a:lstStyle/>
                    <a:p>
                      <a:r>
                        <a:rPr sz="2100" b="1">
                          <a:solidFill>
                            <a:srgbClr val="23826A"/>
                          </a:solidFill>
                          <a:latin typeface="Helvetica Neue"/>
                          <a:ea typeface="Helvetica Neue"/>
                          <a:cs typeface="Helvetica Neue"/>
                        </a:rPr>
                        <a:t>Keep private to Maya</a:t>
                      </a:r>
                    </a:p>
                  </a:txBody>
                  <a:tcPr marL="91440" marR="91440" marT="45720" marB="45720">
                    <a:solidFill>
                      <a:srgbClr val="F6F3EC"/>
                    </a:solidFill>
                  </a:tcPr>
                </a:tc>
              </a:tr>
            </a:tbl>
          </a:graphicData>
        </a:graphic>
      </p:graphicFrame>
      <p:sp>
        <p:nvSpPr>
          <p:cNvPr id="4" name="">
            <a:extLst xmlns:a="http://schemas.openxmlformats.org/drawingml/2006/main">
              <a:ext uri="{FF2B5EF4-FFF2-40B4-BE49-F238E27FC236}">
                <a16:creationId xmlns:a16="http://schemas.microsoft.com/office/drawing/2014/main" id="{7B7AF09E-0C0D-48D7-984F-A1F77CAC2E75}"/>
              </a:ext>
            </a:extLst>
          </p:cNvPr>
          <p:cNvSpPr>
            <a:spLocks xmlns:a="http://schemas.openxmlformats.org/drawingml/2006/main" noGrp="1"/>
          </p:cNvSpPr>
          <p:nvPr/>
        </p:nvSpPr>
        <p:spPr>
          <a:xfrm xmlns:a="http://schemas.openxmlformats.org/drawingml/2006/main">
            <a:off x="762000" y="612457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64756D"/>
                </a:solidFill>
                <a:latin typeface="Helvetica Neue"/>
                <a:ea typeface="Helvetica Neue"/>
                <a:cs typeface="Helvetica Neue"/>
              </a:defRPr>
            </a:pPr>
            <a:r>
              <a:rPr sz="1650" b="0">
                <a:solidFill>
                  <a:srgbClr val="64756D"/>
                </a:solidFill>
                <a:latin typeface="Helvetica Neue"/>
                <a:ea typeface="Helvetica Neue"/>
                <a:cs typeface="Helvetica Neue"/>
              </a:rPr>
              <a:t>Synthetic example. The current conversation keeps its full context.</a:t>
            </a:r>
          </a:p>
        </p:txBody>
      </p:sp>
    </p:spTree>
    <p:extLst>
      <p:ext uri="{BB962C8B-B14F-4D97-AF65-F5344CB8AC3E}">
        <p14:creationId xmlns:p14="http://schemas.microsoft.com/office/powerpoint/2010/main" val="1681132622"/>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8052F1B-5D24-491F-B386-052DA478357F}"/>
              </a:ext>
            </a:extLst>
          </p:cNvPr>
          <p:cNvSpPr>
            <a:spLocks xmlns:a="http://schemas.openxmlformats.org/drawingml/2006/main" noGrp="1"/>
          </p:cNvSpPr>
          <p:nvPr/>
        </p:nvSpPr>
        <p:spPr>
          <a:xfrm xmlns:a="http://schemas.openxmlformats.org/drawingml/2006/main">
            <a:off x="723900" y="590550"/>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73C34"/>
                </a:solidFill>
                <a:latin typeface="Helvetica Neue"/>
                <a:ea typeface="Helvetica Neue"/>
                <a:cs typeface="Helvetica Neue"/>
              </a:defRPr>
            </a:pPr>
            <a:r>
              <a:rPr sz="3600" b="1">
                <a:solidFill>
                  <a:srgbClr val="173C34"/>
                </a:solidFill>
                <a:latin typeface="Helvetica Neue"/>
                <a:ea typeface="Helvetica Neue"/>
                <a:cs typeface="Helvetica Neue"/>
              </a:rPr>
              <a:t>The memory write boundary</a:t>
            </a:r>
          </a:p>
        </p:txBody>
      </p:sp>
      <p:sp>
        <p:nvSpPr>
          <p:cNvPr id="2" name="">
            <a:extLst xmlns:a="http://schemas.openxmlformats.org/drawingml/2006/main">
              <a:ext uri="{FF2B5EF4-FFF2-40B4-BE49-F238E27FC236}">
                <a16:creationId xmlns:a16="http://schemas.microsoft.com/office/drawing/2014/main" id="{4566A358-D4F9-4643-86D9-0C36A0995280}"/>
              </a:ext>
            </a:extLst>
          </p:cNvPr>
          <p:cNvSpPr>
            <a:spLocks xmlns:a="http://schemas.openxmlformats.org/drawingml/2006/main" noGrp="1"/>
          </p:cNvSpPr>
          <p:nvPr/>
        </p:nvSpPr>
        <p:spPr>
          <a:xfrm xmlns:a="http://schemas.openxmlformats.org/drawingml/2006/main">
            <a:off x="742950" y="1914525"/>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125" b="1">
                <a:solidFill>
                  <a:srgbClr val="23826A"/>
                </a:solidFill>
                <a:latin typeface="Helvetica Neue"/>
                <a:ea typeface="Helvetica Neue"/>
                <a:cs typeface="Helvetica Neue"/>
              </a:defRPr>
            </a:pPr>
            <a:r>
              <a:rPr sz="4125" b="1">
                <a:solidFill>
                  <a:srgbClr val="23826A"/>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15052A57-A2F3-4D10-86CD-57A5C539D0C9}"/>
              </a:ext>
            </a:extLst>
          </p:cNvPr>
          <p:cNvSpPr>
            <a:spLocks xmlns:a="http://schemas.openxmlformats.org/drawingml/2006/main" noGrp="1"/>
          </p:cNvSpPr>
          <p:nvPr/>
        </p:nvSpPr>
        <p:spPr>
          <a:xfrm xmlns:a="http://schemas.openxmlformats.org/drawingml/2006/main">
            <a:off x="742950" y="2828925"/>
            <a:ext cx="333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1">
                <a:solidFill>
                  <a:srgbClr val="173C34"/>
                </a:solidFill>
                <a:latin typeface="Helvetica Neue"/>
                <a:ea typeface="Helvetica Neue"/>
                <a:cs typeface="Helvetica Neue"/>
              </a:defRPr>
            </a:pPr>
            <a:r>
              <a:rPr sz="2475" b="1">
                <a:solidFill>
                  <a:srgbClr val="173C34"/>
                </a:solidFill>
                <a:latin typeface="Helvetica Neue"/>
                <a:ea typeface="Helvetica Neue"/>
                <a:cs typeface="Helvetica Neue"/>
              </a:rPr>
              <a:t>Employee rules</a:t>
            </a:r>
          </a:p>
        </p:txBody>
      </p:sp>
      <p:sp>
        <p:nvSpPr>
          <p:cNvPr id="4" name="">
            <a:extLst xmlns:a="http://schemas.openxmlformats.org/drawingml/2006/main">
              <a:ext uri="{FF2B5EF4-FFF2-40B4-BE49-F238E27FC236}">
                <a16:creationId xmlns:a16="http://schemas.microsoft.com/office/drawing/2014/main" id="{BFB73C84-B094-44E9-9014-9D610D0E4D22}"/>
              </a:ext>
            </a:extLst>
          </p:cNvPr>
          <p:cNvSpPr>
            <a:spLocks xmlns:a="http://schemas.openxmlformats.org/drawingml/2006/main" noGrp="1"/>
          </p:cNvSpPr>
          <p:nvPr/>
        </p:nvSpPr>
        <p:spPr>
          <a:xfrm xmlns:a="http://schemas.openxmlformats.org/drawingml/2006/main">
            <a:off x="742950" y="334327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64756D"/>
                </a:solidFill>
                <a:latin typeface="Helvetica Neue"/>
                <a:ea typeface="Helvetica Neue"/>
                <a:cs typeface="Helvetica Neue"/>
              </a:defRPr>
            </a:pPr>
            <a:r>
              <a:rPr sz="1800" b="0">
                <a:solidFill>
                  <a:srgbClr val="64756D"/>
                </a:solidFill>
                <a:latin typeface="Helvetica Neue"/>
                <a:ea typeface="Helvetica Neue"/>
                <a:cs typeface="Helvetica Neue"/>
              </a:rPr>
              <a:t>Markdown file</a:t>
            </a:r>
          </a:p>
        </p:txBody>
      </p:sp>
      <p:sp>
        <p:nvSpPr>
          <p:cNvPr id="5" name="">
            <a:extLst xmlns:a="http://schemas.openxmlformats.org/drawingml/2006/main">
              <a:ext uri="{FF2B5EF4-FFF2-40B4-BE49-F238E27FC236}">
                <a16:creationId xmlns:a16="http://schemas.microsoft.com/office/drawing/2014/main" id="{8F438000-4B22-4624-A55C-F610276A6BB8}"/>
              </a:ext>
            </a:extLst>
          </p:cNvPr>
          <p:cNvSpPr>
            <a:spLocks xmlns:a="http://schemas.openxmlformats.org/drawingml/2006/main" noGrp="1"/>
          </p:cNvSpPr>
          <p:nvPr/>
        </p:nvSpPr>
        <p:spPr>
          <a:xfrm xmlns:a="http://schemas.openxmlformats.org/drawingml/2006/main">
            <a:off x="742950" y="4086225"/>
            <a:ext cx="31908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C34"/>
                </a:solidFill>
                <a:latin typeface="Helvetica Neue"/>
                <a:ea typeface="Helvetica Neue"/>
                <a:cs typeface="Helvetica Neue"/>
              </a:defRPr>
            </a:pPr>
            <a:r>
              <a:rPr sz="2025" b="0">
                <a:solidFill>
                  <a:srgbClr val="173C34"/>
                </a:solidFill>
                <a:latin typeface="Helvetica Neue"/>
                <a:ea typeface="Helvetica Neue"/>
                <a:cs typeface="Helvetica Neue"/>
              </a:rPr>
              <a:t>What to exclude</a:t>
            </a:r>
          </a:p>
          <a:p xmlns:a="http://schemas.openxmlformats.org/drawingml/2006/main">
            <a:pPr>
              <a:defRPr sz="2025" b="0">
                <a:solidFill>
                  <a:srgbClr val="173C34"/>
                </a:solidFill>
                <a:latin typeface="Helvetica Neue"/>
                <a:ea typeface="Helvetica Neue"/>
                <a:cs typeface="Helvetica Neue"/>
              </a:defRPr>
            </a:pPr>
            <a:r>
              <a:rPr sz="2025" b="0">
                <a:solidFill>
                  <a:srgbClr val="173C34"/>
                </a:solidFill>
                <a:latin typeface="Helvetica Neue"/>
                <a:ea typeface="Helvetica Neue"/>
                <a:cs typeface="Helvetica Neue"/>
              </a:rPr>
              <a:t>What can stay private</a:t>
            </a:r>
          </a:p>
          <a:p xmlns:a="http://schemas.openxmlformats.org/drawingml/2006/main">
            <a:pPr>
              <a:defRPr sz="2025" b="0">
                <a:solidFill>
                  <a:srgbClr val="173C34"/>
                </a:solidFill>
                <a:latin typeface="Helvetica Neue"/>
                <a:ea typeface="Helvetica Neue"/>
                <a:cs typeface="Helvetica Neue"/>
              </a:defRPr>
            </a:pPr>
            <a:r>
              <a:rPr sz="2025" b="0">
                <a:solidFill>
                  <a:srgbClr val="173C34"/>
                </a:solidFill>
                <a:latin typeface="Helvetica Neue"/>
                <a:ea typeface="Helvetica Neue"/>
                <a:cs typeface="Helvetica Neue"/>
              </a:rPr>
              <a:t>When a fact expires</a:t>
            </a:r>
          </a:p>
        </p:txBody>
      </p:sp>
      <p:sp>
        <p:nvSpPr>
          <p:cNvPr id="6" name="">
            <a:extLst xmlns:a="http://schemas.openxmlformats.org/drawingml/2006/main">
              <a:ext uri="{FF2B5EF4-FFF2-40B4-BE49-F238E27FC236}">
                <a16:creationId xmlns:a16="http://schemas.microsoft.com/office/drawing/2014/main" id="{B2B817DF-B91F-4FAF-AC88-F19B49E09643}"/>
              </a:ext>
            </a:extLst>
          </p:cNvPr>
          <p:cNvSpPr>
            <a:spLocks xmlns:a="http://schemas.openxmlformats.org/drawingml/2006/main" noGrp="1"/>
          </p:cNvSpPr>
          <p:nvPr/>
        </p:nvSpPr>
        <p:spPr>
          <a:xfrm xmlns:a="http://schemas.openxmlformats.org/drawingml/2006/main">
            <a:off x="4429125" y="1914525"/>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125" b="1">
                <a:solidFill>
                  <a:srgbClr val="23826A"/>
                </a:solidFill>
                <a:latin typeface="Helvetica Neue"/>
                <a:ea typeface="Helvetica Neue"/>
                <a:cs typeface="Helvetica Neue"/>
              </a:defRPr>
            </a:pPr>
            <a:r>
              <a:rPr sz="4125" b="1">
                <a:solidFill>
                  <a:srgbClr val="23826A"/>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98433CD5-DF2A-4C10-BF3B-66F091137F91}"/>
              </a:ext>
            </a:extLst>
          </p:cNvPr>
          <p:cNvSpPr>
            <a:spLocks xmlns:a="http://schemas.openxmlformats.org/drawingml/2006/main" noGrp="1"/>
          </p:cNvSpPr>
          <p:nvPr/>
        </p:nvSpPr>
        <p:spPr>
          <a:xfrm xmlns:a="http://schemas.openxmlformats.org/drawingml/2006/main">
            <a:off x="4429125" y="2828925"/>
            <a:ext cx="333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1">
                <a:solidFill>
                  <a:srgbClr val="173C34"/>
                </a:solidFill>
                <a:latin typeface="Helvetica Neue"/>
                <a:ea typeface="Helvetica Neue"/>
                <a:cs typeface="Helvetica Neue"/>
              </a:defRPr>
            </a:pPr>
            <a:r>
              <a:rPr sz="2475" b="1">
                <a:solidFill>
                  <a:srgbClr val="173C34"/>
                </a:solidFill>
                <a:latin typeface="Helvetica Neue"/>
                <a:ea typeface="Helvetica Neue"/>
                <a:cs typeface="Helvetica Neue"/>
              </a:rPr>
              <a:t>Agent trajectory</a:t>
            </a:r>
          </a:p>
        </p:txBody>
      </p:sp>
      <p:sp>
        <p:nvSpPr>
          <p:cNvPr id="8" name="">
            <a:extLst xmlns:a="http://schemas.openxmlformats.org/drawingml/2006/main">
              <a:ext uri="{FF2B5EF4-FFF2-40B4-BE49-F238E27FC236}">
                <a16:creationId xmlns:a16="http://schemas.microsoft.com/office/drawing/2014/main" id="{94F9973B-8FE9-4573-B028-8034159ABBFE}"/>
              </a:ext>
            </a:extLst>
          </p:cNvPr>
          <p:cNvSpPr>
            <a:spLocks xmlns:a="http://schemas.openxmlformats.org/drawingml/2006/main" noGrp="1"/>
          </p:cNvSpPr>
          <p:nvPr/>
        </p:nvSpPr>
        <p:spPr>
          <a:xfrm xmlns:a="http://schemas.openxmlformats.org/drawingml/2006/main">
            <a:off x="4429125" y="334327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64756D"/>
                </a:solidFill>
                <a:latin typeface="Helvetica Neue"/>
                <a:ea typeface="Helvetica Neue"/>
                <a:cs typeface="Helvetica Neue"/>
              </a:defRPr>
            </a:pPr>
            <a:r>
              <a:rPr sz="1800" b="0">
                <a:solidFill>
                  <a:srgbClr val="64756D"/>
                </a:solidFill>
                <a:latin typeface="Helvetica Neue"/>
                <a:ea typeface="Helvetica Neue"/>
                <a:cs typeface="Helvetica Neue"/>
              </a:rPr>
              <a:t>JSON or JSONL</a:t>
            </a:r>
          </a:p>
        </p:txBody>
      </p:sp>
      <p:sp>
        <p:nvSpPr>
          <p:cNvPr id="9" name="">
            <a:extLst xmlns:a="http://schemas.openxmlformats.org/drawingml/2006/main">
              <a:ext uri="{FF2B5EF4-FFF2-40B4-BE49-F238E27FC236}">
                <a16:creationId xmlns:a16="http://schemas.microsoft.com/office/drawing/2014/main" id="{EF3C11CA-6EF6-4069-BD8A-C77778DD4E91}"/>
              </a:ext>
            </a:extLst>
          </p:cNvPr>
          <p:cNvSpPr>
            <a:spLocks xmlns:a="http://schemas.openxmlformats.org/drawingml/2006/main" noGrp="1"/>
          </p:cNvSpPr>
          <p:nvPr/>
        </p:nvSpPr>
        <p:spPr>
          <a:xfrm xmlns:a="http://schemas.openxmlformats.org/drawingml/2006/main">
            <a:off x="4429125" y="4086225"/>
            <a:ext cx="31908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C34"/>
                </a:solidFill>
                <a:latin typeface="Helvetica Neue"/>
                <a:ea typeface="Helvetica Neue"/>
                <a:cs typeface="Helvetica Neue"/>
              </a:defRPr>
            </a:pPr>
            <a:r>
              <a:rPr sz="2025" b="0">
                <a:solidFill>
                  <a:srgbClr val="173C34"/>
                </a:solidFill>
                <a:latin typeface="Helvetica Neue"/>
                <a:ea typeface="Helvetica Neue"/>
                <a:cs typeface="Helvetica Neue"/>
              </a:rPr>
              <a:t>Original conversation</a:t>
            </a:r>
          </a:p>
          <a:p xmlns:a="http://schemas.openxmlformats.org/drawingml/2006/main">
            <a:pPr>
              <a:defRPr sz="2025" b="0">
                <a:solidFill>
                  <a:srgbClr val="173C34"/>
                </a:solidFill>
                <a:latin typeface="Helvetica Neue"/>
                <a:ea typeface="Helvetica Neue"/>
                <a:cs typeface="Helvetica Neue"/>
              </a:defRPr>
            </a:pPr>
            <a:r>
              <a:rPr sz="2025" b="0">
                <a:solidFill>
                  <a:srgbClr val="173C34"/>
                </a:solidFill>
                <a:latin typeface="Helvetica Neue"/>
                <a:ea typeface="Helvetica Neue"/>
                <a:cs typeface="Helvetica Neue"/>
              </a:rPr>
              <a:t>Attempted memory calls</a:t>
            </a:r>
          </a:p>
          <a:p xmlns:a="http://schemas.openxmlformats.org/drawingml/2006/main">
            <a:pPr>
              <a:defRPr sz="2025" b="0">
                <a:solidFill>
                  <a:srgbClr val="173C34"/>
                </a:solidFill>
                <a:latin typeface="Helvetica Neue"/>
                <a:ea typeface="Helvetica Neue"/>
                <a:cs typeface="Helvetica Neue"/>
              </a:defRPr>
            </a:pPr>
            <a:r>
              <a:rPr sz="2025" b="0">
                <a:solidFill>
                  <a:srgbClr val="173C34"/>
                </a:solidFill>
                <a:latin typeface="Helvetica Neue"/>
                <a:ea typeface="Helvetica Neue"/>
                <a:cs typeface="Helvetica Neue"/>
              </a:rPr>
              <a:t>Complete task context</a:t>
            </a:r>
          </a:p>
        </p:txBody>
      </p:sp>
      <p:sp>
        <p:nvSpPr>
          <p:cNvPr id="10" name="">
            <a:extLst xmlns:a="http://schemas.openxmlformats.org/drawingml/2006/main">
              <a:ext uri="{FF2B5EF4-FFF2-40B4-BE49-F238E27FC236}">
                <a16:creationId xmlns:a16="http://schemas.microsoft.com/office/drawing/2014/main" id="{C54C2304-46FE-4D4F-91DC-BA1EC58412EC}"/>
              </a:ext>
            </a:extLst>
          </p:cNvPr>
          <p:cNvSpPr>
            <a:spLocks xmlns:a="http://schemas.openxmlformats.org/drawingml/2006/main" noGrp="1"/>
          </p:cNvSpPr>
          <p:nvPr/>
        </p:nvSpPr>
        <p:spPr>
          <a:xfrm xmlns:a="http://schemas.openxmlformats.org/drawingml/2006/main">
            <a:off x="8096250" y="1914525"/>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125" b="1">
                <a:solidFill>
                  <a:srgbClr val="23826A"/>
                </a:solidFill>
                <a:latin typeface="Helvetica Neue"/>
                <a:ea typeface="Helvetica Neue"/>
                <a:cs typeface="Helvetica Neue"/>
              </a:defRPr>
            </a:pPr>
            <a:r>
              <a:rPr sz="4125" b="1">
                <a:solidFill>
                  <a:srgbClr val="23826A"/>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CB698A87-7EFA-4DBD-B3C3-CF00F804DAB4}"/>
              </a:ext>
            </a:extLst>
          </p:cNvPr>
          <p:cNvSpPr>
            <a:spLocks xmlns:a="http://schemas.openxmlformats.org/drawingml/2006/main" noGrp="1"/>
          </p:cNvSpPr>
          <p:nvPr/>
        </p:nvSpPr>
        <p:spPr>
          <a:xfrm xmlns:a="http://schemas.openxmlformats.org/drawingml/2006/main">
            <a:off x="8096250" y="2828925"/>
            <a:ext cx="333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75" b="1">
                <a:solidFill>
                  <a:srgbClr val="173C34"/>
                </a:solidFill>
                <a:latin typeface="Helvetica Neue"/>
                <a:ea typeface="Helvetica Neue"/>
                <a:cs typeface="Helvetica Neue"/>
              </a:defRPr>
            </a:pPr>
            <a:r>
              <a:rPr sz="2475" b="1">
                <a:solidFill>
                  <a:srgbClr val="173C34"/>
                </a:solidFill>
                <a:latin typeface="Helvetica Neue"/>
                <a:ea typeface="Helvetica Neue"/>
                <a:cs typeface="Helvetica Neue"/>
              </a:rPr>
              <a:t>Memory hook</a:t>
            </a:r>
          </a:p>
        </p:txBody>
      </p:sp>
      <p:sp>
        <p:nvSpPr>
          <p:cNvPr id="12" name="">
            <a:extLst xmlns:a="http://schemas.openxmlformats.org/drawingml/2006/main">
              <a:ext uri="{FF2B5EF4-FFF2-40B4-BE49-F238E27FC236}">
                <a16:creationId xmlns:a16="http://schemas.microsoft.com/office/drawing/2014/main" id="{3618C040-CF98-4418-9154-389F2C1B3CA3}"/>
              </a:ext>
            </a:extLst>
          </p:cNvPr>
          <p:cNvSpPr>
            <a:spLocks xmlns:a="http://schemas.openxmlformats.org/drawingml/2006/main" noGrp="1"/>
          </p:cNvSpPr>
          <p:nvPr/>
        </p:nvSpPr>
        <p:spPr>
          <a:xfrm xmlns:a="http://schemas.openxmlformats.org/drawingml/2006/main">
            <a:off x="8096250" y="334327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64756D"/>
                </a:solidFill>
                <a:latin typeface="Helvetica Neue"/>
                <a:ea typeface="Helvetica Neue"/>
                <a:cs typeface="Helvetica Neue"/>
              </a:defRPr>
            </a:pPr>
            <a:r>
              <a:rPr sz="1800" b="0">
                <a:solidFill>
                  <a:srgbClr val="64756D"/>
                </a:solidFill>
                <a:latin typeface="Helvetica Neue"/>
                <a:ea typeface="Helvetica Neue"/>
                <a:cs typeface="Helvetica Neue"/>
              </a:rPr>
              <a:t>Intercepted writes</a:t>
            </a:r>
          </a:p>
        </p:txBody>
      </p:sp>
      <p:sp>
        <p:nvSpPr>
          <p:cNvPr id="13" name="">
            <a:extLst xmlns:a="http://schemas.openxmlformats.org/drawingml/2006/main">
              <a:ext uri="{FF2B5EF4-FFF2-40B4-BE49-F238E27FC236}">
                <a16:creationId xmlns:a16="http://schemas.microsoft.com/office/drawing/2014/main" id="{AA96AAA3-88CE-4BF9-9B51-E8940C8B66EE}"/>
              </a:ext>
            </a:extLst>
          </p:cNvPr>
          <p:cNvSpPr>
            <a:spLocks xmlns:a="http://schemas.openxmlformats.org/drawingml/2006/main" noGrp="1"/>
          </p:cNvSpPr>
          <p:nvPr/>
        </p:nvSpPr>
        <p:spPr>
          <a:xfrm xmlns:a="http://schemas.openxmlformats.org/drawingml/2006/main">
            <a:off x="8096250" y="4086225"/>
            <a:ext cx="31908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C34"/>
                </a:solidFill>
                <a:latin typeface="Helvetica Neue"/>
                <a:ea typeface="Helvetica Neue"/>
                <a:cs typeface="Helvetica Neue"/>
              </a:defRPr>
            </a:pPr>
            <a:r>
              <a:rPr sz="2025" b="0">
                <a:solidFill>
                  <a:srgbClr val="173C34"/>
                </a:solidFill>
                <a:latin typeface="Helvetica Neue"/>
                <a:ea typeface="Helvetica Neue"/>
                <a:cs typeface="Helvetica Neue"/>
              </a:rPr>
              <a:t>Edit sensitive payloads</a:t>
            </a:r>
          </a:p>
          <a:p xmlns:a="http://schemas.openxmlformats.org/drawingml/2006/main">
            <a:pPr>
              <a:defRPr sz="2025" b="0">
                <a:solidFill>
                  <a:srgbClr val="173C34"/>
                </a:solidFill>
                <a:latin typeface="Helvetica Neue"/>
                <a:ea typeface="Helvetica Neue"/>
                <a:cs typeface="Helvetica Neue"/>
              </a:defRPr>
            </a:pPr>
            <a:r>
              <a:rPr sz="2025" b="0">
                <a:solidFill>
                  <a:srgbClr val="173C34"/>
                </a:solidFill>
                <a:latin typeface="Helvetica Neue"/>
                <a:ea typeface="Helvetica Neue"/>
                <a:cs typeface="Helvetica Neue"/>
              </a:rPr>
              <a:t>Block excluded content</a:t>
            </a:r>
          </a:p>
          <a:p xmlns:a="http://schemas.openxmlformats.org/drawingml/2006/main">
            <a:pPr>
              <a:defRPr sz="2025" b="0">
                <a:solidFill>
                  <a:srgbClr val="173C34"/>
                </a:solidFill>
                <a:latin typeface="Helvetica Neue"/>
                <a:ea typeface="Helvetica Neue"/>
                <a:cs typeface="Helvetica Neue"/>
              </a:defRPr>
            </a:pPr>
            <a:r>
              <a:rPr sz="2025" b="0">
                <a:solidFill>
                  <a:srgbClr val="173C34"/>
                </a:solidFill>
                <a:latin typeface="Helvetica Neue"/>
                <a:ea typeface="Helvetica Neue"/>
                <a:cs typeface="Helvetica Neue"/>
              </a:rPr>
              <a:t>Show the outgoing intent</a:t>
            </a:r>
          </a:p>
        </p:txBody>
      </p:sp>
      <p:sp>
        <p:nvSpPr>
          <p:cNvPr id="14" name="">
            <a:extLst xmlns:a="http://schemas.openxmlformats.org/drawingml/2006/main">
              <a:ext uri="{FF2B5EF4-FFF2-40B4-BE49-F238E27FC236}">
                <a16:creationId xmlns:a16="http://schemas.microsoft.com/office/drawing/2014/main" id="{45185A9F-817F-443C-BA2A-F3F74411FB40}"/>
              </a:ext>
            </a:extLst>
          </p:cNvPr>
          <p:cNvSpPr>
            <a:spLocks xmlns:a="http://schemas.openxmlformats.org/drawingml/2006/main" noGrp="1"/>
          </p:cNvSpPr>
          <p:nvPr/>
        </p:nvSpPr>
        <p:spPr>
          <a:xfrm xmlns:a="http://schemas.openxmlformats.org/drawingml/2006/main">
            <a:off x="762000" y="612457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173C34"/>
                </a:solidFill>
                <a:latin typeface="Helvetica Neue"/>
                <a:ea typeface="Helvetica Neue"/>
                <a:cs typeface="Helvetica Neue"/>
              </a:defRPr>
            </a:pPr>
            <a:r>
              <a:rPr sz="1800" b="1">
                <a:solidFill>
                  <a:srgbClr val="173C34"/>
                </a:solidFill>
                <a:latin typeface="Helvetica Neue"/>
                <a:ea typeface="Helvetica Neue"/>
                <a:cs typeface="Helvetica Neue"/>
              </a:rPr>
              <a:t>The hook changes memory calls. User and assistant messages stay intact.</a:t>
            </a:r>
          </a:p>
        </p:txBody>
      </p:sp>
    </p:spTree>
    <p:extLst>
      <p:ext uri="{BB962C8B-B14F-4D97-AF65-F5344CB8AC3E}">
        <p14:creationId xmlns:p14="http://schemas.microsoft.com/office/powerpoint/2010/main" val="611533381"/>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1E88DD8-EA2B-4FEA-9B2B-3B413D803210}"/>
              </a:ext>
            </a:extLst>
          </p:cNvPr>
          <p:cNvSpPr>
            <a:spLocks xmlns:a="http://schemas.openxmlformats.org/drawingml/2006/main" noGrp="1"/>
          </p:cNvSpPr>
          <p:nvPr/>
        </p:nvSpPr>
        <p:spPr>
          <a:xfrm xmlns:a="http://schemas.openxmlformats.org/drawingml/2006/main">
            <a:off x="723900" y="590550"/>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73C34"/>
                </a:solidFill>
                <a:latin typeface="Helvetica Neue"/>
                <a:ea typeface="Helvetica Neue"/>
                <a:cs typeface="Helvetica Neue"/>
              </a:defRPr>
            </a:pPr>
            <a:r>
              <a:rPr sz="3600" b="1">
                <a:solidFill>
                  <a:srgbClr val="173C34"/>
                </a:solidFill>
                <a:latin typeface="Helvetica Neue"/>
                <a:ea typeface="Helvetica Neue"/>
                <a:cs typeface="Helvetica Neue"/>
              </a:rPr>
              <a:t>One intercepted write</a:t>
            </a:r>
          </a:p>
        </p:txBody>
      </p:sp>
      <p:sp>
        <p:nvSpPr>
          <p:cNvPr id="2" name="">
            <a:extLst xmlns:a="http://schemas.openxmlformats.org/drawingml/2006/main">
              <a:ext uri="{FF2B5EF4-FFF2-40B4-BE49-F238E27FC236}">
                <a16:creationId xmlns:a16="http://schemas.microsoft.com/office/drawing/2014/main" id="{163A5D9F-05B0-4DCA-AEBB-3BF535535D7E}"/>
              </a:ext>
            </a:extLst>
          </p:cNvPr>
          <p:cNvSpPr>
            <a:spLocks xmlns:a="http://schemas.openxmlformats.org/drawingml/2006/main" noGrp="1"/>
          </p:cNvSpPr>
          <p:nvPr/>
        </p:nvSpPr>
        <p:spPr>
          <a:xfrm xmlns:a="http://schemas.openxmlformats.org/drawingml/2006/main">
            <a:off x="762000" y="191452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64756D"/>
                </a:solidFill>
                <a:latin typeface="Helvetica Neue"/>
                <a:ea typeface="Helvetica Neue"/>
                <a:cs typeface="Helvetica Neue"/>
              </a:defRPr>
            </a:pPr>
            <a:r>
              <a:rPr sz="2175" b="1">
                <a:solidFill>
                  <a:srgbClr val="64756D"/>
                </a:solidFill>
                <a:latin typeface="Helvetica Neue"/>
                <a:ea typeface="Helvetica Neue"/>
                <a:cs typeface="Helvetica Neue"/>
              </a:rPr>
              <a:t>Attempted memory</a:t>
            </a:r>
          </a:p>
        </p:txBody>
      </p:sp>
      <p:sp>
        <p:nvSpPr>
          <p:cNvPr id="3" name="">
            <a:extLst xmlns:a="http://schemas.openxmlformats.org/drawingml/2006/main">
              <a:ext uri="{FF2B5EF4-FFF2-40B4-BE49-F238E27FC236}">
                <a16:creationId xmlns:a16="http://schemas.microsoft.com/office/drawing/2014/main" id="{B97F2206-6B02-4127-A9BE-2CBAC3E6D237}"/>
              </a:ext>
            </a:extLst>
          </p:cNvPr>
          <p:cNvSpPr>
            <a:spLocks xmlns:a="http://schemas.openxmlformats.org/drawingml/2006/main" noGrp="1"/>
          </p:cNvSpPr>
          <p:nvPr/>
        </p:nvSpPr>
        <p:spPr>
          <a:xfrm xmlns:a="http://schemas.openxmlformats.org/drawingml/2006/main">
            <a:off x="762000" y="2571750"/>
            <a:ext cx="4791075"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0">
                <a:solidFill>
                  <a:srgbClr val="173C34"/>
                </a:solidFill>
                <a:latin typeface="Helvetica Neue"/>
                <a:ea typeface="Helvetica Neue"/>
                <a:cs typeface="Helvetica Neue"/>
              </a:defRPr>
            </a:pPr>
            <a:r>
              <a:rPr sz="2550" b="0">
                <a:solidFill>
                  <a:srgbClr val="173C34"/>
                </a:solidFill>
                <a:latin typeface="Helvetica Neue"/>
                <a:ea typeface="Helvetica Neue"/>
                <a:cs typeface="Helvetica Neue"/>
              </a:rPr>
              <a:t>Maya is away Friday for an</a:t>
            </a:r>
          </a:p>
          <a:p xmlns:a="http://schemas.openxmlformats.org/drawingml/2006/main">
            <a:pPr>
              <a:defRPr sz="2550" b="0">
                <a:solidFill>
                  <a:srgbClr val="173C34"/>
                </a:solidFill>
                <a:latin typeface="Helvetica Neue"/>
                <a:ea typeface="Helvetica Neue"/>
                <a:cs typeface="Helvetica Neue"/>
              </a:defRPr>
            </a:pPr>
            <a:r>
              <a:rPr sz="2550" b="0">
                <a:solidFill>
                  <a:srgbClr val="173C34"/>
                </a:solidFill>
                <a:latin typeface="Helvetica Neue"/>
                <a:ea typeface="Helvetica Neue"/>
                <a:cs typeface="Helvetica Neue"/>
              </a:rPr>
              <a:t>oncology appointment.</a:t>
            </a:r>
          </a:p>
          <a:p xmlns:a="http://schemas.openxmlformats.org/drawingml/2006/main">
            <a:r>
              <a:t/>
            </a:r>
          </a:p>
          <a:p xmlns:a="http://schemas.openxmlformats.org/drawingml/2006/main">
            <a:pPr>
              <a:defRPr sz="2550" b="0">
                <a:solidFill>
                  <a:srgbClr val="173C34"/>
                </a:solidFill>
                <a:latin typeface="Helvetica Neue"/>
                <a:ea typeface="Helvetica Neue"/>
                <a:cs typeface="Helvetica Neue"/>
              </a:defRPr>
            </a:pPr>
            <a:r>
              <a:rPr sz="2550" b="0">
                <a:solidFill>
                  <a:srgbClr val="173C34"/>
                </a:solidFill>
                <a:latin typeface="Helvetica Neue"/>
                <a:ea typeface="Helvetica Neue"/>
                <a:cs typeface="Helvetica Neue"/>
              </a:rPr>
              <a:t>Ravi covers enterprise</a:t>
            </a:r>
          </a:p>
          <a:p xmlns:a="http://schemas.openxmlformats.org/drawingml/2006/main">
            <a:pPr>
              <a:defRPr sz="2550" b="0">
                <a:solidFill>
                  <a:srgbClr val="173C34"/>
                </a:solidFill>
                <a:latin typeface="Helvetica Neue"/>
                <a:ea typeface="Helvetica Neue"/>
                <a:cs typeface="Helvetica Neue"/>
              </a:defRPr>
            </a:pPr>
            <a:r>
              <a:rPr sz="2550" b="0">
                <a:solidFill>
                  <a:srgbClr val="173C34"/>
                </a:solidFill>
                <a:latin typeface="Helvetica Neue"/>
                <a:ea typeface="Helvetica Neue"/>
                <a:cs typeface="Helvetica Neue"/>
              </a:rPr>
              <a:t>escalations on Friday.</a:t>
            </a:r>
          </a:p>
        </p:txBody>
      </p:sp>
      <p:sp>
        <p:nvSpPr>
          <p:cNvPr id="4" name="">
            <a:extLst xmlns:a="http://schemas.openxmlformats.org/drawingml/2006/main">
              <a:ext uri="{FF2B5EF4-FFF2-40B4-BE49-F238E27FC236}">
                <a16:creationId xmlns:a16="http://schemas.microsoft.com/office/drawing/2014/main" id="{ED3A1344-C71C-4EDA-8B8F-930A2CB4AEEE}"/>
              </a:ext>
            </a:extLst>
          </p:cNvPr>
          <p:cNvSpPr>
            <a:spLocks xmlns:a="http://schemas.openxmlformats.org/drawingml/2006/main" noGrp="1"/>
          </p:cNvSpPr>
          <p:nvPr/>
        </p:nvSpPr>
        <p:spPr>
          <a:xfrm xmlns:a="http://schemas.openxmlformats.org/drawingml/2006/main">
            <a:off x="6486525" y="1914525"/>
            <a:ext cx="4905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23826A"/>
                </a:solidFill>
                <a:latin typeface="Helvetica Neue"/>
                <a:ea typeface="Helvetica Neue"/>
                <a:cs typeface="Helvetica Neue"/>
              </a:defRPr>
            </a:pPr>
            <a:r>
              <a:rPr sz="2175" b="1">
                <a:solidFill>
                  <a:srgbClr val="23826A"/>
                </a:solidFill>
                <a:latin typeface="Helvetica Neue"/>
                <a:ea typeface="Helvetica Neue"/>
                <a:cs typeface="Helvetica Neue"/>
              </a:rPr>
              <a:t>Edited outgoing intent</a:t>
            </a:r>
          </a:p>
        </p:txBody>
      </p:sp>
      <p:sp>
        <p:nvSpPr>
          <p:cNvPr id="5" name="">
            <a:extLst xmlns:a="http://schemas.openxmlformats.org/drawingml/2006/main">
              <a:ext uri="{FF2B5EF4-FFF2-40B4-BE49-F238E27FC236}">
                <a16:creationId xmlns:a16="http://schemas.microsoft.com/office/drawing/2014/main" id="{C8651818-1507-44A3-A762-EFF6F2DC30A7}"/>
              </a:ext>
            </a:extLst>
          </p:cNvPr>
          <p:cNvSpPr>
            <a:spLocks xmlns:a="http://schemas.openxmlformats.org/drawingml/2006/main" noGrp="1"/>
          </p:cNvSpPr>
          <p:nvPr/>
        </p:nvSpPr>
        <p:spPr>
          <a:xfrm xmlns:a="http://schemas.openxmlformats.org/drawingml/2006/main">
            <a:off x="6486525" y="2571750"/>
            <a:ext cx="4905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1">
                <a:solidFill>
                  <a:srgbClr val="23826A"/>
                </a:solidFill>
                <a:latin typeface="Helvetica Neue"/>
                <a:ea typeface="Helvetica Neue"/>
                <a:cs typeface="Helvetica Neue"/>
              </a:defRPr>
            </a:pPr>
            <a:r>
              <a:rPr sz="2700" b="1">
                <a:solidFill>
                  <a:srgbClr val="23826A"/>
                </a:solidFill>
                <a:latin typeface="Helvetica Neue"/>
                <a:ea typeface="Helvetica Neue"/>
                <a:cs typeface="Helvetica Neue"/>
              </a:rPr>
              <a:t>Ravi covers enterprise</a:t>
            </a:r>
          </a:p>
          <a:p xmlns:a="http://schemas.openxmlformats.org/drawingml/2006/main">
            <a:pPr>
              <a:defRPr sz="2700" b="1">
                <a:solidFill>
                  <a:srgbClr val="23826A"/>
                </a:solidFill>
                <a:latin typeface="Helvetica Neue"/>
                <a:ea typeface="Helvetica Neue"/>
                <a:cs typeface="Helvetica Neue"/>
              </a:defRPr>
            </a:pPr>
            <a:r>
              <a:rPr sz="2700" b="1">
                <a:solidFill>
                  <a:srgbClr val="23826A"/>
                </a:solidFill>
                <a:latin typeface="Helvetica Neue"/>
                <a:ea typeface="Helvetica Neue"/>
                <a:cs typeface="Helvetica Neue"/>
              </a:rPr>
              <a:t>escalations on Friday.</a:t>
            </a:r>
          </a:p>
        </p:txBody>
      </p:sp>
      <p:sp>
        <p:nvSpPr>
          <p:cNvPr id="6" name="">
            <a:extLst xmlns:a="http://schemas.openxmlformats.org/drawingml/2006/main">
              <a:ext uri="{FF2B5EF4-FFF2-40B4-BE49-F238E27FC236}">
                <a16:creationId xmlns:a16="http://schemas.microsoft.com/office/drawing/2014/main" id="{212C039F-5464-45E4-B1B3-673B79388DF4}"/>
              </a:ext>
            </a:extLst>
          </p:cNvPr>
          <p:cNvSpPr>
            <a:spLocks xmlns:a="http://schemas.openxmlformats.org/drawingml/2006/main" noGrp="1"/>
          </p:cNvSpPr>
          <p:nvPr/>
        </p:nvSpPr>
        <p:spPr>
          <a:xfrm xmlns:a="http://schemas.openxmlformats.org/drawingml/2006/main">
            <a:off x="6505575" y="4181475"/>
            <a:ext cx="476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73C34"/>
                </a:solidFill>
                <a:latin typeface="Helvetica Neue"/>
                <a:ea typeface="Helvetica Neue"/>
                <a:cs typeface="Helvetica Neue"/>
              </a:defRPr>
            </a:pPr>
            <a:r>
              <a:rPr sz="2025" b="0">
                <a:solidFill>
                  <a:srgbClr val="173C34"/>
                </a:solidFill>
                <a:latin typeface="Helvetica Neue"/>
                <a:ea typeface="Helvetica Neue"/>
                <a:cs typeface="Helvetica Neue"/>
              </a:rPr>
              <a:t>Visibility: team</a:t>
            </a:r>
          </a:p>
          <a:p xmlns:a="http://schemas.openxmlformats.org/drawingml/2006/main">
            <a:pPr>
              <a:defRPr sz="2025" b="0">
                <a:solidFill>
                  <a:srgbClr val="173C34"/>
                </a:solidFill>
                <a:latin typeface="Helvetica Neue"/>
                <a:ea typeface="Helvetica Neue"/>
                <a:cs typeface="Helvetica Neue"/>
              </a:defRPr>
            </a:pPr>
            <a:r>
              <a:rPr sz="2025" b="0">
                <a:solidFill>
                  <a:srgbClr val="173C34"/>
                </a:solidFill>
                <a:latin typeface="Helvetica Neue"/>
                <a:ea typeface="Helvetica Neue"/>
                <a:cs typeface="Helvetica Neue"/>
              </a:rPr>
              <a:t>Expiry: after Friday</a:t>
            </a:r>
          </a:p>
          <a:p xmlns:a="http://schemas.openxmlformats.org/drawingml/2006/main">
            <a:pPr>
              <a:defRPr sz="2025" b="0">
                <a:solidFill>
                  <a:srgbClr val="173C34"/>
                </a:solidFill>
                <a:latin typeface="Helvetica Neue"/>
                <a:ea typeface="Helvetica Neue"/>
                <a:cs typeface="Helvetica Neue"/>
              </a:defRPr>
            </a:pPr>
            <a:r>
              <a:rPr sz="2025" b="0">
                <a:solidFill>
                  <a:srgbClr val="173C34"/>
                </a:solidFill>
                <a:latin typeface="Helvetica Neue"/>
                <a:ea typeface="Helvetica Neue"/>
                <a:cs typeface="Helvetica Neue"/>
              </a:rPr>
              <a:t>Training allowed: false</a:t>
            </a:r>
          </a:p>
        </p:txBody>
      </p:sp>
      <p:sp>
        <p:nvSpPr>
          <p:cNvPr id="7" name="">
            <a:extLst xmlns:a="http://schemas.openxmlformats.org/drawingml/2006/main">
              <a:ext uri="{FF2B5EF4-FFF2-40B4-BE49-F238E27FC236}">
                <a16:creationId xmlns:a16="http://schemas.microsoft.com/office/drawing/2014/main" id="{BAE21818-23AB-4F74-945A-C585ABAE3345}"/>
              </a:ext>
            </a:extLst>
          </p:cNvPr>
          <p:cNvSpPr>
            <a:spLocks xmlns:a="http://schemas.openxmlformats.org/drawingml/2006/main" noGrp="1"/>
          </p:cNvSpPr>
          <p:nvPr/>
        </p:nvSpPr>
        <p:spPr>
          <a:xfrm xmlns:a="http://schemas.openxmlformats.org/drawingml/2006/main">
            <a:off x="762000" y="6124575"/>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64756D"/>
                </a:solidFill>
                <a:latin typeface="Helvetica Neue"/>
                <a:ea typeface="Helvetica Neue"/>
                <a:cs typeface="Helvetica Neue"/>
              </a:defRPr>
            </a:pPr>
            <a:r>
              <a:rPr sz="1725" b="0">
                <a:solidFill>
                  <a:srgbClr val="64756D"/>
                </a:solidFill>
                <a:latin typeface="Helvetica Neue"/>
                <a:ea typeface="Helvetica Neue"/>
                <a:cs typeface="Helvetica Neue"/>
              </a:rPr>
              <a:t>The prototype displays this payload. Dispatch to GBrain is simulated.</a:t>
            </a:r>
          </a:p>
        </p:txBody>
      </p:sp>
    </p:spTree>
    <p:extLst>
      <p:ext uri="{BB962C8B-B14F-4D97-AF65-F5344CB8AC3E}">
        <p14:creationId xmlns:p14="http://schemas.microsoft.com/office/powerpoint/2010/main" val="948870897"/>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554107-C33C-4958-BAE7-1CFF51527B65}"/>
              </a:ext>
            </a:extLst>
          </p:cNvPr>
          <p:cNvSpPr>
            <a:spLocks xmlns:a="http://schemas.openxmlformats.org/drawingml/2006/main" noGrp="1"/>
          </p:cNvSpPr>
          <p:nvPr/>
        </p:nvSpPr>
        <p:spPr>
          <a:xfrm xmlns:a="http://schemas.openxmlformats.org/drawingml/2006/main">
            <a:off x="723900" y="590550"/>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73C34"/>
                </a:solidFill>
                <a:latin typeface="Helvetica Neue"/>
                <a:ea typeface="Helvetica Neue"/>
                <a:cs typeface="Helvetica Neue"/>
              </a:defRPr>
            </a:pPr>
            <a:r>
              <a:rPr sz="3600" b="1">
                <a:solidFill>
                  <a:srgbClr val="173C34"/>
                </a:solidFill>
                <a:latin typeface="Helvetica Neue"/>
                <a:ea typeface="Helvetica Neue"/>
                <a:cs typeface="Helvetica Neue"/>
              </a:rPr>
              <a:t>A policy change takes one line</a:t>
            </a:r>
          </a:p>
        </p:txBody>
      </p:sp>
      <p:sp>
        <p:nvSpPr>
          <p:cNvPr id="2" name="">
            <a:extLst xmlns:a="http://schemas.openxmlformats.org/drawingml/2006/main">
              <a:ext uri="{FF2B5EF4-FFF2-40B4-BE49-F238E27FC236}">
                <a16:creationId xmlns:a16="http://schemas.microsoft.com/office/drawing/2014/main" id="{47BC40F1-F125-4CC8-8E9D-1EEC38E2BAFF}"/>
              </a:ext>
            </a:extLst>
          </p:cNvPr>
          <p:cNvSpPr>
            <a:spLocks xmlns:a="http://schemas.openxmlformats.org/drawingml/2006/main" noGrp="1"/>
          </p:cNvSpPr>
          <p:nvPr/>
        </p:nvSpPr>
        <p:spPr>
          <a:xfrm xmlns:a="http://schemas.openxmlformats.org/drawingml/2006/main">
            <a:off x="762000" y="180022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64756D"/>
                </a:solidFill>
                <a:latin typeface="Helvetica Neue"/>
                <a:ea typeface="Helvetica Neue"/>
                <a:cs typeface="Helvetica Neue"/>
              </a:defRPr>
            </a:pPr>
            <a:r>
              <a:rPr sz="2100" b="0">
                <a:solidFill>
                  <a:srgbClr val="64756D"/>
                </a:solidFill>
                <a:latin typeface="Helvetica Neue"/>
                <a:ea typeface="Helvetica Neue"/>
                <a:cs typeface="Helvetica Neue"/>
              </a:rPr>
              <a:t>Maya adds to her Markdown file</a:t>
            </a:r>
          </a:p>
        </p:txBody>
      </p:sp>
      <p:sp>
        <p:nvSpPr>
          <p:cNvPr id="3" name="">
            <a:extLst xmlns:a="http://schemas.openxmlformats.org/drawingml/2006/main">
              <a:ext uri="{FF2B5EF4-FFF2-40B4-BE49-F238E27FC236}">
                <a16:creationId xmlns:a16="http://schemas.microsoft.com/office/drawing/2014/main" id="{72AE3EA2-F5AC-4F99-A5FB-819742C9D87F}"/>
              </a:ext>
            </a:extLst>
          </p:cNvPr>
          <p:cNvSpPr>
            <a:spLocks xmlns:a="http://schemas.openxmlformats.org/drawingml/2006/main" noGrp="1"/>
          </p:cNvSpPr>
          <p:nvPr/>
        </p:nvSpPr>
        <p:spPr>
          <a:xfrm xmlns:a="http://schemas.openxmlformats.org/drawingml/2006/main">
            <a:off x="762000" y="24193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73C34"/>
                </a:solidFill>
                <a:latin typeface="Helvetica Neue"/>
                <a:ea typeface="Helvetica Neue"/>
                <a:cs typeface="Helvetica Neue"/>
              </a:defRPr>
            </a:pPr>
            <a:r>
              <a:rPr sz="3000" b="1">
                <a:solidFill>
                  <a:srgbClr val="173C34"/>
                </a:solidFill>
                <a:latin typeface="Helvetica Neue"/>
                <a:ea typeface="Helvetica Neue"/>
                <a:cs typeface="Helvetica Neue"/>
              </a:rPr>
              <a:t>- Remember my writing preferences: no</a:t>
            </a:r>
          </a:p>
        </p:txBody>
      </p:sp>
      <p:sp>
        <p:nvSpPr>
          <p:cNvPr id="4" name="">
            <a:extLst xmlns:a="http://schemas.openxmlformats.org/drawingml/2006/main">
              <a:ext uri="{FF2B5EF4-FFF2-40B4-BE49-F238E27FC236}">
                <a16:creationId xmlns:a16="http://schemas.microsoft.com/office/drawing/2014/main" id="{C3489932-5853-429A-9BC2-2B3E7ECEBB10}"/>
              </a:ext>
            </a:extLst>
          </p:cNvPr>
          <p:cNvSpPr>
            <a:spLocks xmlns:a="http://schemas.openxmlformats.org/drawingml/2006/main" noGrp="1"/>
          </p:cNvSpPr>
          <p:nvPr/>
        </p:nvSpPr>
        <p:spPr>
          <a:xfrm xmlns:a="http://schemas.openxmlformats.org/drawingml/2006/main">
            <a:off x="762000" y="36385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64756D"/>
                </a:solidFill>
                <a:latin typeface="Helvetica Neue"/>
                <a:ea typeface="Helvetica Neue"/>
                <a:cs typeface="Helvetica Neue"/>
              </a:defRPr>
            </a:pPr>
            <a:r>
              <a:rPr sz="2100" b="0">
                <a:solidFill>
                  <a:srgbClr val="64756D"/>
                </a:solidFill>
                <a:latin typeface="Helvetica Neue"/>
                <a:ea typeface="Helvetica Neue"/>
                <a:cs typeface="Helvetica Neue"/>
              </a:rPr>
              <a:t>The next run intercepts</a:t>
            </a:r>
          </a:p>
        </p:txBody>
      </p:sp>
      <p:sp>
        <p:nvSpPr>
          <p:cNvPr id="5" name="">
            <a:extLst xmlns:a="http://schemas.openxmlformats.org/drawingml/2006/main">
              <a:ext uri="{FF2B5EF4-FFF2-40B4-BE49-F238E27FC236}">
                <a16:creationId xmlns:a16="http://schemas.microsoft.com/office/drawing/2014/main" id="{BD78C0A8-7D8D-4F59-BF72-BC0147867062}"/>
              </a:ext>
            </a:extLst>
          </p:cNvPr>
          <p:cNvSpPr>
            <a:spLocks xmlns:a="http://schemas.openxmlformats.org/drawingml/2006/main" noGrp="1"/>
          </p:cNvSpPr>
          <p:nvPr/>
        </p:nvSpPr>
        <p:spPr>
          <a:xfrm xmlns:a="http://schemas.openxmlformats.org/drawingml/2006/main">
            <a:off x="762000" y="421957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850" b="0">
                <a:solidFill>
                  <a:srgbClr val="173C34"/>
                </a:solidFill>
                <a:latin typeface="Helvetica Neue"/>
                <a:ea typeface="Helvetica Neue"/>
                <a:cs typeface="Helvetica Neue"/>
              </a:defRPr>
            </a:pPr>
            <a:r>
              <a:rPr sz="2850" b="0">
                <a:solidFill>
                  <a:srgbClr val="173C34"/>
                </a:solidFill>
                <a:latin typeface="Helvetica Neue"/>
                <a:ea typeface="Helvetica Neue"/>
                <a:cs typeface="Helvetica Neue"/>
              </a:rPr>
              <a:t>“Maya prefers updates in three bullets.”</a:t>
            </a:r>
          </a:p>
        </p:txBody>
      </p:sp>
      <p:sp>
        <p:nvSpPr>
          <p:cNvPr id="6" name="">
            <a:extLst xmlns:a="http://schemas.openxmlformats.org/drawingml/2006/main">
              <a:ext uri="{FF2B5EF4-FFF2-40B4-BE49-F238E27FC236}">
                <a16:creationId xmlns:a16="http://schemas.microsoft.com/office/drawing/2014/main" id="{3A0A0CD9-F443-4CBD-9E41-BB37AA08D8CA}"/>
              </a:ext>
            </a:extLst>
          </p:cNvPr>
          <p:cNvSpPr>
            <a:spLocks xmlns:a="http://schemas.openxmlformats.org/drawingml/2006/main" noGrp="1"/>
          </p:cNvSpPr>
          <p:nvPr/>
        </p:nvSpPr>
        <p:spPr>
          <a:xfrm xmlns:a="http://schemas.openxmlformats.org/drawingml/2006/main">
            <a:off x="762000" y="5305425"/>
            <a:ext cx="7429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975" b="1">
                <a:solidFill>
                  <a:srgbClr val="A7493B"/>
                </a:solidFill>
                <a:latin typeface="Helvetica Neue"/>
                <a:ea typeface="Helvetica Neue"/>
                <a:cs typeface="Helvetica Neue"/>
              </a:defRPr>
            </a:pPr>
            <a:r>
              <a:rPr sz="3975" b="1">
                <a:solidFill>
                  <a:srgbClr val="A7493B"/>
                </a:solidFill>
                <a:latin typeface="Helvetica Neue"/>
                <a:ea typeface="Helvetica Neue"/>
                <a:cs typeface="Helvetica Neue"/>
              </a:rPr>
              <a:t>BLOCKED</a:t>
            </a:r>
          </a:p>
        </p:txBody>
      </p:sp>
    </p:spTree>
    <p:extLst>
      <p:ext uri="{BB962C8B-B14F-4D97-AF65-F5344CB8AC3E}">
        <p14:creationId xmlns:p14="http://schemas.microsoft.com/office/powerpoint/2010/main" val="1610938105"/>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671A2C-593F-4ADD-9B2E-3122B92645AF}"/>
              </a:ext>
            </a:extLst>
          </p:cNvPr>
          <p:cNvSpPr>
            <a:spLocks xmlns:a="http://schemas.openxmlformats.org/drawingml/2006/main" noGrp="1"/>
          </p:cNvSpPr>
          <p:nvPr/>
        </p:nvSpPr>
        <p:spPr>
          <a:xfrm xmlns:a="http://schemas.openxmlformats.org/drawingml/2006/main">
            <a:off x="723900" y="590550"/>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600" b="1">
                <a:solidFill>
                  <a:srgbClr val="173C34"/>
                </a:solidFill>
                <a:latin typeface="Helvetica Neue"/>
                <a:ea typeface="Helvetica Neue"/>
                <a:cs typeface="Helvetica Neue"/>
              </a:defRPr>
            </a:pPr>
            <a:r>
              <a:rPr sz="3600" b="1">
                <a:solidFill>
                  <a:srgbClr val="173C34"/>
                </a:solidFill>
                <a:latin typeface="Helvetica Neue"/>
                <a:ea typeface="Helvetica Neue"/>
                <a:cs typeface="Helvetica Neue"/>
              </a:rPr>
              <a:t>The demo today</a:t>
            </a:r>
          </a:p>
        </p:txBody>
      </p:sp>
      <p:sp>
        <p:nvSpPr>
          <p:cNvPr id="2" name="">
            <a:extLst xmlns:a="http://schemas.openxmlformats.org/drawingml/2006/main">
              <a:ext uri="{FF2B5EF4-FFF2-40B4-BE49-F238E27FC236}">
                <a16:creationId xmlns:a16="http://schemas.microsoft.com/office/drawing/2014/main" id="{35DC6AE0-CB7B-4711-8576-21918515962C}"/>
              </a:ext>
            </a:extLst>
          </p:cNvPr>
          <p:cNvSpPr>
            <a:spLocks xmlns:a="http://schemas.openxmlformats.org/drawingml/2006/main" noGrp="1"/>
          </p:cNvSpPr>
          <p:nvPr/>
        </p:nvSpPr>
        <p:spPr>
          <a:xfrm xmlns:a="http://schemas.openxmlformats.org/drawingml/2006/main">
            <a:off x="762000" y="1924050"/>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23826A"/>
                </a:solidFill>
                <a:latin typeface="Helvetica Neue"/>
                <a:ea typeface="Helvetica Neue"/>
                <a:cs typeface="Helvetica Neue"/>
              </a:defRPr>
            </a:pPr>
            <a:r>
              <a:rPr sz="2625" b="1">
                <a:solidFill>
                  <a:srgbClr val="23826A"/>
                </a:solidFill>
                <a:latin typeface="Helvetica Neue"/>
                <a:ea typeface="Helvetica Neue"/>
                <a:cs typeface="Helvetica Neue"/>
              </a:rPr>
              <a:t>Running</a:t>
            </a:r>
          </a:p>
        </p:txBody>
      </p:sp>
      <p:sp>
        <p:nvSpPr>
          <p:cNvPr id="3" name="">
            <a:extLst xmlns:a="http://schemas.openxmlformats.org/drawingml/2006/main">
              <a:ext uri="{FF2B5EF4-FFF2-40B4-BE49-F238E27FC236}">
                <a16:creationId xmlns:a16="http://schemas.microsoft.com/office/drawing/2014/main" id="{F60C8121-4788-4BAF-BC30-C8A53BAB5BA2}"/>
              </a:ext>
            </a:extLst>
          </p:cNvPr>
          <p:cNvSpPr>
            <a:spLocks xmlns:a="http://schemas.openxmlformats.org/drawingml/2006/main" noGrp="1"/>
          </p:cNvSpPr>
          <p:nvPr/>
        </p:nvSpPr>
        <p:spPr>
          <a:xfrm xmlns:a="http://schemas.openxmlformats.org/drawingml/2006/main">
            <a:off x="762000" y="2705100"/>
            <a:ext cx="4953000" cy="2371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73C34"/>
                </a:solidFill>
                <a:latin typeface="Helvetica Neue"/>
                <a:ea typeface="Helvetica Neue"/>
                <a:cs typeface="Helvetica Neue"/>
              </a:defRPr>
            </a:pPr>
            <a:r>
              <a:rPr sz="2100" b="0">
                <a:solidFill>
                  <a:srgbClr val="173C34"/>
                </a:solidFill>
                <a:latin typeface="Helvetica Neue"/>
                <a:ea typeface="Helvetica Neue"/>
                <a:cs typeface="Helvetica Neue"/>
              </a:rPr>
              <a:t>Markdown rules + trajectory input</a:t>
            </a:r>
          </a:p>
          <a:p xmlns:a="http://schemas.openxmlformats.org/drawingml/2006/main">
            <a:r>
              <a:t/>
            </a:r>
          </a:p>
          <a:p xmlns:a="http://schemas.openxmlformats.org/drawingml/2006/main">
            <a:pPr>
              <a:defRPr sz="2100" b="0">
                <a:solidFill>
                  <a:srgbClr val="173C34"/>
                </a:solidFill>
                <a:latin typeface="Helvetica Neue"/>
                <a:ea typeface="Helvetica Neue"/>
                <a:cs typeface="Helvetica Neue"/>
              </a:defRPr>
            </a:pPr>
            <a:r>
              <a:rPr sz="2100" b="0">
                <a:solidFill>
                  <a:srgbClr val="173C34"/>
                </a:solidFill>
                <a:latin typeface="Helvetica Neue"/>
                <a:ea typeface="Helvetica Neue"/>
                <a:cs typeface="Helvetica Neue"/>
              </a:rPr>
              <a:t>Capture, edit or block memory calls</a:t>
            </a:r>
          </a:p>
          <a:p xmlns:a="http://schemas.openxmlformats.org/drawingml/2006/main">
            <a:r>
              <a:t/>
            </a:r>
          </a:p>
          <a:p xmlns:a="http://schemas.openxmlformats.org/drawingml/2006/main">
            <a:pPr>
              <a:defRPr sz="2100" b="0">
                <a:solidFill>
                  <a:srgbClr val="173C34"/>
                </a:solidFill>
                <a:latin typeface="Helvetica Neue"/>
                <a:ea typeface="Helvetica Neue"/>
                <a:cs typeface="Helvetica Neue"/>
              </a:defRPr>
            </a:pPr>
            <a:r>
              <a:rPr sz="2100" b="0">
                <a:solidFill>
                  <a:srgbClr val="173C34"/>
                </a:solidFill>
                <a:latin typeface="Helvetica Neue"/>
                <a:ea typeface="Helvetica Neue"/>
                <a:cs typeface="Helvetica Neue"/>
              </a:rPr>
              <a:t>Original conversation stays intact</a:t>
            </a:r>
          </a:p>
        </p:txBody>
      </p:sp>
      <p:sp>
        <p:nvSpPr>
          <p:cNvPr id="4" name="">
            <a:extLst xmlns:a="http://schemas.openxmlformats.org/drawingml/2006/main">
              <a:ext uri="{FF2B5EF4-FFF2-40B4-BE49-F238E27FC236}">
                <a16:creationId xmlns:a16="http://schemas.microsoft.com/office/drawing/2014/main" id="{F393990B-274F-4704-A3F5-959C36C00217}"/>
              </a:ext>
            </a:extLst>
          </p:cNvPr>
          <p:cNvSpPr>
            <a:spLocks xmlns:a="http://schemas.openxmlformats.org/drawingml/2006/main" noGrp="1"/>
          </p:cNvSpPr>
          <p:nvPr/>
        </p:nvSpPr>
        <p:spPr>
          <a:xfrm xmlns:a="http://schemas.openxmlformats.org/drawingml/2006/main">
            <a:off x="6686550" y="1924050"/>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173C34"/>
                </a:solidFill>
                <a:latin typeface="Helvetica Neue"/>
                <a:ea typeface="Helvetica Neue"/>
                <a:cs typeface="Helvetica Neue"/>
              </a:defRPr>
            </a:pPr>
            <a:r>
              <a:rPr sz="2625" b="1">
                <a:solidFill>
                  <a:srgbClr val="173C34"/>
                </a:solidFill>
                <a:latin typeface="Helvetica Neue"/>
                <a:ea typeface="Helvetica Neue"/>
                <a:cs typeface="Helvetica Neue"/>
              </a:rPr>
              <a:t>Next connection</a:t>
            </a:r>
          </a:p>
        </p:txBody>
      </p:sp>
      <p:sp>
        <p:nvSpPr>
          <p:cNvPr id="5" name="">
            <a:extLst xmlns:a="http://schemas.openxmlformats.org/drawingml/2006/main">
              <a:ext uri="{FF2B5EF4-FFF2-40B4-BE49-F238E27FC236}">
                <a16:creationId xmlns:a16="http://schemas.microsoft.com/office/drawing/2014/main" id="{EED07BCB-AABF-436B-928D-F04D987AA597}"/>
              </a:ext>
            </a:extLst>
          </p:cNvPr>
          <p:cNvSpPr>
            <a:spLocks xmlns:a="http://schemas.openxmlformats.org/drawingml/2006/main" noGrp="1"/>
          </p:cNvSpPr>
          <p:nvPr/>
        </p:nvSpPr>
        <p:spPr>
          <a:xfrm xmlns:a="http://schemas.openxmlformats.org/drawingml/2006/main">
            <a:off x="6686550" y="2705100"/>
            <a:ext cx="4762500" cy="2371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73C34"/>
                </a:solidFill>
                <a:latin typeface="Helvetica Neue"/>
                <a:ea typeface="Helvetica Neue"/>
                <a:cs typeface="Helvetica Neue"/>
              </a:defRPr>
            </a:pPr>
            <a:r>
              <a:rPr sz="2100" b="0">
                <a:solidFill>
                  <a:srgbClr val="173C34"/>
                </a:solidFill>
                <a:latin typeface="Helvetica Neue"/>
                <a:ea typeface="Helvetica Neue"/>
                <a:cs typeface="Helvetica Neue"/>
              </a:rPr>
              <a:t>Send approved payloads to GBrain</a:t>
            </a:r>
          </a:p>
          <a:p xmlns:a="http://schemas.openxmlformats.org/drawingml/2006/main">
            <a:r>
              <a:t/>
            </a:r>
          </a:p>
          <a:p xmlns:a="http://schemas.openxmlformats.org/drawingml/2006/main">
            <a:pPr>
              <a:defRPr sz="2100" b="0">
                <a:solidFill>
                  <a:srgbClr val="173C34"/>
                </a:solidFill>
                <a:latin typeface="Helvetica Neue"/>
                <a:ea typeface="Helvetica Neue"/>
                <a:cs typeface="Helvetica Neue"/>
              </a:defRPr>
            </a:pPr>
            <a:r>
              <a:rPr sz="2100" b="0">
                <a:solidFill>
                  <a:srgbClr val="173C34"/>
                </a:solidFill>
                <a:latin typeface="Helvetica Neue"/>
                <a:ea typeface="Helvetica Neue"/>
                <a:cs typeface="Helvetica Neue"/>
              </a:rPr>
              <a:t>Enforce visibility and expiry</a:t>
            </a:r>
          </a:p>
          <a:p xmlns:a="http://schemas.openxmlformats.org/drawingml/2006/main">
            <a:pPr>
              <a:defRPr sz="2100" b="0">
                <a:solidFill>
                  <a:srgbClr val="173C34"/>
                </a:solidFill>
                <a:latin typeface="Helvetica Neue"/>
                <a:ea typeface="Helvetica Neue"/>
                <a:cs typeface="Helvetica Neue"/>
              </a:defRPr>
            </a:pPr>
            <a:r>
              <a:rPr sz="2100" b="0">
                <a:solidFill>
                  <a:srgbClr val="173C34"/>
                </a:solidFill>
                <a:latin typeface="Helvetica Neue"/>
                <a:ea typeface="Helvetica Neue"/>
                <a:cs typeface="Helvetica Neue"/>
              </a:rPr>
              <a:t>when retrieving memory</a:t>
            </a:r>
          </a:p>
        </p:txBody>
      </p:sp>
      <p:sp>
        <p:nvSpPr>
          <p:cNvPr id="6" name="">
            <a:extLst xmlns:a="http://schemas.openxmlformats.org/drawingml/2006/main">
              <a:ext uri="{FF2B5EF4-FFF2-40B4-BE49-F238E27FC236}">
                <a16:creationId xmlns:a16="http://schemas.microsoft.com/office/drawing/2014/main" id="{D4CDBBEA-3473-445A-B537-757687F1A3BF}"/>
              </a:ext>
            </a:extLst>
          </p:cNvPr>
          <p:cNvSpPr>
            <a:spLocks xmlns:a="http://schemas.openxmlformats.org/drawingml/2006/main" noGrp="1"/>
          </p:cNvSpPr>
          <p:nvPr/>
        </p:nvSpPr>
        <p:spPr>
          <a:xfrm xmlns:a="http://schemas.openxmlformats.org/drawingml/2006/main">
            <a:off x="762000" y="574357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64756D"/>
                </a:solidFill>
                <a:latin typeface="Helvetica Neue"/>
                <a:ea typeface="Helvetica Neue"/>
                <a:cs typeface="Helvetica Neue"/>
              </a:defRPr>
            </a:pPr>
            <a:r>
              <a:rPr sz="1725" b="0">
                <a:solidFill>
                  <a:srgbClr val="64756D"/>
                </a:solidFill>
                <a:latin typeface="Helvetica Neue"/>
                <a:ea typeface="Helvetica Neue"/>
                <a:cs typeface="Helvetica Neue"/>
              </a:rPr>
              <a:t>Local GBrain save, recall and withdrawal work separately.</a:t>
            </a:r>
          </a:p>
          <a:p xmlns:a="http://schemas.openxmlformats.org/drawingml/2006/main">
            <a:pPr>
              <a:defRPr sz="1725" b="0">
                <a:solidFill>
                  <a:srgbClr val="64756D"/>
                </a:solidFill>
                <a:latin typeface="Helvetica Neue"/>
                <a:ea typeface="Helvetica Neue"/>
                <a:cs typeface="Helvetica Neue"/>
              </a:defRPr>
            </a:pPr>
            <a:r>
              <a:rPr sz="1725" b="0">
                <a:solidFill>
                  <a:srgbClr val="64756D"/>
                </a:solidFill>
                <a:latin typeface="Helvetica Neue"/>
                <a:ea typeface="Helvetica Neue"/>
                <a:cs typeface="Helvetica Neue"/>
              </a:rPr>
              <a:t>This UI uses synthetic data and simulated memory dispatch.</a:t>
            </a:r>
          </a:p>
        </p:txBody>
      </p:sp>
    </p:spTree>
    <p:extLst>
      <p:ext uri="{BB962C8B-B14F-4D97-AF65-F5344CB8AC3E}">
        <p14:creationId xmlns:p14="http://schemas.microsoft.com/office/powerpoint/2010/main" val="11397435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2026-09-27T21:43:18.6470000Z</dcterms:created>
  <dcterms:modified xsi:type="dcterms:W3CDTF">2026-09-27T21:43:18.6470000Z</dcterms:modified>
</coreProperties>
</file>