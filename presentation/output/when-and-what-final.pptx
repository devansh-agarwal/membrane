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46d9eef4354174" /><Relationship Type="http://schemas.openxmlformats.org/officeDocument/2006/relationships/extended-properties" Target="/docProps/app.xml" Id="R4f2be57d719a4d1f" /><Relationship Type="http://schemas.openxmlformats.org/officeDocument/2006/relationships/officeDocument" Target="/ppt/presentation.xml" Id="Rd199aeaea62a4283" /></Relationships>
</file>

<file path=ppt/presentation.xml><?xml version="1.0" encoding="utf-8"?>
<p:presentation xmlns:p="http://schemas.openxmlformats.org/presentationml/2006/main">
  <p:sldMasterIdLst>
    <p:sldMasterId xmlns:r="http://schemas.openxmlformats.org/officeDocument/2006/relationships" id="2147483648" r:id="R504fbffde33845af"/>
  </p:sldMasterIdLst>
  <p:notesMasterIdLst>
    <p:notesMasterId xmlns:r="http://schemas.openxmlformats.org/officeDocument/2006/relationships" r:id="R0b70af4b704e4f5b"/>
  </p:notesMasterIdLst>
  <p:sldIdLst>
    <p:sldId xmlns:r="http://schemas.openxmlformats.org/officeDocument/2006/relationships" id="256" r:id="R0e44ce1151f7424d"/>
    <p:sldId xmlns:r="http://schemas.openxmlformats.org/officeDocument/2006/relationships" id="257" r:id="Re9fd75b147894d08"/>
    <p:sldId xmlns:r="http://schemas.openxmlformats.org/officeDocument/2006/relationships" id="258" r:id="R06b5627cdb7f4524"/>
    <p:sldId xmlns:r="http://schemas.openxmlformats.org/officeDocument/2006/relationships" id="259" r:id="R94ce361165e345eb"/>
    <p:sldId xmlns:r="http://schemas.openxmlformats.org/officeDocument/2006/relationships" id="260" r:id="Rc83f182b554c4c11"/>
    <p:sldId xmlns:r="http://schemas.openxmlformats.org/officeDocument/2006/relationships" id="261" r:id="R959bebed248e442c"/>
    <p:sldId xmlns:r="http://schemas.openxmlformats.org/officeDocument/2006/relationships" id="262" r:id="R0a80f956d3974fa3"/>
    <p:sldId xmlns:r="http://schemas.openxmlformats.org/officeDocument/2006/relationships" id="263" r:id="Raacfa13218264f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2c3ad7ed9746cf" /><Relationship Type="http://schemas.openxmlformats.org/officeDocument/2006/relationships/slideMaster" Target="/ppt/slideMasters/slideMaster1.xml" Id="R504fbffde33845af" /><Relationship Type="http://schemas.openxmlformats.org/officeDocument/2006/relationships/notesMaster" Target="/ppt/notesMasters/notesMaster1.xml" Id="R0b70af4b704e4f5b" /><Relationship Type="http://schemas.openxmlformats.org/officeDocument/2006/relationships/presProps" Target="/ppt/presProps.xml" Id="Rc13a79f5618b45e2" /><Relationship Type="http://schemas.openxmlformats.org/officeDocument/2006/relationships/tableStyles" Target="/ppt/tableStyles.xml" Id="Rbbfce669fedc41c3" /><Relationship Type="http://schemas.openxmlformats.org/officeDocument/2006/relationships/slide" Target="/ppt/slides/slide1.xml" Id="R0e44ce1151f7424d" /><Relationship Type="http://schemas.openxmlformats.org/officeDocument/2006/relationships/slide" Target="/ppt/slides/slide2.xml" Id="Re9fd75b147894d08" /><Relationship Type="http://schemas.openxmlformats.org/officeDocument/2006/relationships/slide" Target="/ppt/slides/slide3.xml" Id="R06b5627cdb7f4524" /><Relationship Type="http://schemas.openxmlformats.org/officeDocument/2006/relationships/slide" Target="/ppt/slides/slide4.xml" Id="R94ce361165e345eb" /><Relationship Type="http://schemas.openxmlformats.org/officeDocument/2006/relationships/slide" Target="/ppt/slides/slide5.xml" Id="Rc83f182b554c4c11" /><Relationship Type="http://schemas.openxmlformats.org/officeDocument/2006/relationships/slide" Target="/ppt/slides/slide6.xml" Id="R959bebed248e442c" /><Relationship Type="http://schemas.openxmlformats.org/officeDocument/2006/relationships/slide" Target="/ppt/slides/slide7.xml" Id="R0a80f956d3974fa3" /><Relationship Type="http://schemas.openxmlformats.org/officeDocument/2006/relationships/slide" Target="/ppt/slides/slide8.xml" Id="Raacfa13218264f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e8f4112b5d4d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061761a92d41d8" /><Relationship Type="http://schemas.openxmlformats.org/officeDocument/2006/relationships/notesMaster" Target="/ppt/notesMasters/notesMaster1.xml" Id="Rb3ceb4b336c948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2e4fc851314b6f" /><Relationship Type="http://schemas.openxmlformats.org/officeDocument/2006/relationships/notesMaster" Target="/ppt/notesMasters/notesMaster1.xml" Id="R9b3eebd55c3b44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92864d97694a70" /><Relationship Type="http://schemas.openxmlformats.org/officeDocument/2006/relationships/notesMaster" Target="/ppt/notesMasters/notesMaster1.xml" Id="Rfe3e884cd3854f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009f547b224fc1" /><Relationship Type="http://schemas.openxmlformats.org/officeDocument/2006/relationships/notesMaster" Target="/ppt/notesMasters/notesMaster1.xml" Id="Rf4340729bb4b4c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9fbe0008e8438c" /><Relationship Type="http://schemas.openxmlformats.org/officeDocument/2006/relationships/notesMaster" Target="/ppt/notesMasters/notesMaster1.xml" Id="Rf5a9accd147b4d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b0d9e701334491" /><Relationship Type="http://schemas.openxmlformats.org/officeDocument/2006/relationships/notesMaster" Target="/ppt/notesMasters/notesMaster1.xml" Id="Rd170fab1361b4a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23232df1c54fcb" /><Relationship Type="http://schemas.openxmlformats.org/officeDocument/2006/relationships/notesMaster" Target="/ppt/notesMasters/notesMaster1.xml" Id="Rce2c9b5355f84f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79fac9d50a4e4b" /><Relationship Type="http://schemas.openxmlformats.org/officeDocument/2006/relationships/notesMaster" Target="/ppt/notesMasters/notesMaster1.xml" Id="R220e5537081743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incident chat contains two kinds of information: what the agent needs right now, and what the company should keep. Those are different decisions. When &amp; What keeps the authorized context available for the current task, then applies company rules and employee preferences before memory or training. This is a synthetic ops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produces memory writes and execution trajectories. A listener intercepts them before persistence. Company policy and an employee Markdown file determine what can survive. Jev is the intended typed classifier; our code applies those decisions and assembles the cleaned output. For this demo, deterministic local rules perform that work. GBrain is the intended memory destination, and training export has its own consent gate. The UI replays traces; Jev calls and the GBrain handoff are simulated. Hosted classification would also have to respect data-egress policy. Source for Jev capability: https://typesafe.ai/blog/introducing-system-one-models-and-jev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incident. Checkout errors jumped to 18 percent after a deploy. Maya, Ravi and Lena share useful debugging context, but also a customer email, revenue, a connection credential and a raw request. The ops agent traces the failure to a connection leak. The team rolls back and identifies a fix. The original conversation remains available for this task. All names, incidents and credentials in this screen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look at the persistent copy of the execution trace. The hook removes five sensitive spans automatically: customer email, revenue, connection credential, API token and raw request payload. It keeps the useful tool result, diagnosis and resolution. There is no review queue or save button. The cleaning runs locally; the displayed GBrain handoff is simulated. In a live demo, Replay redaction reveals the transformation step by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fit into two Markdown files. The company excludes credentials, customer emails and revenue. Maya adds raw request payloads and grants permission for sanitized operational training examples. We retain the diagnosis and reusable fix. The demo uses a small local parser and known sensitive patterns, so these files are easy to edit and replay. A rule change affects the next generated output; this is not a claim that previously stored records or trained weights have been erased.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small set of procedures appears repeatedly in our synthetic history. There are five pool-exhaustion incidents, three retry storms and one disk issue. The seeded telemetry totals 103,974 input and output tokens. At a repeat threshold of three, and after checking consent, 7 example records are eligible: four pool examples and three retry examples. One pool run lacks consent; the disk issue has not repeated enough. These are fixtures grouped by a known pattern label, not a live clustering model. They signal an experiment, not proof that fine-tuning will work. Data source: public/ops-data.js, library(true), grouped(), totalTokens() and trainingRows().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and what are separate questions. Changing company facts belong in governed retrieval. A stable, repeated procedure may justify a training pilot, provided the examples are permitted and useful. The pilot needs held-out incidents and a comparison against the current RAG baseline. Our seven demo records are synthetic and repeat templates; they are not a validated training dataset. The concrete control is permission: changing Allow training from yes to no makes the next export contain zero eligible examples. That does not untrain an existing model. River or another training service is a proposed downstream connection; no model is trained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promise is simple: remember the fix without retaining the sensitive details that happened to be nearby. Today the demo runs Markdown rules, automatic redaction and a consent-filtered JSONL export. Local GBrain has been set up and verified separately, but the UI handoff is simulated. Jev classification and a custom-model training pilot are the next connections. This is the policy layer between useful work now, useful memory later and deliberate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6cb34e7cfb4b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da545d02b44cf6" /><Relationship Type="http://schemas.openxmlformats.org/officeDocument/2006/relationships/slideLayout" Target="/ppt/slideLayouts/slideLayout1.xml" Id="R6043a24f966440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43a24f966440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b62c53d91d4c19" /><Relationship Type="http://schemas.openxmlformats.org/officeDocument/2006/relationships/notesSlide" Target="/ppt/notesSlides/notesSlide1.xml" Id="Rae940f7262b14b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9f497c8f9a4726" /><Relationship Type="http://schemas.openxmlformats.org/officeDocument/2006/relationships/notesSlide" Target="/ppt/notesSlides/notesSlide2.xml" Id="R409eb9babfde45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7545c932cb44e4" /><Relationship Type="http://schemas.openxmlformats.org/officeDocument/2006/relationships/image" Target="/ppt/media/image.jpeg" Id="R3bf7e1e2538f4e2a" /><Relationship Type="http://schemas.openxmlformats.org/officeDocument/2006/relationships/notesSlide" Target="/ppt/notesSlides/notesSlide3.xml" Id="R7f53224c45b349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9d86cd0ff9466e" /><Relationship Type="http://schemas.openxmlformats.org/officeDocument/2006/relationships/image" Target="/ppt/media/image2.jpeg" Id="R57e428096cde4125" /><Relationship Type="http://schemas.openxmlformats.org/officeDocument/2006/relationships/notesSlide" Target="/ppt/notesSlides/notesSlide4.xml" Id="Rbee8ed237bfa4e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29800d777d46d4" /><Relationship Type="http://schemas.openxmlformats.org/officeDocument/2006/relationships/notesSlide" Target="/ppt/notesSlides/notesSlide5.xml" Id="R49bcba783fbf4b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2bf3c667cd47e0" /><Relationship Type="http://schemas.openxmlformats.org/officeDocument/2006/relationships/chart" Target="/ppt/slides/charts/chart1.xml" Id="Rb8b7297b40be4ed2" /><Relationship Type="http://schemas.openxmlformats.org/officeDocument/2006/relationships/notesSlide" Target="/ppt/notesSlides/notesSlide6.xml" Id="R578ee82b6a6d41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bd75bb761e4ec1" /><Relationship Type="http://schemas.openxmlformats.org/officeDocument/2006/relationships/notesSlide" Target="/ppt/notesSlides/notesSlide7.xml" Id="R58cecb5d9fdd4b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4ca8b4bb434b6c" /><Relationship Type="http://schemas.openxmlformats.org/officeDocument/2006/relationships/notesSlide" Target="/ppt/notesSlides/notesSlide8.xml" Id="Radbc3384c64c4cb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Incident runs</c:v>
          </c:tx>
          <c:spPr>
            <a:solidFill xmlns:a="http://schemas.openxmlformats.org/drawingml/2006/main">
              <a:srgbClr val="3468EF"/>
            </a:solidFill>
          </c:spPr>
          <c:dPt>
            <c:idx val="2"/>
            <c:invertIfNegative val="0"/>
            <c:spPr>
              <a:solidFill xmlns:a="http://schemas.openxmlformats.org/drawingml/2006/main">
                <a:srgbClr val="C5D2EB"/>
              </a:solidFill>
            </c:spPr>
          </c:dPt>
          <c:cat>
            <c:strRef>
              <c:f>'Chart Data'!$A$2:$A$4</c:f>
              <c:strCache>
                <c:ptCount val="3"/>
                <c:pt idx="0">
                  <c:v>Pool exhaustion</c:v>
                </c:pt>
                <c:pt idx="1">
                  <c:v>Retry storm</c:v>
                </c:pt>
                <c:pt idx="2">
                  <c:v>Disk saturation</c:v>
                </c:pt>
              </c:strCache>
            </c:strRef>
          </c:cat>
          <c:val>
            <c:numRef>
              <c:f>'Chart Data'!$B$2:$B$4</c:f>
              <c:numCache>
                <c:formatCode>General</c:formatCode>
                <c:ptCount val="3"/>
                <c:pt idx="0">
                  <c:v>5</c:v>
                </c:pt>
                <c:pt idx="1">
                  <c:v>3</c:v>
                </c:pt>
                <c:pt idx="2">
                  <c:v>1</c:v>
                </c:pt>
              </c:numCache>
            </c:numRef>
          </c:val>
        </c:ser>
        <c:dLbls>
          <c:txPr>
            <a:bodyPr xmlns:a="http://schemas.openxmlformats.org/drawingml/2006/main" anchorCtr="1"/>
            <a:lstStyle xmlns:a="http://schemas.openxmlformats.org/drawingml/2006/main"/>
            <a:p xmlns:a="http://schemas.openxmlformats.org/drawingml/2006/main">
              <a:pPr>
                <a:defRPr sz="2325" b="1">
                  <a:solidFill>
                    <a:srgbClr val="1525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B"/>
            </a:solidFill>
          </a:ln>
        </c:spPr>
        <c:txPr>
          <a:bodyPr xmlns:a="http://schemas.openxmlformats.org/drawingml/2006/main" anchorCtr="1"/>
          <a:lstStyle xmlns:a="http://schemas.openxmlformats.org/drawingml/2006/main"/>
          <a:p xmlns:a="http://schemas.openxmlformats.org/drawingml/2006/main">
            <a:pPr>
              <a:defRPr sz="1500">
                <a:solidFill>
                  <a:srgbClr val="64748B"/>
                </a:solidFill>
                <a:latin typeface="Helvetica Neue"/>
                <a:ea typeface="Helvetica Neue"/>
                <a:cs typeface="Helvetica Neue"/>
              </a:defRPr>
            </a:pPr>
          </a:p>
        </c:txPr>
        <c:crossAx val="48672768"/>
      </c:catAx>
      <c:valAx>
        <c:axId val="48672768"/>
        <c:scaling>
          <c:orientation val="minMax"/>
          <c:max val="6"/>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53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AC82E0-423B-4288-8098-29095603FD57}"/>
              </a:ext>
            </a:extLst>
          </p:cNvPr>
          <p:cNvSpPr>
            <a:spLocks xmlns:a="http://schemas.openxmlformats.org/drawingml/2006/main" noGrp="1"/>
          </p:cNvSpPr>
          <p:nvPr/>
        </p:nvSpPr>
        <p:spPr>
          <a:xfrm xmlns:a="http://schemas.openxmlformats.org/drawingml/2006/main">
            <a:off x="609600" y="457200"/>
            <a:ext cx="857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when &amp; what</a:t>
            </a:r>
          </a:p>
        </p:txBody>
      </p:sp>
      <p:sp>
        <p:nvSpPr>
          <p:cNvPr id="2" name="">
            <a:extLst xmlns:a="http://schemas.openxmlformats.org/drawingml/2006/main">
              <a:ext uri="{FF2B5EF4-FFF2-40B4-BE49-F238E27FC236}">
                <a16:creationId xmlns:a16="http://schemas.microsoft.com/office/drawing/2014/main" id="{D68004DA-7768-45CE-BC6F-72EC2AEAECD0}"/>
              </a:ext>
            </a:extLst>
          </p:cNvPr>
          <p:cNvSpPr>
            <a:spLocks xmlns:a="http://schemas.openxmlformats.org/drawingml/2006/main" noGrp="1"/>
          </p:cNvSpPr>
          <p:nvPr/>
        </p:nvSpPr>
        <p:spPr>
          <a:xfrm xmlns:a="http://schemas.openxmlformats.org/drawingml/2006/main">
            <a:off x="609600" y="1952625"/>
            <a:ext cx="1057275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Useful context.</a:t>
            </a:r>
          </a:p>
          <a:p xmlns:a="http://schemas.openxmlformats.org/drawingml/2006/main">
            <a:pPr>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Selective memory.</a:t>
            </a:r>
          </a:p>
        </p:txBody>
      </p:sp>
      <p:sp>
        <p:nvSpPr>
          <p:cNvPr id="3" name="">
            <a:extLst xmlns:a="http://schemas.openxmlformats.org/drawingml/2006/main">
              <a:ext uri="{FF2B5EF4-FFF2-40B4-BE49-F238E27FC236}">
                <a16:creationId xmlns:a16="http://schemas.microsoft.com/office/drawing/2014/main" id="{12B4B663-E69A-483B-B661-1CC15AB270D9}"/>
              </a:ext>
            </a:extLst>
          </p:cNvPr>
          <p:cNvSpPr>
            <a:spLocks xmlns:a="http://schemas.openxmlformats.org/drawingml/2006/main" noGrp="1"/>
          </p:cNvSpPr>
          <p:nvPr/>
        </p:nvSpPr>
        <p:spPr>
          <a:xfrm xmlns:a="http://schemas.openxmlformats.org/drawingml/2006/main">
            <a:off x="647700" y="4486275"/>
            <a:ext cx="1009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AABDDC"/>
                </a:solidFill>
                <a:latin typeface="Helvetica Neue"/>
                <a:ea typeface="Helvetica Neue"/>
                <a:cs typeface="Helvetica Neue"/>
              </a:defRPr>
            </a:pPr>
            <a:r>
              <a:rPr sz="2475" b="0">
                <a:solidFill>
                  <a:srgbClr val="AABDDC"/>
                </a:solidFill>
                <a:latin typeface="Helvetica Neue"/>
                <a:ea typeface="Helvetica Neue"/>
                <a:cs typeface="Helvetica Neue"/>
              </a:rPr>
              <a:t>A policy layer for what agents remember</a:t>
            </a:r>
          </a:p>
          <a:p xmlns:a="http://schemas.openxmlformats.org/drawingml/2006/main">
            <a:pPr>
              <a:defRPr sz="2475" b="0">
                <a:solidFill>
                  <a:srgbClr val="AABDDC"/>
                </a:solidFill>
                <a:latin typeface="Helvetica Neue"/>
                <a:ea typeface="Helvetica Neue"/>
                <a:cs typeface="Helvetica Neue"/>
              </a:defRPr>
            </a:pPr>
            <a:r>
              <a:rPr sz="2475" b="0">
                <a:solidFill>
                  <a:srgbClr val="AABDDC"/>
                </a:solidFill>
                <a:latin typeface="Helvetica Neue"/>
                <a:ea typeface="Helvetica Neue"/>
                <a:cs typeface="Helvetica Neue"/>
              </a:rPr>
              <a:t>and what models learn.</a:t>
            </a:r>
          </a:p>
        </p:txBody>
      </p:sp>
      <p:sp>
        <p:nvSpPr>
          <p:cNvPr id="4" name="">
            <a:extLst xmlns:a="http://schemas.openxmlformats.org/drawingml/2006/main">
              <a:ext uri="{FF2B5EF4-FFF2-40B4-BE49-F238E27FC236}">
                <a16:creationId xmlns:a16="http://schemas.microsoft.com/office/drawing/2014/main" id="{9BCCD4BA-D08E-4559-A5C7-FDD37CAB1F57}"/>
              </a:ext>
            </a:extLst>
          </p:cNvPr>
          <p:cNvSpPr>
            <a:spLocks xmlns:a="http://schemas.openxmlformats.org/drawingml/2006/main" noGrp="1"/>
          </p:cNvSpPr>
          <p:nvPr/>
        </p:nvSpPr>
        <p:spPr>
          <a:xfrm xmlns:a="http://schemas.openxmlformats.org/drawingml/2006/main">
            <a:off x="647700" y="61722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AABDDC"/>
                </a:solidFill>
                <a:latin typeface="Helvetica Neue"/>
                <a:ea typeface="Helvetica Neue"/>
                <a:cs typeface="Helvetica Neue"/>
              </a:defRPr>
            </a:pPr>
            <a:r>
              <a:rPr sz="1275" b="1">
                <a:solidFill>
                  <a:srgbClr val="AABDDC"/>
                </a:solidFill>
                <a:latin typeface="Helvetica Neue"/>
                <a:ea typeface="Helvetica Neue"/>
                <a:cs typeface="Helvetica Neue"/>
              </a:rPr>
              <a:t>OPS INCIDENT DEMO</a:t>
            </a:r>
          </a:p>
        </p:txBody>
      </p:sp>
    </p:spTree>
    <p:extLst>
      <p:ext uri="{BB962C8B-B14F-4D97-AF65-F5344CB8AC3E}">
        <p14:creationId xmlns:p14="http://schemas.microsoft.com/office/powerpoint/2010/main" val="975002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B714A00-A53A-4165-9569-AE60D3943424}"/>
              </a:ext>
            </a:extLst>
          </p:cNvPr>
          <p:cNvSpPr>
            <a:spLocks xmlns:a="http://schemas.openxmlformats.org/drawingml/2006/main" noGrp="1"/>
          </p:cNvSpPr>
          <p:nvPr/>
        </p:nvSpPr>
        <p:spPr>
          <a:xfrm xmlns:a="http://schemas.openxmlformats.org/drawingml/2006/main">
            <a:off x="609600" y="361950"/>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3468EF"/>
                </a:solidFill>
                <a:latin typeface="Helvetica Neue"/>
                <a:ea typeface="Helvetica Neue"/>
                <a:cs typeface="Helvetica Neue"/>
              </a:defRPr>
            </a:pPr>
            <a:r>
              <a:rPr sz="1125" b="1">
                <a:solidFill>
                  <a:srgbClr val="3468EF"/>
                </a:solidFill>
                <a:latin typeface="Helvetica Neue"/>
                <a:ea typeface="Helvetica Neue"/>
                <a:cs typeface="Helvetica Neue"/>
              </a:rPr>
              <a:t>PRODUCT PIPELINE</a:t>
            </a:r>
          </a:p>
        </p:txBody>
      </p:sp>
      <p:sp>
        <p:nvSpPr>
          <p:cNvPr id="2" name="">
            <a:extLst xmlns:a="http://schemas.openxmlformats.org/drawingml/2006/main">
              <a:ext uri="{FF2B5EF4-FFF2-40B4-BE49-F238E27FC236}">
                <a16:creationId xmlns:a16="http://schemas.microsoft.com/office/drawing/2014/main" id="{AE3239BA-0E53-4E0D-8890-DA47A24D0A08}"/>
              </a:ext>
            </a:extLst>
          </p:cNvPr>
          <p:cNvSpPr>
            <a:spLocks xmlns:a="http://schemas.openxmlformats.org/drawingml/2006/main" noGrp="1"/>
          </p:cNvSpPr>
          <p:nvPr/>
        </p:nvSpPr>
        <p:spPr>
          <a:xfrm xmlns:a="http://schemas.openxmlformats.org/drawingml/2006/main">
            <a:off x="609600" y="80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5253D"/>
                </a:solidFill>
                <a:latin typeface="Helvetica Neue"/>
                <a:ea typeface="Helvetica Neue"/>
                <a:cs typeface="Helvetica Neue"/>
              </a:defRPr>
            </a:pPr>
            <a:r>
              <a:rPr sz="3450" b="1">
                <a:solidFill>
                  <a:srgbClr val="15253D"/>
                </a:solidFill>
                <a:latin typeface="Helvetica Neue"/>
                <a:ea typeface="Helvetica Neue"/>
                <a:cs typeface="Helvetica Neue"/>
              </a:rPr>
              <a:t>A policy hook before persistent memory</a:t>
            </a:r>
          </a:p>
        </p:txBody>
      </p:sp>
      <p:sp>
        <p:nvSpPr>
          <p:cNvPr id="3" name="">
            <a:extLst xmlns:a="http://schemas.openxmlformats.org/drawingml/2006/main">
              <a:ext uri="{FF2B5EF4-FFF2-40B4-BE49-F238E27FC236}">
                <a16:creationId xmlns:a16="http://schemas.microsoft.com/office/drawing/2014/main" id="{BDF57EB5-5190-4A8C-835A-039C6B68ECC2}"/>
              </a:ext>
            </a:extLst>
          </p:cNvPr>
          <p:cNvSpPr>
            <a:spLocks xmlns:a="http://schemas.openxmlformats.org/drawingml/2006/main" noGrp="1"/>
          </p:cNvSpPr>
          <p:nvPr/>
        </p:nvSpPr>
        <p:spPr>
          <a:xfrm xmlns:a="http://schemas.openxmlformats.org/drawingml/2006/main">
            <a:off x="609600" y="151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The current task keeps its context. The persistent copy follows the rules.</a:t>
            </a:r>
          </a:p>
        </p:txBody>
      </p:sp>
      <p:sp>
        <p:nvSpPr>
          <p:cNvPr id="4" name="">
            <a:extLst xmlns:a="http://schemas.openxmlformats.org/drawingml/2006/main">
              <a:ext uri="{FF2B5EF4-FFF2-40B4-BE49-F238E27FC236}">
                <a16:creationId xmlns:a16="http://schemas.microsoft.com/office/drawing/2014/main" id="{3951A03A-F705-45DE-9D81-3CF94902316C}"/>
              </a:ext>
            </a:extLst>
          </p:cNvPr>
          <p:cNvSpPr>
            <a:spLocks xmlns:a="http://schemas.openxmlformats.org/drawingml/2006/main" noGrp="1"/>
          </p:cNvSpPr>
          <p:nvPr/>
        </p:nvSpPr>
        <p:spPr>
          <a:xfrm xmlns:a="http://schemas.openxmlformats.org/drawingml/2006/main">
            <a:off x="3162300" y="2124075"/>
            <a:ext cx="2286000" cy="514350"/>
          </a:xfrm>
          <a:prstGeom xmlns:a="http://schemas.openxmlformats.org/drawingml/2006/main" prst="rect">
            <a:avLst/>
          </a:prstGeom>
          <a:solidFill xmlns:a="http://schemas.openxmlformats.org/drawingml/2006/main">
            <a:srgbClr val="EAF0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4DAD27-EC93-4307-A275-BFEE58F97139}"/>
              </a:ext>
            </a:extLst>
          </p:cNvPr>
          <p:cNvSpPr>
            <a:spLocks xmlns:a="http://schemas.openxmlformats.org/drawingml/2006/main" noGrp="1"/>
          </p:cNvSpPr>
          <p:nvPr/>
        </p:nvSpPr>
        <p:spPr>
          <a:xfrm xmlns:a="http://schemas.openxmlformats.org/drawingml/2006/main">
            <a:off x="3276600" y="2181225"/>
            <a:ext cx="207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3468EF"/>
                </a:solidFill>
                <a:latin typeface="Helvetica Neue"/>
                <a:ea typeface="Helvetica Neue"/>
                <a:cs typeface="Helvetica Neue"/>
              </a:defRPr>
            </a:pPr>
            <a:r>
              <a:rPr sz="1275" b="1">
                <a:solidFill>
                  <a:srgbClr val="3468EF"/>
                </a:solidFill>
                <a:latin typeface="Helvetica Neue"/>
                <a:ea typeface="Helvetica Neue"/>
                <a:cs typeface="Helvetica Neue"/>
              </a:rPr>
              <a:t>company.md</a:t>
            </a:r>
          </a:p>
          <a:p xmlns:a="http://schemas.openxmlformats.org/drawingml/2006/main">
            <a:pPr>
              <a:defRPr sz="1275" b="1">
                <a:solidFill>
                  <a:srgbClr val="3468EF"/>
                </a:solidFill>
                <a:latin typeface="Helvetica Neue"/>
                <a:ea typeface="Helvetica Neue"/>
                <a:cs typeface="Helvetica Neue"/>
              </a:defRPr>
            </a:pPr>
            <a:r>
              <a:rPr sz="1275" b="1">
                <a:solidFill>
                  <a:srgbClr val="3468EF"/>
                </a:solidFill>
                <a:latin typeface="Helvetica Neue"/>
                <a:ea typeface="Helvetica Neue"/>
                <a:cs typeface="Helvetica Neue"/>
              </a:rPr>
              <a:t>employee.md</a:t>
            </a:r>
          </a:p>
        </p:txBody>
      </p:sp>
      <p:sp>
        <p:nvSpPr>
          <p:cNvPr id="6" name="">
            <a:extLst xmlns:a="http://schemas.openxmlformats.org/drawingml/2006/main">
              <a:ext uri="{FF2B5EF4-FFF2-40B4-BE49-F238E27FC236}">
                <a16:creationId xmlns:a16="http://schemas.microsoft.com/office/drawing/2014/main" id="{9BA361EB-CFBC-45E6-B597-42BE41D135BB}"/>
              </a:ext>
            </a:extLst>
          </p:cNvPr>
          <p:cNvSpPr>
            <a:spLocks xmlns:a="http://schemas.openxmlformats.org/drawingml/2006/main" noGrp="1"/>
          </p:cNvSpPr>
          <p:nvPr/>
        </p:nvSpPr>
        <p:spPr>
          <a:xfrm xmlns:a="http://schemas.openxmlformats.org/drawingml/2006/main">
            <a:off x="609600" y="3086100"/>
            <a:ext cx="2019300" cy="1257300"/>
          </a:xfrm>
          <a:prstGeom xmlns:a="http://schemas.openxmlformats.org/drawingml/2006/main" prst="rect">
            <a:avLst/>
          </a:prstGeom>
          <a:solidFill xmlns:a="http://schemas.openxmlformats.org/drawingml/2006/main">
            <a:srgbClr val="EEF2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5BA5984-B760-4A3B-AAB4-F582588383A3}"/>
              </a:ext>
            </a:extLst>
          </p:cNvPr>
          <p:cNvSpPr>
            <a:spLocks xmlns:a="http://schemas.openxmlformats.org/drawingml/2006/main" noGrp="1"/>
          </p:cNvSpPr>
          <p:nvPr/>
        </p:nvSpPr>
        <p:spPr>
          <a:xfrm xmlns:a="http://schemas.openxmlformats.org/drawingml/2006/main">
            <a:off x="800100" y="3276600"/>
            <a:ext cx="1638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5253D"/>
                </a:solidFill>
                <a:latin typeface="Helvetica Neue"/>
                <a:ea typeface="Helvetica Neue"/>
                <a:cs typeface="Helvetica Neue"/>
              </a:defRPr>
            </a:pPr>
            <a:r>
              <a:rPr sz="2325" b="1">
                <a:solidFill>
                  <a:srgbClr val="15253D"/>
                </a:solidFill>
                <a:latin typeface="Helvetica Neue"/>
                <a:ea typeface="Helvetica Neue"/>
                <a:cs typeface="Helvetica Neue"/>
              </a:rPr>
              <a:t>Agent</a:t>
            </a:r>
          </a:p>
        </p:txBody>
      </p:sp>
      <p:sp>
        <p:nvSpPr>
          <p:cNvPr id="8" name="">
            <a:extLst xmlns:a="http://schemas.openxmlformats.org/drawingml/2006/main">
              <a:ext uri="{FF2B5EF4-FFF2-40B4-BE49-F238E27FC236}">
                <a16:creationId xmlns:a16="http://schemas.microsoft.com/office/drawing/2014/main" id="{0950B256-EA2B-4E26-8B9D-1F1BCC20778A}"/>
              </a:ext>
            </a:extLst>
          </p:cNvPr>
          <p:cNvSpPr>
            <a:spLocks xmlns:a="http://schemas.openxmlformats.org/drawingml/2006/main" noGrp="1"/>
          </p:cNvSpPr>
          <p:nvPr/>
        </p:nvSpPr>
        <p:spPr>
          <a:xfrm xmlns:a="http://schemas.openxmlformats.org/drawingml/2006/main">
            <a:off x="800100" y="3781425"/>
            <a:ext cx="1676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Memory writes</a:t>
            </a:r>
          </a:p>
          <a:p xmlns:a="http://schemas.openxmlformats.org/drawingml/2006/main">
            <a:pPr>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Agent trajectories</a:t>
            </a:r>
          </a:p>
        </p:txBody>
      </p:sp>
      <p:sp>
        <p:nvSpPr>
          <p:cNvPr id="9" name="">
            <a:extLst xmlns:a="http://schemas.openxmlformats.org/drawingml/2006/main">
              <a:ext uri="{FF2B5EF4-FFF2-40B4-BE49-F238E27FC236}">
                <a16:creationId xmlns:a16="http://schemas.microsoft.com/office/drawing/2014/main" id="{E3F5BCDB-6955-44A3-9816-70E90859D889}"/>
              </a:ext>
            </a:extLst>
          </p:cNvPr>
          <p:cNvSpPr>
            <a:spLocks xmlns:a="http://schemas.openxmlformats.org/drawingml/2006/main" noGrp="1"/>
          </p:cNvSpPr>
          <p:nvPr/>
        </p:nvSpPr>
        <p:spPr>
          <a:xfrm xmlns:a="http://schemas.openxmlformats.org/drawingml/2006/main">
            <a:off x="3162300" y="3086100"/>
            <a:ext cx="2286000" cy="1257300"/>
          </a:xfrm>
          <a:prstGeom xmlns:a="http://schemas.openxmlformats.org/drawingml/2006/main" prst="rect">
            <a:avLst/>
          </a:prstGeom>
          <a:solidFill xmlns:a="http://schemas.openxmlformats.org/drawingml/2006/main">
            <a:srgbClr val="3468E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69EF3F-5FD4-4BB1-8B13-CA8FB3E8BDC9}"/>
              </a:ext>
            </a:extLst>
          </p:cNvPr>
          <p:cNvSpPr>
            <a:spLocks xmlns:a="http://schemas.openxmlformats.org/drawingml/2006/main" noGrp="1"/>
          </p:cNvSpPr>
          <p:nvPr/>
        </p:nvSpPr>
        <p:spPr>
          <a:xfrm xmlns:a="http://schemas.openxmlformats.org/drawingml/2006/main">
            <a:off x="3333750" y="3276600"/>
            <a:ext cx="194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When &amp; What</a:t>
            </a:r>
          </a:p>
        </p:txBody>
      </p:sp>
      <p:sp>
        <p:nvSpPr>
          <p:cNvPr id="11" name="">
            <a:extLst xmlns:a="http://schemas.openxmlformats.org/drawingml/2006/main">
              <a:ext uri="{FF2B5EF4-FFF2-40B4-BE49-F238E27FC236}">
                <a16:creationId xmlns:a16="http://schemas.microsoft.com/office/drawing/2014/main" id="{54E0B33B-FDCD-44E0-A346-269BADAF217B}"/>
              </a:ext>
            </a:extLst>
          </p:cNvPr>
          <p:cNvSpPr>
            <a:spLocks xmlns:a="http://schemas.openxmlformats.org/drawingml/2006/main" noGrp="1"/>
          </p:cNvSpPr>
          <p:nvPr/>
        </p:nvSpPr>
        <p:spPr>
          <a:xfrm xmlns:a="http://schemas.openxmlformats.org/drawingml/2006/main">
            <a:off x="3333750" y="3781425"/>
            <a:ext cx="19431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Listen, classify,</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and redact</a:t>
            </a:r>
          </a:p>
        </p:txBody>
      </p:sp>
      <p:sp>
        <p:nvSpPr>
          <p:cNvPr id="12" name="">
            <a:extLst xmlns:a="http://schemas.openxmlformats.org/drawingml/2006/main">
              <a:ext uri="{FF2B5EF4-FFF2-40B4-BE49-F238E27FC236}">
                <a16:creationId xmlns:a16="http://schemas.microsoft.com/office/drawing/2014/main" id="{C946264B-800C-4D44-BA2F-9982EF88576C}"/>
              </a:ext>
            </a:extLst>
          </p:cNvPr>
          <p:cNvSpPr>
            <a:spLocks xmlns:a="http://schemas.openxmlformats.org/drawingml/2006/main" noGrp="1"/>
          </p:cNvSpPr>
          <p:nvPr/>
        </p:nvSpPr>
        <p:spPr>
          <a:xfrm xmlns:a="http://schemas.openxmlformats.org/drawingml/2006/main">
            <a:off x="5981700" y="3086100"/>
            <a:ext cx="2286000" cy="1257300"/>
          </a:xfrm>
          <a:prstGeom xmlns:a="http://schemas.openxmlformats.org/drawingml/2006/main" prst="rect">
            <a:avLst/>
          </a:prstGeom>
          <a:solidFill xmlns:a="http://schemas.openxmlformats.org/drawingml/2006/main">
            <a:srgbClr val="EAF0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8B14B53-D8CB-4212-85D8-825DF91B2860}"/>
              </a:ext>
            </a:extLst>
          </p:cNvPr>
          <p:cNvSpPr>
            <a:spLocks xmlns:a="http://schemas.openxmlformats.org/drawingml/2006/main" noGrp="1"/>
          </p:cNvSpPr>
          <p:nvPr/>
        </p:nvSpPr>
        <p:spPr>
          <a:xfrm xmlns:a="http://schemas.openxmlformats.org/drawingml/2006/main">
            <a:off x="6162675" y="327660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5253D"/>
                </a:solidFill>
                <a:latin typeface="Helvetica Neue"/>
                <a:ea typeface="Helvetica Neue"/>
                <a:cs typeface="Helvetica Neue"/>
              </a:defRPr>
            </a:pPr>
            <a:r>
              <a:rPr sz="1950" b="1">
                <a:solidFill>
                  <a:srgbClr val="15253D"/>
                </a:solidFill>
                <a:latin typeface="Helvetica Neue"/>
                <a:ea typeface="Helvetica Neue"/>
                <a:cs typeface="Helvetica Neue"/>
              </a:rPr>
              <a:t>Cleaned output</a:t>
            </a:r>
          </a:p>
        </p:txBody>
      </p:sp>
      <p:sp>
        <p:nvSpPr>
          <p:cNvPr id="14" name="">
            <a:extLst xmlns:a="http://schemas.openxmlformats.org/drawingml/2006/main">
              <a:ext uri="{FF2B5EF4-FFF2-40B4-BE49-F238E27FC236}">
                <a16:creationId xmlns:a16="http://schemas.microsoft.com/office/drawing/2014/main" id="{CFB0EE95-8096-4641-AA2B-E58D1501F11F}"/>
              </a:ext>
            </a:extLst>
          </p:cNvPr>
          <p:cNvSpPr>
            <a:spLocks xmlns:a="http://schemas.openxmlformats.org/drawingml/2006/main" noGrp="1"/>
          </p:cNvSpPr>
          <p:nvPr/>
        </p:nvSpPr>
        <p:spPr>
          <a:xfrm xmlns:a="http://schemas.openxmlformats.org/drawingml/2006/main">
            <a:off x="6162675" y="3781425"/>
            <a:ext cx="1952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Useful facts</a:t>
            </a:r>
          </a:p>
          <a:p xmlns:a="http://schemas.openxmlformats.org/drawingml/2006/main">
            <a:pPr>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Sanitized trajectory</a:t>
            </a:r>
          </a:p>
        </p:txBody>
      </p:sp>
      <p:sp>
        <p:nvSpPr>
          <p:cNvPr id="15" name="">
            <a:extLst xmlns:a="http://schemas.openxmlformats.org/drawingml/2006/main">
              <a:ext uri="{FF2B5EF4-FFF2-40B4-BE49-F238E27FC236}">
                <a16:creationId xmlns:a16="http://schemas.microsoft.com/office/drawing/2014/main" id="{4563C651-33E6-418B-BDE5-23975C054539}"/>
              </a:ext>
            </a:extLst>
          </p:cNvPr>
          <p:cNvSpPr>
            <a:spLocks xmlns:a="http://schemas.openxmlformats.org/drawingml/2006/main" noGrp="1"/>
          </p:cNvSpPr>
          <p:nvPr/>
        </p:nvSpPr>
        <p:spPr>
          <a:xfrm xmlns:a="http://schemas.openxmlformats.org/drawingml/2006/main">
            <a:off x="8801100" y="3086100"/>
            <a:ext cx="2781300" cy="1257300"/>
          </a:xfrm>
          <a:prstGeom xmlns:a="http://schemas.openxmlformats.org/drawingml/2006/main" prst="rect">
            <a:avLst/>
          </a:prstGeom>
          <a:solidFill xmlns:a="http://schemas.openxmlformats.org/drawingml/2006/main">
            <a:srgbClr val="15253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97244C8-4AD4-4081-B57D-C3F5618682C3}"/>
              </a:ext>
            </a:extLst>
          </p:cNvPr>
          <p:cNvSpPr>
            <a:spLocks xmlns:a="http://schemas.openxmlformats.org/drawingml/2006/main" noGrp="1"/>
          </p:cNvSpPr>
          <p:nvPr/>
        </p:nvSpPr>
        <p:spPr>
          <a:xfrm xmlns:a="http://schemas.openxmlformats.org/drawingml/2006/main">
            <a:off x="9010650" y="327660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GBrain</a:t>
            </a:r>
          </a:p>
        </p:txBody>
      </p:sp>
      <p:sp>
        <p:nvSpPr>
          <p:cNvPr id="17" name="">
            <a:extLst xmlns:a="http://schemas.openxmlformats.org/drawingml/2006/main">
              <a:ext uri="{FF2B5EF4-FFF2-40B4-BE49-F238E27FC236}">
                <a16:creationId xmlns:a16="http://schemas.microsoft.com/office/drawing/2014/main" id="{E4643E94-62FC-42C5-8315-1BA7C1BDC729}"/>
              </a:ext>
            </a:extLst>
          </p:cNvPr>
          <p:cNvSpPr>
            <a:spLocks xmlns:a="http://schemas.openxmlformats.org/drawingml/2006/main" noGrp="1"/>
          </p:cNvSpPr>
          <p:nvPr/>
        </p:nvSpPr>
        <p:spPr>
          <a:xfrm xmlns:a="http://schemas.openxmlformats.org/drawingml/2006/main">
            <a:off x="9010650" y="3781425"/>
            <a:ext cx="2362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AABDDC"/>
                </a:solidFill>
                <a:latin typeface="Helvetica Neue"/>
                <a:ea typeface="Helvetica Neue"/>
                <a:cs typeface="Helvetica Neue"/>
              </a:defRPr>
            </a:pPr>
            <a:r>
              <a:rPr sz="1575" b="0">
                <a:solidFill>
                  <a:srgbClr val="AABDDC"/>
                </a:solidFill>
                <a:latin typeface="Helvetica Neue"/>
                <a:ea typeface="Helvetica Neue"/>
                <a:cs typeface="Helvetica Neue"/>
              </a:rPr>
              <a:t>Memory for future tasks</a:t>
            </a:r>
          </a:p>
          <a:p xmlns:a="http://schemas.openxmlformats.org/drawingml/2006/main">
            <a:pPr>
              <a:defRPr sz="1575" b="0">
                <a:solidFill>
                  <a:srgbClr val="AABDDC"/>
                </a:solidFill>
                <a:latin typeface="Helvetica Neue"/>
                <a:ea typeface="Helvetica Neue"/>
                <a:cs typeface="Helvetica Neue"/>
              </a:defRPr>
            </a:pPr>
            <a:r>
              <a:rPr sz="1575" b="0">
                <a:solidFill>
                  <a:srgbClr val="AABDDC"/>
                </a:solidFill>
                <a:latin typeface="Helvetica Neue"/>
                <a:ea typeface="Helvetica Neue"/>
                <a:cs typeface="Helvetica Neue"/>
              </a:rPr>
              <a:t>Handoff simulated</a:t>
            </a:r>
          </a:p>
        </p:txBody>
      </p:sp>
      <p:sp>
        <p:nvSpPr>
          <p:cNvPr id="18" name="">
            <a:extLst xmlns:a="http://schemas.openxmlformats.org/drawingml/2006/main">
              <a:ext uri="{FF2B5EF4-FFF2-40B4-BE49-F238E27FC236}">
                <a16:creationId xmlns:a16="http://schemas.microsoft.com/office/drawing/2014/main" id="{9F4AB825-EA1F-4373-90F9-03D7467B85E5}"/>
              </a:ext>
            </a:extLst>
          </p:cNvPr>
          <p:cNvSpPr>
            <a:spLocks xmlns:a="http://schemas.openxmlformats.org/drawingml/2006/main" noGrp="1"/>
          </p:cNvSpPr>
          <p:nvPr/>
        </p:nvSpPr>
        <p:spPr>
          <a:xfrm xmlns:a="http://schemas.openxmlformats.org/drawingml/2006/main">
            <a:off x="3162300" y="4810125"/>
            <a:ext cx="2286000" cy="676275"/>
          </a:xfrm>
          <a:prstGeom xmlns:a="http://schemas.openxmlformats.org/drawingml/2006/main" prst="rect">
            <a:avLst/>
          </a:prstGeom>
          <a:solidFill xmlns:a="http://schemas.openxmlformats.org/drawingml/2006/main">
            <a:srgbClr val="FFFFFF"/>
          </a:solidFill>
          <a:ln xmlns:a="http://schemas.openxmlformats.org/drawingml/2006/main" w="9525">
            <a:solidFill>
              <a:srgbClr val="D7DFEB"/>
            </a:solidFill>
          </a:ln>
        </p:spPr>
      </p:sp>
      <p:sp>
        <p:nvSpPr>
          <p:cNvPr id="19" name="">
            <a:extLst xmlns:a="http://schemas.openxmlformats.org/drawingml/2006/main">
              <a:ext uri="{FF2B5EF4-FFF2-40B4-BE49-F238E27FC236}">
                <a16:creationId xmlns:a16="http://schemas.microsoft.com/office/drawing/2014/main" id="{D0E7A973-A71F-40BA-A556-7CF7E8089B7D}"/>
              </a:ext>
            </a:extLst>
          </p:cNvPr>
          <p:cNvSpPr>
            <a:spLocks xmlns:a="http://schemas.openxmlformats.org/drawingml/2006/main" noGrp="1"/>
          </p:cNvSpPr>
          <p:nvPr/>
        </p:nvSpPr>
        <p:spPr>
          <a:xfrm xmlns:a="http://schemas.openxmlformats.org/drawingml/2006/main">
            <a:off x="3333750" y="4914900"/>
            <a:ext cx="1943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5253D"/>
                </a:solidFill>
                <a:latin typeface="Helvetica Neue"/>
                <a:ea typeface="Helvetica Neue"/>
                <a:cs typeface="Helvetica Neue"/>
              </a:defRPr>
            </a:pPr>
            <a:r>
              <a:rPr sz="1575" b="1">
                <a:solidFill>
                  <a:srgbClr val="15253D"/>
                </a:solidFill>
                <a:latin typeface="Helvetica Neue"/>
                <a:ea typeface="Helvetica Neue"/>
                <a:cs typeface="Helvetica Neue"/>
              </a:rPr>
              <a:t>Jev decisions</a:t>
            </a:r>
          </a:p>
        </p:txBody>
      </p:sp>
      <p:sp>
        <p:nvSpPr>
          <p:cNvPr id="20" name="">
            <a:extLst xmlns:a="http://schemas.openxmlformats.org/drawingml/2006/main">
              <a:ext uri="{FF2B5EF4-FFF2-40B4-BE49-F238E27FC236}">
                <a16:creationId xmlns:a16="http://schemas.microsoft.com/office/drawing/2014/main" id="{B66972B8-E9CB-43A0-AF47-F3544C20C585}"/>
              </a:ext>
            </a:extLst>
          </p:cNvPr>
          <p:cNvSpPr>
            <a:spLocks xmlns:a="http://schemas.openxmlformats.org/drawingml/2006/main" noGrp="1"/>
          </p:cNvSpPr>
          <p:nvPr/>
        </p:nvSpPr>
        <p:spPr>
          <a:xfrm xmlns:a="http://schemas.openxmlformats.org/drawingml/2006/main">
            <a:off x="3333750" y="5210175"/>
            <a:ext cx="1943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Simulated classifier</a:t>
            </a:r>
          </a:p>
        </p:txBody>
      </p:sp>
      <p:sp>
        <p:nvSpPr>
          <p:cNvPr id="21" name="">
            <a:extLst xmlns:a="http://schemas.openxmlformats.org/drawingml/2006/main">
              <a:ext uri="{FF2B5EF4-FFF2-40B4-BE49-F238E27FC236}">
                <a16:creationId xmlns:a16="http://schemas.microsoft.com/office/drawing/2014/main" id="{C2BE28B7-B6E1-49DF-AA99-F2C43F0498DD}"/>
              </a:ext>
            </a:extLst>
          </p:cNvPr>
          <p:cNvSpPr>
            <a:spLocks xmlns:a="http://schemas.openxmlformats.org/drawingml/2006/main" noGrp="1"/>
          </p:cNvSpPr>
          <p:nvPr/>
        </p:nvSpPr>
        <p:spPr>
          <a:xfrm xmlns:a="http://schemas.openxmlformats.org/drawingml/2006/main">
            <a:off x="5981700" y="4810125"/>
            <a:ext cx="2286000" cy="676275"/>
          </a:xfrm>
          <a:prstGeom xmlns:a="http://schemas.openxmlformats.org/drawingml/2006/main" prst="rect">
            <a:avLst/>
          </a:prstGeom>
          <a:solidFill xmlns:a="http://schemas.openxmlformats.org/drawingml/2006/main">
            <a:srgbClr val="FFFFFF"/>
          </a:solidFill>
          <a:ln xmlns:a="http://schemas.openxmlformats.org/drawingml/2006/main" w="9525">
            <a:solidFill>
              <a:srgbClr val="D7DFEB"/>
            </a:solidFill>
          </a:ln>
        </p:spPr>
      </p:sp>
      <p:sp>
        <p:nvSpPr>
          <p:cNvPr id="22" name="">
            <a:extLst xmlns:a="http://schemas.openxmlformats.org/drawingml/2006/main">
              <a:ext uri="{FF2B5EF4-FFF2-40B4-BE49-F238E27FC236}">
                <a16:creationId xmlns:a16="http://schemas.microsoft.com/office/drawing/2014/main" id="{61BDC3C1-DE0A-4CCC-8BA8-AF39989B0C49}"/>
              </a:ext>
            </a:extLst>
          </p:cNvPr>
          <p:cNvSpPr>
            <a:spLocks xmlns:a="http://schemas.openxmlformats.org/drawingml/2006/main" noGrp="1"/>
          </p:cNvSpPr>
          <p:nvPr/>
        </p:nvSpPr>
        <p:spPr>
          <a:xfrm xmlns:a="http://schemas.openxmlformats.org/drawingml/2006/main">
            <a:off x="6162675" y="49149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5253D"/>
                </a:solidFill>
                <a:latin typeface="Helvetica Neue"/>
                <a:ea typeface="Helvetica Neue"/>
                <a:cs typeface="Helvetica Neue"/>
              </a:defRPr>
            </a:pPr>
            <a:r>
              <a:rPr sz="1575" b="1">
                <a:solidFill>
                  <a:srgbClr val="15253D"/>
                </a:solidFill>
                <a:latin typeface="Helvetica Neue"/>
                <a:ea typeface="Helvetica Neue"/>
                <a:cs typeface="Helvetica Neue"/>
              </a:rPr>
              <a:t>Training export</a:t>
            </a:r>
          </a:p>
        </p:txBody>
      </p:sp>
      <p:sp>
        <p:nvSpPr>
          <p:cNvPr id="23" name="">
            <a:extLst xmlns:a="http://schemas.openxmlformats.org/drawingml/2006/main">
              <a:ext uri="{FF2B5EF4-FFF2-40B4-BE49-F238E27FC236}">
                <a16:creationId xmlns:a16="http://schemas.microsoft.com/office/drawing/2014/main" id="{44F7FB02-D3C9-4A18-A7DA-C1F1790496F2}"/>
              </a:ext>
            </a:extLst>
          </p:cNvPr>
          <p:cNvSpPr>
            <a:spLocks xmlns:a="http://schemas.openxmlformats.org/drawingml/2006/main" noGrp="1"/>
          </p:cNvSpPr>
          <p:nvPr/>
        </p:nvSpPr>
        <p:spPr>
          <a:xfrm xmlns:a="http://schemas.openxmlformats.org/drawingml/2006/main">
            <a:off x="6162675" y="5210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Separate permission</a:t>
            </a:r>
          </a:p>
        </p:txBody>
      </p:sp>
      <p:cxnSp>
        <p:nvCxnSpPr>
          <p:cNvPr id="57" name=""/>
          <p:cNvCxnSpPr>
            <a:stCxn xmlns:a="http://schemas.openxmlformats.org/drawingml/2006/main" id="6" idx="3"/>
            <a:endCxn xmlns:a="http://schemas.openxmlformats.org/drawingml/2006/main" id="9" idx="1"/>
          </p:cNvCxnSpPr>
          <p:nvPr/>
        </p:nvCxnSpPr>
        <p:spPr>
          <a:xfrm xmlns:a="http://schemas.openxmlformats.org/drawingml/2006/main">
            <a:off x="2628900" y="3714750"/>
            <a:ext cx="533400" cy="0"/>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cxnSp>
        <p:nvCxnSpPr>
          <p:cNvPr id="58" name=""/>
          <p:cNvCxnSpPr>
            <a:stCxn xmlns:a="http://schemas.openxmlformats.org/drawingml/2006/main" id="9" idx="3"/>
            <a:endCxn xmlns:a="http://schemas.openxmlformats.org/drawingml/2006/main" id="12" idx="1"/>
          </p:cNvCxnSpPr>
          <p:nvPr/>
        </p:nvCxnSpPr>
        <p:spPr>
          <a:xfrm xmlns:a="http://schemas.openxmlformats.org/drawingml/2006/main">
            <a:off x="5448300" y="3714750"/>
            <a:ext cx="533400" cy="0"/>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cxnSp>
        <p:nvCxnSpPr>
          <p:cNvPr id="59" name=""/>
          <p:cNvCxnSpPr>
            <a:stCxn xmlns:a="http://schemas.openxmlformats.org/drawingml/2006/main" id="12" idx="3"/>
            <a:endCxn xmlns:a="http://schemas.openxmlformats.org/drawingml/2006/main" id="15" idx="1"/>
          </p:cNvCxnSpPr>
          <p:nvPr/>
        </p:nvCxnSpPr>
        <p:spPr>
          <a:xfrm xmlns:a="http://schemas.openxmlformats.org/drawingml/2006/main">
            <a:off x="8267700" y="3714750"/>
            <a:ext cx="533400" cy="0"/>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cxnSp>
        <p:nvCxnSpPr>
          <p:cNvPr id="60" name=""/>
          <p:cNvCxnSpPr>
            <a:stCxn xmlns:a="http://schemas.openxmlformats.org/drawingml/2006/main" id="4" idx="2"/>
            <a:endCxn xmlns:a="http://schemas.openxmlformats.org/drawingml/2006/main" id="9" idx="0"/>
          </p:cNvCxnSpPr>
          <p:nvPr/>
        </p:nvCxnSpPr>
        <p:spPr>
          <a:xfrm xmlns:a="http://schemas.openxmlformats.org/drawingml/2006/main">
            <a:off x="4305300" y="2638425"/>
            <a:ext cx="0" cy="447675"/>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cxnSp>
        <p:nvCxnSpPr>
          <p:cNvPr id="61" name=""/>
          <p:cNvCxnSpPr>
            <a:stCxn xmlns:a="http://schemas.openxmlformats.org/drawingml/2006/main" id="18" idx="0"/>
            <a:endCxn xmlns:a="http://schemas.openxmlformats.org/drawingml/2006/main" id="9" idx="2"/>
          </p:cNvCxnSpPr>
          <p:nvPr/>
        </p:nvCxnSpPr>
        <p:spPr>
          <a:xfrm xmlns:a="http://schemas.openxmlformats.org/drawingml/2006/main" flipV="1">
            <a:off x="4305300" y="4343400"/>
            <a:ext cx="0" cy="466725"/>
          </a:xfrm>
          <a:prstGeom xmlns:a="http://schemas.openxmlformats.org/drawingml/2006/main" prst="straightConnector1">
            <a:avLst/>
          </a:prstGeom>
          <a:ln xmlns:a="http://schemas.openxmlformats.org/drawingml/2006/main" w="19050">
            <a:solidFill>
              <a:srgbClr val="3468EF"/>
            </a:solidFill>
            <a:prstDash val="dash"/>
            <a:tailEnd type="triangle" w="sm" len="sm"/>
          </a:ln>
        </p:spPr>
      </p:cxnSp>
      <p:cxnSp>
        <p:nvCxnSpPr>
          <p:cNvPr id="62" name=""/>
          <p:cNvCxnSpPr>
            <a:stCxn xmlns:a="http://schemas.openxmlformats.org/drawingml/2006/main" id="12" idx="2"/>
            <a:endCxn xmlns:a="http://schemas.openxmlformats.org/drawingml/2006/main" id="21" idx="0"/>
          </p:cNvCxnSpPr>
          <p:nvPr/>
        </p:nvCxnSpPr>
        <p:spPr>
          <a:xfrm xmlns:a="http://schemas.openxmlformats.org/drawingml/2006/main">
            <a:off x="7124700" y="4343400"/>
            <a:ext cx="0" cy="466725"/>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sp>
        <p:nvSpPr>
          <p:cNvPr id="30" name="">
            <a:extLst xmlns:a="http://schemas.openxmlformats.org/drawingml/2006/main">
              <a:ext uri="{FF2B5EF4-FFF2-40B4-BE49-F238E27FC236}">
                <a16:creationId xmlns:a16="http://schemas.microsoft.com/office/drawing/2014/main" id="{FADFBA79-EF8E-464E-9AED-FB771B627532}"/>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9C19AFA-DA34-4009-89F0-41BEF95E96FB}"/>
              </a:ext>
            </a:extLst>
          </p:cNvPr>
          <p:cNvSpPr>
            <a:spLocks xmlns:a="http://schemas.openxmlformats.org/drawingml/2006/main" noGrp="1"/>
          </p:cNvSpPr>
          <p:nvPr/>
        </p:nvSpPr>
        <p:spPr>
          <a:xfrm xmlns:a="http://schemas.openxmlformats.org/drawingml/2006/main">
            <a:off x="609600" y="648652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15253D"/>
                </a:solidFill>
                <a:latin typeface="Helvetica Neue"/>
                <a:ea typeface="Helvetica Neue"/>
                <a:cs typeface="Helvetica Neue"/>
              </a:defRPr>
            </a:pPr>
            <a:r>
              <a:rPr sz="1125" b="1">
                <a:solidFill>
                  <a:srgbClr val="15253D"/>
                </a:solidFill>
                <a:latin typeface="Helvetica Neue"/>
                <a:ea typeface="Helvetica Neue"/>
                <a:cs typeface="Helvetica Neue"/>
              </a:rPr>
              <a:t>when &amp; what</a:t>
            </a:r>
          </a:p>
        </p:txBody>
      </p:sp>
      <p:sp>
        <p:nvSpPr>
          <p:cNvPr id="32" name="">
            <a:extLst xmlns:a="http://schemas.openxmlformats.org/drawingml/2006/main">
              <a:ext uri="{FF2B5EF4-FFF2-40B4-BE49-F238E27FC236}">
                <a16:creationId xmlns:a16="http://schemas.microsoft.com/office/drawing/2014/main" id="{480E75FA-E63D-4C9C-9257-C59652D03D1F}"/>
              </a:ext>
            </a:extLst>
          </p:cNvPr>
          <p:cNvSpPr>
            <a:spLocks xmlns:a="http://schemas.openxmlformats.org/drawingml/2006/main" noGrp="1"/>
          </p:cNvSpPr>
          <p:nvPr/>
        </p:nvSpPr>
        <p:spPr>
          <a:xfrm xmlns:a="http://schemas.openxmlformats.org/drawingml/2006/main">
            <a:off x="2581275" y="647700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Deterministic local rules run today. Jev and GBrain are integration points.</a:t>
            </a:r>
          </a:p>
        </p:txBody>
      </p:sp>
      <p:sp>
        <p:nvSpPr>
          <p:cNvPr id="33" name="">
            <a:extLst xmlns:a="http://schemas.openxmlformats.org/drawingml/2006/main">
              <a:ext uri="{FF2B5EF4-FFF2-40B4-BE49-F238E27FC236}">
                <a16:creationId xmlns:a16="http://schemas.microsoft.com/office/drawing/2014/main" id="{E67FF085-4BB3-4080-9E03-64428E5180DC}"/>
              </a:ext>
            </a:extLst>
          </p:cNvPr>
          <p:cNvSpPr>
            <a:spLocks xmlns:a="http://schemas.openxmlformats.org/drawingml/2006/main" noGrp="1"/>
          </p:cNvSpPr>
          <p:nvPr/>
        </p:nvSpPr>
        <p:spPr>
          <a:xfrm xmlns:a="http://schemas.openxmlformats.org/drawingml/2006/main">
            <a:off x="11210925"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02</a:t>
            </a:r>
          </a:p>
        </p:txBody>
      </p:sp>
    </p:spTree>
    <p:extLst>
      <p:ext uri="{BB962C8B-B14F-4D97-AF65-F5344CB8AC3E}">
        <p14:creationId xmlns:p14="http://schemas.microsoft.com/office/powerpoint/2010/main" val="1054110538"/>
      </p:ext>
    </p:extLst>
  </p:cSld>
</p:sld>
</file>

<file path=ppt/slides/slide3.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bf7e1e2538f4e2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99755865"/>
      </p:ext>
    </p:extLst>
  </p:cSld>
</p:sld>
</file>

<file path=ppt/slides/slide4.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7e428096cde412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73441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43D4FB3-9416-4ADE-AA21-E193A946EAC8}"/>
              </a:ext>
            </a:extLst>
          </p:cNvPr>
          <p:cNvSpPr>
            <a:spLocks xmlns:a="http://schemas.openxmlformats.org/drawingml/2006/main" noGrp="1"/>
          </p:cNvSpPr>
          <p:nvPr/>
        </p:nvSpPr>
        <p:spPr>
          <a:xfrm xmlns:a="http://schemas.openxmlformats.org/drawingml/2006/main">
            <a:off x="609600" y="361950"/>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3468EF"/>
                </a:solidFill>
                <a:latin typeface="Helvetica Neue"/>
                <a:ea typeface="Helvetica Neue"/>
                <a:cs typeface="Helvetica Neue"/>
              </a:defRPr>
            </a:pPr>
            <a:r>
              <a:rPr sz="1125" b="1">
                <a:solidFill>
                  <a:srgbClr val="3468EF"/>
                </a:solidFill>
                <a:latin typeface="Helvetica Neue"/>
                <a:ea typeface="Helvetica Neue"/>
                <a:cs typeface="Helvetica Neue"/>
              </a:rPr>
              <a:t>RULES AND PERSONALIZATION</a:t>
            </a:r>
          </a:p>
        </p:txBody>
      </p:sp>
      <p:sp>
        <p:nvSpPr>
          <p:cNvPr id="2" name="">
            <a:extLst xmlns:a="http://schemas.openxmlformats.org/drawingml/2006/main">
              <a:ext uri="{FF2B5EF4-FFF2-40B4-BE49-F238E27FC236}">
                <a16:creationId xmlns:a16="http://schemas.microsoft.com/office/drawing/2014/main" id="{828ACFFC-9D10-4BD7-A282-A1459D46FB68}"/>
              </a:ext>
            </a:extLst>
          </p:cNvPr>
          <p:cNvSpPr>
            <a:spLocks xmlns:a="http://schemas.openxmlformats.org/drawingml/2006/main" noGrp="1"/>
          </p:cNvSpPr>
          <p:nvPr/>
        </p:nvSpPr>
        <p:spPr>
          <a:xfrm xmlns:a="http://schemas.openxmlformats.org/drawingml/2006/main">
            <a:off x="609600" y="80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5253D"/>
                </a:solidFill>
                <a:latin typeface="Helvetica Neue"/>
                <a:ea typeface="Helvetica Neue"/>
                <a:cs typeface="Helvetica Neue"/>
              </a:defRPr>
            </a:pPr>
            <a:r>
              <a:rPr sz="3450" b="1">
                <a:solidFill>
                  <a:srgbClr val="15253D"/>
                </a:solidFill>
                <a:latin typeface="Helvetica Neue"/>
                <a:ea typeface="Helvetica Neue"/>
                <a:cs typeface="Helvetica Neue"/>
              </a:rPr>
              <a:t>Two files decide what survives</a:t>
            </a:r>
          </a:p>
        </p:txBody>
      </p:sp>
      <p:sp>
        <p:nvSpPr>
          <p:cNvPr id="3" name="">
            <a:extLst xmlns:a="http://schemas.openxmlformats.org/drawingml/2006/main">
              <a:ext uri="{FF2B5EF4-FFF2-40B4-BE49-F238E27FC236}">
                <a16:creationId xmlns:a16="http://schemas.microsoft.com/office/drawing/2014/main" id="{0CBF31A2-54BC-4998-BE3E-C67C5526E4C4}"/>
              </a:ext>
            </a:extLst>
          </p:cNvPr>
          <p:cNvSpPr>
            <a:spLocks xmlns:a="http://schemas.openxmlformats.org/drawingml/2006/main" noGrp="1"/>
          </p:cNvSpPr>
          <p:nvPr/>
        </p:nvSpPr>
        <p:spPr>
          <a:xfrm xmlns:a="http://schemas.openxmlformats.org/drawingml/2006/main">
            <a:off x="609600" y="151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Company restrictions and personal preferences meet at the same hook.</a:t>
            </a:r>
          </a:p>
        </p:txBody>
      </p:sp>
      <p:sp>
        <p:nvSpPr>
          <p:cNvPr id="4" name="">
            <a:extLst xmlns:a="http://schemas.openxmlformats.org/drawingml/2006/main">
              <a:ext uri="{FF2B5EF4-FFF2-40B4-BE49-F238E27FC236}">
                <a16:creationId xmlns:a16="http://schemas.microsoft.com/office/drawing/2014/main" id="{7F6240A8-D93C-4EF3-AAD5-069C8E037C92}"/>
              </a:ext>
            </a:extLst>
          </p:cNvPr>
          <p:cNvSpPr>
            <a:spLocks xmlns:a="http://schemas.openxmlformats.org/drawingml/2006/main" noGrp="1"/>
          </p:cNvSpPr>
          <p:nvPr/>
        </p:nvSpPr>
        <p:spPr>
          <a:xfrm xmlns:a="http://schemas.openxmlformats.org/drawingml/2006/main">
            <a:off x="609600" y="2314575"/>
            <a:ext cx="5238750" cy="2895600"/>
          </a:xfrm>
          <a:prstGeom xmlns:a="http://schemas.openxmlformats.org/drawingml/2006/main" prst="rect">
            <a:avLst/>
          </a:prstGeom>
          <a:solidFill xmlns:a="http://schemas.openxmlformats.org/drawingml/2006/main">
            <a:srgbClr val="EEF2F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13BB8B-2E6A-4135-A9E2-BF3563139A62}"/>
              </a:ext>
            </a:extLst>
          </p:cNvPr>
          <p:cNvSpPr>
            <a:spLocks xmlns:a="http://schemas.openxmlformats.org/drawingml/2006/main" noGrp="1"/>
          </p:cNvSpPr>
          <p:nvPr/>
        </p:nvSpPr>
        <p:spPr>
          <a:xfrm xmlns:a="http://schemas.openxmlformats.org/drawingml/2006/main">
            <a:off x="6134100" y="2314575"/>
            <a:ext cx="5448300" cy="2895600"/>
          </a:xfrm>
          <a:prstGeom xmlns:a="http://schemas.openxmlformats.org/drawingml/2006/main" prst="rect">
            <a:avLst/>
          </a:prstGeom>
          <a:solidFill xmlns:a="http://schemas.openxmlformats.org/drawingml/2006/main">
            <a:srgbClr val="EA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29DF6ED-FCD9-4F2C-9076-F9A3596C80C4}"/>
              </a:ext>
            </a:extLst>
          </p:cNvPr>
          <p:cNvSpPr>
            <a:spLocks xmlns:a="http://schemas.openxmlformats.org/drawingml/2006/main" noGrp="1"/>
          </p:cNvSpPr>
          <p:nvPr/>
        </p:nvSpPr>
        <p:spPr>
          <a:xfrm xmlns:a="http://schemas.openxmlformats.org/drawingml/2006/main">
            <a:off x="819150" y="2505075"/>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5253D"/>
                </a:solidFill>
                <a:latin typeface="Helvetica Neue"/>
                <a:ea typeface="Helvetica Neue"/>
                <a:cs typeface="Helvetica Neue"/>
              </a:defRPr>
            </a:pPr>
            <a:r>
              <a:rPr sz="1800" b="1">
                <a:solidFill>
                  <a:srgbClr val="15253D"/>
                </a:solidFill>
                <a:latin typeface="Helvetica Neue"/>
                <a:ea typeface="Helvetica Neue"/>
                <a:cs typeface="Helvetica Neue"/>
              </a:rPr>
              <a:t>company.md</a:t>
            </a:r>
          </a:p>
        </p:txBody>
      </p:sp>
      <p:sp>
        <p:nvSpPr>
          <p:cNvPr id="7" name="">
            <a:extLst xmlns:a="http://schemas.openxmlformats.org/drawingml/2006/main">
              <a:ext uri="{FF2B5EF4-FFF2-40B4-BE49-F238E27FC236}">
                <a16:creationId xmlns:a16="http://schemas.microsoft.com/office/drawing/2014/main" id="{FF567357-D477-4A59-A794-BC5E872F8C36}"/>
              </a:ext>
            </a:extLst>
          </p:cNvPr>
          <p:cNvSpPr>
            <a:spLocks xmlns:a="http://schemas.openxmlformats.org/drawingml/2006/main" noGrp="1"/>
          </p:cNvSpPr>
          <p:nvPr/>
        </p:nvSpPr>
        <p:spPr>
          <a:xfrm xmlns:a="http://schemas.openxmlformats.org/drawingml/2006/main">
            <a:off x="819150" y="3057525"/>
            <a:ext cx="48196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Company memory policy</a:t>
            </a:r>
          </a:p>
          <a:p xmlns:a="http://schemas.openxmlformats.org/drawingml/2006/main">
            <a:r>
              <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Never store: credentials,</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customer emails, customer revenue</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Allow training: sanitized</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operational procedures</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Minimum repeated runs: 3</a:t>
            </a:r>
          </a:p>
        </p:txBody>
      </p:sp>
      <p:sp>
        <p:nvSpPr>
          <p:cNvPr id="8" name="">
            <a:extLst xmlns:a="http://schemas.openxmlformats.org/drawingml/2006/main">
              <a:ext uri="{FF2B5EF4-FFF2-40B4-BE49-F238E27FC236}">
                <a16:creationId xmlns:a16="http://schemas.microsoft.com/office/drawing/2014/main" id="{5E32E178-6C1D-49C8-AAE9-BFB8489214A6}"/>
              </a:ext>
            </a:extLst>
          </p:cNvPr>
          <p:cNvSpPr>
            <a:spLocks xmlns:a="http://schemas.openxmlformats.org/drawingml/2006/main" noGrp="1"/>
          </p:cNvSpPr>
          <p:nvPr/>
        </p:nvSpPr>
        <p:spPr>
          <a:xfrm xmlns:a="http://schemas.openxmlformats.org/drawingml/2006/main">
            <a:off x="6353175" y="2505075"/>
            <a:ext cx="4962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3468EF"/>
                </a:solidFill>
                <a:latin typeface="Helvetica Neue"/>
                <a:ea typeface="Helvetica Neue"/>
                <a:cs typeface="Helvetica Neue"/>
              </a:defRPr>
            </a:pPr>
            <a:r>
              <a:rPr sz="1800" b="1">
                <a:solidFill>
                  <a:srgbClr val="3468EF"/>
                </a:solidFill>
                <a:latin typeface="Helvetica Neue"/>
                <a:ea typeface="Helvetica Neue"/>
                <a:cs typeface="Helvetica Neue"/>
              </a:rPr>
              <a:t>maya.md</a:t>
            </a:r>
          </a:p>
        </p:txBody>
      </p:sp>
      <p:sp>
        <p:nvSpPr>
          <p:cNvPr id="9" name="">
            <a:extLst xmlns:a="http://schemas.openxmlformats.org/drawingml/2006/main">
              <a:ext uri="{FF2B5EF4-FFF2-40B4-BE49-F238E27FC236}">
                <a16:creationId xmlns:a16="http://schemas.microsoft.com/office/drawing/2014/main" id="{45A36B59-CDE4-4429-ADA3-E5F01973FABF}"/>
              </a:ext>
            </a:extLst>
          </p:cNvPr>
          <p:cNvSpPr>
            <a:spLocks xmlns:a="http://schemas.openxmlformats.org/drawingml/2006/main" noGrp="1"/>
          </p:cNvSpPr>
          <p:nvPr/>
        </p:nvSpPr>
        <p:spPr>
          <a:xfrm xmlns:a="http://schemas.openxmlformats.org/drawingml/2006/main">
            <a:off x="6353175" y="3057525"/>
            <a:ext cx="49530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Maya Chen</a:t>
            </a:r>
          </a:p>
          <a:p xmlns:a="http://schemas.openxmlformats.org/drawingml/2006/main">
            <a:r>
              <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Never store: raw request payloads</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Allow training: yes</a:t>
            </a:r>
          </a:p>
          <a:p xmlns:a="http://schemas.openxmlformats.org/drawingml/2006/main">
            <a:r>
              <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Keep the diagnosis and reusable fix.</a:t>
            </a:r>
          </a:p>
        </p:txBody>
      </p:sp>
      <p:sp>
        <p:nvSpPr>
          <p:cNvPr id="10" name="">
            <a:extLst xmlns:a="http://schemas.openxmlformats.org/drawingml/2006/main">
              <a:ext uri="{FF2B5EF4-FFF2-40B4-BE49-F238E27FC236}">
                <a16:creationId xmlns:a16="http://schemas.microsoft.com/office/drawing/2014/main" id="{7409130C-AAD2-4858-8B5B-0192277139DF}"/>
              </a:ext>
            </a:extLst>
          </p:cNvPr>
          <p:cNvSpPr>
            <a:spLocks xmlns:a="http://schemas.openxmlformats.org/drawingml/2006/main" noGrp="1"/>
          </p:cNvSpPr>
          <p:nvPr/>
        </p:nvSpPr>
        <p:spPr>
          <a:xfrm xmlns:a="http://schemas.openxmlformats.org/drawingml/2006/main">
            <a:off x="619125" y="56102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5253D"/>
                </a:solidFill>
                <a:latin typeface="Helvetica Neue"/>
                <a:ea typeface="Helvetica Neue"/>
                <a:cs typeface="Helvetica Neue"/>
              </a:defRPr>
            </a:pPr>
            <a:r>
              <a:rPr sz="2100" b="1">
                <a:solidFill>
                  <a:srgbClr val="15253D"/>
                </a:solidFill>
                <a:latin typeface="Helvetica Neue"/>
                <a:ea typeface="Helvetica Neue"/>
                <a:cs typeface="Helvetica Neue"/>
              </a:rPr>
              <a:t>A preference change applies on the next replay and training export.</a:t>
            </a:r>
          </a:p>
        </p:txBody>
      </p:sp>
      <p:sp>
        <p:nvSpPr>
          <p:cNvPr id="11" name="">
            <a:extLst xmlns:a="http://schemas.openxmlformats.org/drawingml/2006/main">
              <a:ext uri="{FF2B5EF4-FFF2-40B4-BE49-F238E27FC236}">
                <a16:creationId xmlns:a16="http://schemas.microsoft.com/office/drawing/2014/main" id="{C23E3F77-B71F-46ED-8A06-2B0B32E2795B}"/>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C44A7A0-544F-4AED-A7C1-5D82D79251D0}"/>
              </a:ext>
            </a:extLst>
          </p:cNvPr>
          <p:cNvSpPr>
            <a:spLocks xmlns:a="http://schemas.openxmlformats.org/drawingml/2006/main" noGrp="1"/>
          </p:cNvSpPr>
          <p:nvPr/>
        </p:nvSpPr>
        <p:spPr>
          <a:xfrm xmlns:a="http://schemas.openxmlformats.org/drawingml/2006/main">
            <a:off x="609600" y="648652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15253D"/>
                </a:solidFill>
                <a:latin typeface="Helvetica Neue"/>
                <a:ea typeface="Helvetica Neue"/>
                <a:cs typeface="Helvetica Neue"/>
              </a:defRPr>
            </a:pPr>
            <a:r>
              <a:rPr sz="1125" b="1">
                <a:solidFill>
                  <a:srgbClr val="15253D"/>
                </a:solidFill>
                <a:latin typeface="Helvetica Neue"/>
                <a:ea typeface="Helvetica Neue"/>
                <a:cs typeface="Helvetica Neue"/>
              </a:rPr>
              <a:t>when &amp; what</a:t>
            </a:r>
          </a:p>
        </p:txBody>
      </p:sp>
      <p:sp>
        <p:nvSpPr>
          <p:cNvPr id="13" name="">
            <a:extLst xmlns:a="http://schemas.openxmlformats.org/drawingml/2006/main">
              <a:ext uri="{FF2B5EF4-FFF2-40B4-BE49-F238E27FC236}">
                <a16:creationId xmlns:a16="http://schemas.microsoft.com/office/drawing/2014/main" id="{8E3715BE-924C-421D-8FD4-ABAE54417AE8}"/>
              </a:ext>
            </a:extLst>
          </p:cNvPr>
          <p:cNvSpPr>
            <a:spLocks xmlns:a="http://schemas.openxmlformats.org/drawingml/2006/main" noGrp="1"/>
          </p:cNvSpPr>
          <p:nvPr/>
        </p:nvSpPr>
        <p:spPr>
          <a:xfrm xmlns:a="http://schemas.openxmlformats.org/drawingml/2006/main">
            <a:off x="2581275" y="647700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Prototype policy parser. Previously stored data and trained models are separate concerns.</a:t>
            </a:r>
          </a:p>
        </p:txBody>
      </p:sp>
      <p:sp>
        <p:nvSpPr>
          <p:cNvPr id="14" name="">
            <a:extLst xmlns:a="http://schemas.openxmlformats.org/drawingml/2006/main">
              <a:ext uri="{FF2B5EF4-FFF2-40B4-BE49-F238E27FC236}">
                <a16:creationId xmlns:a16="http://schemas.microsoft.com/office/drawing/2014/main" id="{E50166D9-5EB8-4709-A122-473378C05F3F}"/>
              </a:ext>
            </a:extLst>
          </p:cNvPr>
          <p:cNvSpPr>
            <a:spLocks xmlns:a="http://schemas.openxmlformats.org/drawingml/2006/main" noGrp="1"/>
          </p:cNvSpPr>
          <p:nvPr/>
        </p:nvSpPr>
        <p:spPr>
          <a:xfrm xmlns:a="http://schemas.openxmlformats.org/drawingml/2006/main">
            <a:off x="11210925"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05</a:t>
            </a:r>
          </a:p>
        </p:txBody>
      </p:sp>
    </p:spTree>
    <p:extLst>
      <p:ext uri="{BB962C8B-B14F-4D97-AF65-F5344CB8AC3E}">
        <p14:creationId xmlns:p14="http://schemas.microsoft.com/office/powerpoint/2010/main" val="17649184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35720DA-99D3-488B-89A4-955E137265C8}"/>
              </a:ext>
            </a:extLst>
          </p:cNvPr>
          <p:cNvSpPr>
            <a:spLocks xmlns:a="http://schemas.openxmlformats.org/drawingml/2006/main" noGrp="1"/>
          </p:cNvSpPr>
          <p:nvPr/>
        </p:nvSpPr>
        <p:spPr>
          <a:xfrm xmlns:a="http://schemas.openxmlformats.org/drawingml/2006/main">
            <a:off x="609600" y="361950"/>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3468EF"/>
                </a:solidFill>
                <a:latin typeface="Helvetica Neue"/>
                <a:ea typeface="Helvetica Neue"/>
                <a:cs typeface="Helvetica Neue"/>
              </a:defRPr>
            </a:pPr>
            <a:r>
              <a:rPr sz="1125" b="1">
                <a:solidFill>
                  <a:srgbClr val="3468EF"/>
                </a:solidFill>
                <a:latin typeface="Helvetica Neue"/>
                <a:ea typeface="Helvetica Neue"/>
                <a:cs typeface="Helvetica Neue"/>
              </a:rPr>
              <a:t>REPEATED WORK</a:t>
            </a:r>
          </a:p>
        </p:txBody>
      </p:sp>
      <p:sp>
        <p:nvSpPr>
          <p:cNvPr id="2" name="">
            <a:extLst xmlns:a="http://schemas.openxmlformats.org/drawingml/2006/main">
              <a:ext uri="{FF2B5EF4-FFF2-40B4-BE49-F238E27FC236}">
                <a16:creationId xmlns:a16="http://schemas.microsoft.com/office/drawing/2014/main" id="{D6EA851F-E6C2-461D-A0F8-457105D30831}"/>
              </a:ext>
            </a:extLst>
          </p:cNvPr>
          <p:cNvSpPr>
            <a:spLocks xmlns:a="http://schemas.openxmlformats.org/drawingml/2006/main" noGrp="1"/>
          </p:cNvSpPr>
          <p:nvPr/>
        </p:nvSpPr>
        <p:spPr>
          <a:xfrm xmlns:a="http://schemas.openxmlformats.org/drawingml/2006/main">
            <a:off x="609600" y="80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5253D"/>
                </a:solidFill>
                <a:latin typeface="Helvetica Neue"/>
                <a:ea typeface="Helvetica Neue"/>
                <a:cs typeface="Helvetica Neue"/>
              </a:defRPr>
            </a:pPr>
            <a:r>
              <a:rPr sz="3450" b="1">
                <a:solidFill>
                  <a:srgbClr val="15253D"/>
                </a:solidFill>
                <a:latin typeface="Helvetica Neue"/>
                <a:ea typeface="Helvetica Neue"/>
                <a:cs typeface="Helvetica Neue"/>
              </a:rPr>
              <a:t>Nine incidents. Two recurring procedures.</a:t>
            </a:r>
          </a:p>
        </p:txBody>
      </p:sp>
      <p:sp>
        <p:nvSpPr>
          <p:cNvPr id="3" name="">
            <a:extLst xmlns:a="http://schemas.openxmlformats.org/drawingml/2006/main">
              <a:ext uri="{FF2B5EF4-FFF2-40B4-BE49-F238E27FC236}">
                <a16:creationId xmlns:a16="http://schemas.microsoft.com/office/drawing/2014/main" id="{246ACED6-A0B3-4BEF-A4AF-67B35156738A}"/>
              </a:ext>
            </a:extLst>
          </p:cNvPr>
          <p:cNvSpPr>
            <a:spLocks xmlns:a="http://schemas.openxmlformats.org/drawingml/2006/main" noGrp="1"/>
          </p:cNvSpPr>
          <p:nvPr/>
        </p:nvSpPr>
        <p:spPr>
          <a:xfrm xmlns:a="http://schemas.openxmlformats.org/drawingml/2006/main">
            <a:off x="609600" y="151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Repeated steps and token usage identify candidates for a training experiment.</a:t>
            </a:r>
          </a:p>
        </p:txBody>
      </p:sp>
      <p:graphicFrame>
        <p:nvGraphicFramePr>
          <p:cNvPr id="17" name="Chart"/>
          <p:cNvGraphicFramePr/>
          <p:nvPr/>
        </p:nvGraphicFramePr>
        <p:xfrm>
          <a:off xmlns:a="http://schemas.openxmlformats.org/drawingml/2006/main" x="590550" y="2457450"/>
          <a:ext xmlns:a="http://schemas.openxmlformats.org/drawingml/2006/main" cx="6705600" cy="3019425"/>
        </p:xfrm>
        <a:graphic xmlns:a="http://schemas.openxmlformats.org/drawingml/2006/main">
          <a:graphicData uri="http://schemas.openxmlformats.org/drawingml/2006/chart">
            <c:chart xmlns:r="http://schemas.openxmlformats.org/officeDocument/2006/relationships" xmlns:c="http://schemas.openxmlformats.org/drawingml/2006/chart" r:id="Rb8b7297b40be4ed2"/>
          </a:graphicData>
        </a:graphic>
      </p:graphicFrame>
      <p:sp>
        <p:nvSpPr>
          <p:cNvPr id="5" name="">
            <a:extLst xmlns:a="http://schemas.openxmlformats.org/drawingml/2006/main">
              <a:ext uri="{FF2B5EF4-FFF2-40B4-BE49-F238E27FC236}">
                <a16:creationId xmlns:a16="http://schemas.microsoft.com/office/drawing/2014/main" id="{954EF4DC-DDDE-47CA-9041-0F3AA802A2A3}"/>
              </a:ext>
            </a:extLst>
          </p:cNvPr>
          <p:cNvSpPr>
            <a:spLocks xmlns:a="http://schemas.openxmlformats.org/drawingml/2006/main" noGrp="1"/>
          </p:cNvSpPr>
          <p:nvPr/>
        </p:nvSpPr>
        <p:spPr>
          <a:xfrm xmlns:a="http://schemas.openxmlformats.org/drawingml/2006/main">
            <a:off x="8001000" y="241935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00" b="1">
                <a:solidFill>
                  <a:srgbClr val="15253D"/>
                </a:solidFill>
                <a:latin typeface="Helvetica Neue"/>
                <a:ea typeface="Helvetica Neue"/>
                <a:cs typeface="Helvetica Neue"/>
              </a:defRPr>
            </a:pPr>
            <a:r>
              <a:rPr sz="4800" b="1">
                <a:solidFill>
                  <a:srgbClr val="15253D"/>
                </a:solidFill>
                <a:latin typeface="Helvetica Neue"/>
                <a:ea typeface="Helvetica Neue"/>
                <a:cs typeface="Helvetica Neue"/>
              </a:rPr>
              <a:t>103,974</a:t>
            </a:r>
          </a:p>
        </p:txBody>
      </p:sp>
      <p:sp>
        <p:nvSpPr>
          <p:cNvPr id="6" name="">
            <a:extLst xmlns:a="http://schemas.openxmlformats.org/drawingml/2006/main">
              <a:ext uri="{FF2B5EF4-FFF2-40B4-BE49-F238E27FC236}">
                <a16:creationId xmlns:a16="http://schemas.microsoft.com/office/drawing/2014/main" id="{4373337E-EB99-4177-B910-CB87FF178588}"/>
              </a:ext>
            </a:extLst>
          </p:cNvPr>
          <p:cNvSpPr>
            <a:spLocks xmlns:a="http://schemas.openxmlformats.org/drawingml/2006/main" noGrp="1"/>
          </p:cNvSpPr>
          <p:nvPr/>
        </p:nvSpPr>
        <p:spPr>
          <a:xfrm xmlns:a="http://schemas.openxmlformats.org/drawingml/2006/main">
            <a:off x="8039100" y="3305175"/>
            <a:ext cx="33432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tokens across nine runs</a:t>
            </a:r>
          </a:p>
        </p:txBody>
      </p:sp>
      <p:sp>
        <p:nvSpPr>
          <p:cNvPr id="7" name="">
            <a:extLst xmlns:a="http://schemas.openxmlformats.org/drawingml/2006/main">
              <a:ext uri="{FF2B5EF4-FFF2-40B4-BE49-F238E27FC236}">
                <a16:creationId xmlns:a16="http://schemas.microsoft.com/office/drawing/2014/main" id="{92BC4483-71EB-4659-B526-179E8A963420}"/>
              </a:ext>
            </a:extLst>
          </p:cNvPr>
          <p:cNvSpPr>
            <a:spLocks xmlns:a="http://schemas.openxmlformats.org/drawingml/2006/main" noGrp="1"/>
          </p:cNvSpPr>
          <p:nvPr/>
        </p:nvSpPr>
        <p:spPr>
          <a:xfrm xmlns:a="http://schemas.openxmlformats.org/drawingml/2006/main">
            <a:off x="8001000" y="4038600"/>
            <a:ext cx="338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00" b="1">
                <a:solidFill>
                  <a:srgbClr val="3468EF"/>
                </a:solidFill>
                <a:latin typeface="Helvetica Neue"/>
                <a:ea typeface="Helvetica Neue"/>
                <a:cs typeface="Helvetica Neue"/>
              </a:defRPr>
            </a:pPr>
            <a:r>
              <a:rPr sz="4800" b="1">
                <a:solidFill>
                  <a:srgbClr val="3468EF"/>
                </a:solidFill>
                <a:latin typeface="Helvetica Neue"/>
                <a:ea typeface="Helvetica Neue"/>
                <a:cs typeface="Helvetica Neue"/>
              </a:rPr>
              <a:t>7</a:t>
            </a:r>
          </a:p>
        </p:txBody>
      </p:sp>
      <p:sp>
        <p:nvSpPr>
          <p:cNvPr id="8" name="">
            <a:extLst xmlns:a="http://schemas.openxmlformats.org/drawingml/2006/main">
              <a:ext uri="{FF2B5EF4-FFF2-40B4-BE49-F238E27FC236}">
                <a16:creationId xmlns:a16="http://schemas.microsoft.com/office/drawing/2014/main" id="{BF52EB15-DA5C-4D71-8D3D-5E1EDB940A11}"/>
              </a:ext>
            </a:extLst>
          </p:cNvPr>
          <p:cNvSpPr>
            <a:spLocks xmlns:a="http://schemas.openxmlformats.org/drawingml/2006/main" noGrp="1"/>
          </p:cNvSpPr>
          <p:nvPr/>
        </p:nvSpPr>
        <p:spPr>
          <a:xfrm xmlns:a="http://schemas.openxmlformats.org/drawingml/2006/main">
            <a:off x="8039100" y="4924425"/>
            <a:ext cx="3409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eligible example records</a:t>
            </a:r>
          </a:p>
        </p:txBody>
      </p:sp>
      <p:sp>
        <p:nvSpPr>
          <p:cNvPr id="9" name="">
            <a:extLst xmlns:a="http://schemas.openxmlformats.org/drawingml/2006/main">
              <a:ext uri="{FF2B5EF4-FFF2-40B4-BE49-F238E27FC236}">
                <a16:creationId xmlns:a16="http://schemas.microsoft.com/office/drawing/2014/main" id="{4CE2C567-8A2D-407E-AE9D-3DA842A03A70}"/>
              </a:ext>
            </a:extLst>
          </p:cNvPr>
          <p:cNvSpPr>
            <a:spLocks xmlns:a="http://schemas.openxmlformats.org/drawingml/2006/main" noGrp="1"/>
          </p:cNvSpPr>
          <p:nvPr/>
        </p:nvSpPr>
        <p:spPr>
          <a:xfrm xmlns:a="http://schemas.openxmlformats.org/drawingml/2006/main">
            <a:off x="638175" y="5734050"/>
            <a:ext cx="1083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Minimum repeat count: 3. One run lacks consent; one procedure has only one run.</a:t>
            </a:r>
          </a:p>
        </p:txBody>
      </p:sp>
      <p:sp>
        <p:nvSpPr>
          <p:cNvPr id="10" name="">
            <a:extLst xmlns:a="http://schemas.openxmlformats.org/drawingml/2006/main">
              <a:ext uri="{FF2B5EF4-FFF2-40B4-BE49-F238E27FC236}">
                <a16:creationId xmlns:a16="http://schemas.microsoft.com/office/drawing/2014/main" id="{6BAA26DF-7EB3-43E7-B5F0-A8D172098377}"/>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9EFB874-7CB1-4B38-86F8-8EBA0461916E}"/>
              </a:ext>
            </a:extLst>
          </p:cNvPr>
          <p:cNvSpPr>
            <a:spLocks xmlns:a="http://schemas.openxmlformats.org/drawingml/2006/main" noGrp="1"/>
          </p:cNvSpPr>
          <p:nvPr/>
        </p:nvSpPr>
        <p:spPr>
          <a:xfrm xmlns:a="http://schemas.openxmlformats.org/drawingml/2006/main">
            <a:off x="609600" y="648652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15253D"/>
                </a:solidFill>
                <a:latin typeface="Helvetica Neue"/>
                <a:ea typeface="Helvetica Neue"/>
                <a:cs typeface="Helvetica Neue"/>
              </a:defRPr>
            </a:pPr>
            <a:r>
              <a:rPr sz="1125" b="1">
                <a:solidFill>
                  <a:srgbClr val="15253D"/>
                </a:solidFill>
                <a:latin typeface="Helvetica Neue"/>
                <a:ea typeface="Helvetica Neue"/>
                <a:cs typeface="Helvetica Neue"/>
              </a:rPr>
              <a:t>when &amp; what</a:t>
            </a:r>
          </a:p>
        </p:txBody>
      </p:sp>
      <p:sp>
        <p:nvSpPr>
          <p:cNvPr id="12" name="">
            <a:extLst xmlns:a="http://schemas.openxmlformats.org/drawingml/2006/main">
              <a:ext uri="{FF2B5EF4-FFF2-40B4-BE49-F238E27FC236}">
                <a16:creationId xmlns:a16="http://schemas.microsoft.com/office/drawing/2014/main" id="{A4B10586-CC4B-4A00-BD15-2D04EF8CAAA7}"/>
              </a:ext>
            </a:extLst>
          </p:cNvPr>
          <p:cNvSpPr>
            <a:spLocks xmlns:a="http://schemas.openxmlformats.org/drawingml/2006/main" noGrp="1"/>
          </p:cNvSpPr>
          <p:nvPr/>
        </p:nvSpPr>
        <p:spPr>
          <a:xfrm xmlns:a="http://schemas.openxmlformats.org/drawingml/2006/main">
            <a:off x="2581275" y="647700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Synthetic incident history and token counts. No training performance is claimed.</a:t>
            </a:r>
          </a:p>
        </p:txBody>
      </p:sp>
      <p:sp>
        <p:nvSpPr>
          <p:cNvPr id="13" name="">
            <a:extLst xmlns:a="http://schemas.openxmlformats.org/drawingml/2006/main">
              <a:ext uri="{FF2B5EF4-FFF2-40B4-BE49-F238E27FC236}">
                <a16:creationId xmlns:a16="http://schemas.microsoft.com/office/drawing/2014/main" id="{7008CA99-BD1F-44CD-B13C-74894F1D2036}"/>
              </a:ext>
            </a:extLst>
          </p:cNvPr>
          <p:cNvSpPr>
            <a:spLocks xmlns:a="http://schemas.openxmlformats.org/drawingml/2006/main" noGrp="1"/>
          </p:cNvSpPr>
          <p:nvPr/>
        </p:nvSpPr>
        <p:spPr>
          <a:xfrm xmlns:a="http://schemas.openxmlformats.org/drawingml/2006/main">
            <a:off x="11210925"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06</a:t>
            </a:r>
          </a:p>
        </p:txBody>
      </p:sp>
    </p:spTree>
    <p:extLst>
      <p:ext uri="{BB962C8B-B14F-4D97-AF65-F5344CB8AC3E}">
        <p14:creationId xmlns:p14="http://schemas.microsoft.com/office/powerpoint/2010/main" val="3593242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40E3C19-E558-4E17-B2FE-EB61B74BE62A}"/>
              </a:ext>
            </a:extLst>
          </p:cNvPr>
          <p:cNvSpPr>
            <a:spLocks xmlns:a="http://schemas.openxmlformats.org/drawingml/2006/main" noGrp="1"/>
          </p:cNvSpPr>
          <p:nvPr/>
        </p:nvSpPr>
        <p:spPr>
          <a:xfrm xmlns:a="http://schemas.openxmlformats.org/drawingml/2006/main">
            <a:off x="609600" y="361950"/>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3468EF"/>
                </a:solidFill>
                <a:latin typeface="Helvetica Neue"/>
                <a:ea typeface="Helvetica Neue"/>
                <a:cs typeface="Helvetica Neue"/>
              </a:defRPr>
            </a:pPr>
            <a:r>
              <a:rPr sz="1125" b="1">
                <a:solidFill>
                  <a:srgbClr val="3468EF"/>
                </a:solidFill>
                <a:latin typeface="Helvetica Neue"/>
                <a:ea typeface="Helvetica Neue"/>
                <a:cs typeface="Helvetica Neue"/>
              </a:rPr>
              <a:t>WHEN TO LEARN</a:t>
            </a:r>
          </a:p>
        </p:txBody>
      </p:sp>
      <p:sp>
        <p:nvSpPr>
          <p:cNvPr id="2" name="">
            <a:extLst xmlns:a="http://schemas.openxmlformats.org/drawingml/2006/main">
              <a:ext uri="{FF2B5EF4-FFF2-40B4-BE49-F238E27FC236}">
                <a16:creationId xmlns:a16="http://schemas.microsoft.com/office/drawing/2014/main" id="{36BBB1F5-A29F-473A-8E52-274B75479CA3}"/>
              </a:ext>
            </a:extLst>
          </p:cNvPr>
          <p:cNvSpPr>
            <a:spLocks xmlns:a="http://schemas.openxmlformats.org/drawingml/2006/main" noGrp="1"/>
          </p:cNvSpPr>
          <p:nvPr/>
        </p:nvSpPr>
        <p:spPr>
          <a:xfrm xmlns:a="http://schemas.openxmlformats.org/drawingml/2006/main">
            <a:off x="609600" y="80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5253D"/>
                </a:solidFill>
                <a:latin typeface="Helvetica Neue"/>
                <a:ea typeface="Helvetica Neue"/>
                <a:cs typeface="Helvetica Neue"/>
              </a:defRPr>
            </a:pPr>
            <a:r>
              <a:rPr sz="3450" b="1">
                <a:solidFill>
                  <a:srgbClr val="15253D"/>
                </a:solidFill>
                <a:latin typeface="Helvetica Neue"/>
                <a:ea typeface="Helvetica Neue"/>
                <a:cs typeface="Helvetica Neue"/>
              </a:rPr>
              <a:t>Permission comes before a training pilot</a:t>
            </a:r>
          </a:p>
        </p:txBody>
      </p:sp>
      <p:sp>
        <p:nvSpPr>
          <p:cNvPr id="3" name="">
            <a:extLst xmlns:a="http://schemas.openxmlformats.org/drawingml/2006/main">
              <a:ext uri="{FF2B5EF4-FFF2-40B4-BE49-F238E27FC236}">
                <a16:creationId xmlns:a16="http://schemas.microsoft.com/office/drawing/2014/main" id="{85514E84-DAB1-471F-B613-8FE9BE01CCCF}"/>
              </a:ext>
            </a:extLst>
          </p:cNvPr>
          <p:cNvSpPr>
            <a:spLocks xmlns:a="http://schemas.openxmlformats.org/drawingml/2006/main" noGrp="1"/>
          </p:cNvSpPr>
          <p:nvPr/>
        </p:nvSpPr>
        <p:spPr>
          <a:xfrm xmlns:a="http://schemas.openxmlformats.org/drawingml/2006/main">
            <a:off x="609600" y="151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Token count alone cannot tell you whether a model needs training.</a:t>
            </a:r>
          </a:p>
        </p:txBody>
      </p:sp>
      <p:sp>
        <p:nvSpPr>
          <p:cNvPr id="4" name="">
            <a:extLst xmlns:a="http://schemas.openxmlformats.org/drawingml/2006/main">
              <a:ext uri="{FF2B5EF4-FFF2-40B4-BE49-F238E27FC236}">
                <a16:creationId xmlns:a16="http://schemas.microsoft.com/office/drawing/2014/main" id="{A05A4C4D-3DD6-456C-BBA4-DE9D611BA630}"/>
              </a:ext>
            </a:extLst>
          </p:cNvPr>
          <p:cNvSpPr>
            <a:spLocks xmlns:a="http://schemas.openxmlformats.org/drawingml/2006/main" noGrp="1"/>
          </p:cNvSpPr>
          <p:nvPr/>
        </p:nvSpPr>
        <p:spPr>
          <a:xfrm xmlns:a="http://schemas.openxmlformats.org/drawingml/2006/main">
            <a:off x="628650" y="2371725"/>
            <a:ext cx="5057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15253D"/>
                </a:solidFill>
                <a:latin typeface="Helvetica Neue"/>
                <a:ea typeface="Helvetica Neue"/>
                <a:cs typeface="Helvetica Neue"/>
              </a:defRPr>
            </a:pPr>
            <a:r>
              <a:rPr sz="2550" b="1">
                <a:solidFill>
                  <a:srgbClr val="15253D"/>
                </a:solidFill>
                <a:latin typeface="Helvetica Neue"/>
                <a:ea typeface="Helvetica Neue"/>
                <a:cs typeface="Helvetica Neue"/>
              </a:rPr>
              <a:t>Keep in retrieval</a:t>
            </a:r>
          </a:p>
        </p:txBody>
      </p:sp>
      <p:sp>
        <p:nvSpPr>
          <p:cNvPr id="5" name="">
            <a:extLst xmlns:a="http://schemas.openxmlformats.org/drawingml/2006/main">
              <a:ext uri="{FF2B5EF4-FFF2-40B4-BE49-F238E27FC236}">
                <a16:creationId xmlns:a16="http://schemas.microsoft.com/office/drawing/2014/main" id="{C4E7F77D-CE6D-4D96-A6B8-1F794C295758}"/>
              </a:ext>
            </a:extLst>
          </p:cNvPr>
          <p:cNvSpPr>
            <a:spLocks xmlns:a="http://schemas.openxmlformats.org/drawingml/2006/main" noGrp="1"/>
          </p:cNvSpPr>
          <p:nvPr/>
        </p:nvSpPr>
        <p:spPr>
          <a:xfrm xmlns:a="http://schemas.openxmlformats.org/drawingml/2006/main">
            <a:off x="628650" y="3028950"/>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3468EF"/>
                </a:solidFill>
                <a:latin typeface="Helvetica Neue"/>
                <a:ea typeface="Helvetica Neue"/>
                <a:cs typeface="Helvetica Neue"/>
              </a:defRPr>
            </a:pPr>
            <a:r>
              <a:rPr sz="2175" b="1">
                <a:solidFill>
                  <a:srgbClr val="3468EF"/>
                </a:solidFill>
                <a:latin typeface="Helvetica Neue"/>
                <a:ea typeface="Helvetica Neue"/>
                <a:cs typeface="Helvetica Neue"/>
              </a:rPr>
              <a:t>Facts that change</a:t>
            </a:r>
          </a:p>
        </p:txBody>
      </p:sp>
      <p:sp>
        <p:nvSpPr>
          <p:cNvPr id="6" name="">
            <a:extLst xmlns:a="http://schemas.openxmlformats.org/drawingml/2006/main">
              <a:ext uri="{FF2B5EF4-FFF2-40B4-BE49-F238E27FC236}">
                <a16:creationId xmlns:a16="http://schemas.microsoft.com/office/drawing/2014/main" id="{E36DE0A2-BAA2-492A-AFE6-72AB643E9941}"/>
              </a:ext>
            </a:extLst>
          </p:cNvPr>
          <p:cNvSpPr>
            <a:spLocks xmlns:a="http://schemas.openxmlformats.org/drawingml/2006/main" noGrp="1"/>
          </p:cNvSpPr>
          <p:nvPr/>
        </p:nvSpPr>
        <p:spPr>
          <a:xfrm xmlns:a="http://schemas.openxmlformats.org/drawingml/2006/main">
            <a:off x="628650" y="3543300"/>
            <a:ext cx="49815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Current incidents, customers</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and company knowledge.</a:t>
            </a:r>
          </a:p>
          <a:p xmlns:a="http://schemas.openxmlformats.org/drawingml/2006/main">
            <a:r>
              <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Retrieve permitted information</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when the task needs it.</a:t>
            </a:r>
          </a:p>
        </p:txBody>
      </p:sp>
      <p:sp>
        <p:nvSpPr>
          <p:cNvPr id="7" name="">
            <a:extLst xmlns:a="http://schemas.openxmlformats.org/drawingml/2006/main">
              <a:ext uri="{FF2B5EF4-FFF2-40B4-BE49-F238E27FC236}">
                <a16:creationId xmlns:a16="http://schemas.microsoft.com/office/drawing/2014/main" id="{198A0E56-F37A-4CE7-9299-BFB9B4C14C93}"/>
              </a:ext>
            </a:extLst>
          </p:cNvPr>
          <p:cNvSpPr>
            <a:spLocks xmlns:a="http://schemas.openxmlformats.org/drawingml/2006/main" noGrp="1"/>
          </p:cNvSpPr>
          <p:nvPr/>
        </p:nvSpPr>
        <p:spPr>
          <a:xfrm xmlns:a="http://schemas.openxmlformats.org/drawingml/2006/main">
            <a:off x="609600" y="2790825"/>
            <a:ext cx="5095875"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58A401F-910E-4ED7-8BB2-2E7CCF2969FC}"/>
              </a:ext>
            </a:extLst>
          </p:cNvPr>
          <p:cNvSpPr>
            <a:spLocks xmlns:a="http://schemas.openxmlformats.org/drawingml/2006/main" noGrp="1"/>
          </p:cNvSpPr>
          <p:nvPr/>
        </p:nvSpPr>
        <p:spPr>
          <a:xfrm xmlns:a="http://schemas.openxmlformats.org/drawingml/2006/main">
            <a:off x="6419850" y="2371725"/>
            <a:ext cx="51339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15253D"/>
                </a:solidFill>
                <a:latin typeface="Helvetica Neue"/>
                <a:ea typeface="Helvetica Neue"/>
                <a:cs typeface="Helvetica Neue"/>
              </a:defRPr>
            </a:pPr>
            <a:r>
              <a:rPr sz="2550" b="1">
                <a:solidFill>
                  <a:srgbClr val="15253D"/>
                </a:solidFill>
                <a:latin typeface="Helvetica Neue"/>
                <a:ea typeface="Helvetica Neue"/>
                <a:cs typeface="Helvetica Neue"/>
              </a:rPr>
              <a:t>Test a training pilot</a:t>
            </a:r>
          </a:p>
        </p:txBody>
      </p:sp>
      <p:sp>
        <p:nvSpPr>
          <p:cNvPr id="9" name="">
            <a:extLst xmlns:a="http://schemas.openxmlformats.org/drawingml/2006/main">
              <a:ext uri="{FF2B5EF4-FFF2-40B4-BE49-F238E27FC236}">
                <a16:creationId xmlns:a16="http://schemas.microsoft.com/office/drawing/2014/main" id="{E669E9CA-7BDF-4CAE-B3CE-D690B8DE2DC2}"/>
              </a:ext>
            </a:extLst>
          </p:cNvPr>
          <p:cNvSpPr>
            <a:spLocks xmlns:a="http://schemas.openxmlformats.org/drawingml/2006/main" noGrp="1"/>
          </p:cNvSpPr>
          <p:nvPr/>
        </p:nvSpPr>
        <p:spPr>
          <a:xfrm xmlns:a="http://schemas.openxmlformats.org/drawingml/2006/main">
            <a:off x="6419850" y="30289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3468EF"/>
                </a:solidFill>
                <a:latin typeface="Helvetica Neue"/>
                <a:ea typeface="Helvetica Neue"/>
                <a:cs typeface="Helvetica Neue"/>
              </a:defRPr>
            </a:pPr>
            <a:r>
              <a:rPr sz="2175" b="1">
                <a:solidFill>
                  <a:srgbClr val="3468EF"/>
                </a:solidFill>
                <a:latin typeface="Helvetica Neue"/>
                <a:ea typeface="Helvetica Neue"/>
                <a:cs typeface="Helvetica Neue"/>
              </a:rPr>
              <a:t>Procedures that repeat</a:t>
            </a:r>
          </a:p>
        </p:txBody>
      </p:sp>
      <p:sp>
        <p:nvSpPr>
          <p:cNvPr id="10" name="">
            <a:extLst xmlns:a="http://schemas.openxmlformats.org/drawingml/2006/main">
              <a:ext uri="{FF2B5EF4-FFF2-40B4-BE49-F238E27FC236}">
                <a16:creationId xmlns:a16="http://schemas.microsoft.com/office/drawing/2014/main" id="{F12BB9C2-A247-43B7-86A9-9C40286049F6}"/>
              </a:ext>
            </a:extLst>
          </p:cNvPr>
          <p:cNvSpPr>
            <a:spLocks xmlns:a="http://schemas.openxmlformats.org/drawingml/2006/main" noGrp="1"/>
          </p:cNvSpPr>
          <p:nvPr/>
        </p:nvSpPr>
        <p:spPr>
          <a:xfrm xmlns:a="http://schemas.openxmlformats.org/drawingml/2006/main">
            <a:off x="6419850" y="3543300"/>
            <a:ext cx="5143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Clean examples with consent.</a:t>
            </a:r>
          </a:p>
          <a:p xmlns:a="http://schemas.openxmlformats.org/drawingml/2006/main">
            <a:r>
              <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Compare a custom model with</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the RAG baseline on new incidents</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before deciding to train further.</a:t>
            </a:r>
          </a:p>
        </p:txBody>
      </p:sp>
      <p:sp>
        <p:nvSpPr>
          <p:cNvPr id="11" name="">
            <a:extLst xmlns:a="http://schemas.openxmlformats.org/drawingml/2006/main">
              <a:ext uri="{FF2B5EF4-FFF2-40B4-BE49-F238E27FC236}">
                <a16:creationId xmlns:a16="http://schemas.microsoft.com/office/drawing/2014/main" id="{2E8E7EB1-39A6-486D-A861-AC6D75B667A6}"/>
              </a:ext>
            </a:extLst>
          </p:cNvPr>
          <p:cNvSpPr>
            <a:spLocks xmlns:a="http://schemas.openxmlformats.org/drawingml/2006/main" noGrp="1"/>
          </p:cNvSpPr>
          <p:nvPr/>
        </p:nvSpPr>
        <p:spPr>
          <a:xfrm xmlns:a="http://schemas.openxmlformats.org/drawingml/2006/main">
            <a:off x="6419850" y="2790825"/>
            <a:ext cx="516255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E09C637-F21B-4726-9EBB-5D9412B4516F}"/>
              </a:ext>
            </a:extLst>
          </p:cNvPr>
          <p:cNvSpPr>
            <a:spLocks xmlns:a="http://schemas.openxmlformats.org/drawingml/2006/main" noGrp="1"/>
          </p:cNvSpPr>
          <p:nvPr/>
        </p:nvSpPr>
        <p:spPr>
          <a:xfrm xmlns:a="http://schemas.openxmlformats.org/drawingml/2006/main">
            <a:off x="609600" y="5591175"/>
            <a:ext cx="10972800" cy="542925"/>
          </a:xfrm>
          <a:prstGeom xmlns:a="http://schemas.openxmlformats.org/drawingml/2006/main" prst="rect">
            <a:avLst/>
          </a:prstGeom>
          <a:solidFill xmlns:a="http://schemas.openxmlformats.org/drawingml/2006/main">
            <a:srgbClr val="EAF0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AE9E12-C94B-4609-B0CA-0EB811688E27}"/>
              </a:ext>
            </a:extLst>
          </p:cNvPr>
          <p:cNvSpPr>
            <a:spLocks xmlns:a="http://schemas.openxmlformats.org/drawingml/2006/main" noGrp="1"/>
          </p:cNvSpPr>
          <p:nvPr/>
        </p:nvSpPr>
        <p:spPr>
          <a:xfrm xmlns:a="http://schemas.openxmlformats.org/drawingml/2006/main">
            <a:off x="800100" y="5743575"/>
            <a:ext cx="1057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3468EF"/>
                </a:solidFill>
                <a:latin typeface="Helvetica Neue"/>
                <a:ea typeface="Helvetica Neue"/>
                <a:cs typeface="Helvetica Neue"/>
              </a:defRPr>
            </a:pPr>
            <a:r>
              <a:rPr sz="1875" b="1">
                <a:solidFill>
                  <a:srgbClr val="3468EF"/>
                </a:solidFill>
                <a:latin typeface="Helvetica Neue"/>
                <a:ea typeface="Helvetica Neue"/>
                <a:cs typeface="Helvetica Neue"/>
              </a:rPr>
              <a:t>Allow training: no     7 eligible examples become 0 on the next export.</a:t>
            </a:r>
          </a:p>
        </p:txBody>
      </p:sp>
      <p:sp>
        <p:nvSpPr>
          <p:cNvPr id="14" name="">
            <a:extLst xmlns:a="http://schemas.openxmlformats.org/drawingml/2006/main">
              <a:ext uri="{FF2B5EF4-FFF2-40B4-BE49-F238E27FC236}">
                <a16:creationId xmlns:a16="http://schemas.microsoft.com/office/drawing/2014/main" id="{048901DD-0DEC-4803-B28C-E15815FA1551}"/>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DC6A06A-C1D3-4BE7-821F-28DA3EF153AE}"/>
              </a:ext>
            </a:extLst>
          </p:cNvPr>
          <p:cNvSpPr>
            <a:spLocks xmlns:a="http://schemas.openxmlformats.org/drawingml/2006/main" noGrp="1"/>
          </p:cNvSpPr>
          <p:nvPr/>
        </p:nvSpPr>
        <p:spPr>
          <a:xfrm xmlns:a="http://schemas.openxmlformats.org/drawingml/2006/main">
            <a:off x="609600" y="648652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15253D"/>
                </a:solidFill>
                <a:latin typeface="Helvetica Neue"/>
                <a:ea typeface="Helvetica Neue"/>
                <a:cs typeface="Helvetica Neue"/>
              </a:defRPr>
            </a:pPr>
            <a:r>
              <a:rPr sz="1125" b="1">
                <a:solidFill>
                  <a:srgbClr val="15253D"/>
                </a:solidFill>
                <a:latin typeface="Helvetica Neue"/>
                <a:ea typeface="Helvetica Neue"/>
                <a:cs typeface="Helvetica Neue"/>
              </a:rPr>
              <a:t>when &amp; what</a:t>
            </a:r>
          </a:p>
        </p:txBody>
      </p:sp>
      <p:sp>
        <p:nvSpPr>
          <p:cNvPr id="16" name="">
            <a:extLst xmlns:a="http://schemas.openxmlformats.org/drawingml/2006/main">
              <a:ext uri="{FF2B5EF4-FFF2-40B4-BE49-F238E27FC236}">
                <a16:creationId xmlns:a16="http://schemas.microsoft.com/office/drawing/2014/main" id="{63B8B9C8-36C3-44E5-B2D1-52FF6289B4FC}"/>
              </a:ext>
            </a:extLst>
          </p:cNvPr>
          <p:cNvSpPr>
            <a:spLocks xmlns:a="http://schemas.openxmlformats.org/drawingml/2006/main" noGrp="1"/>
          </p:cNvSpPr>
          <p:nvPr/>
        </p:nvSpPr>
        <p:spPr>
          <a:xfrm xmlns:a="http://schemas.openxmlformats.org/drawingml/2006/main">
            <a:off x="2581275" y="647700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The demo exports JSONL. Training and its expected benefits are simulated.</a:t>
            </a:r>
          </a:p>
        </p:txBody>
      </p:sp>
      <p:sp>
        <p:nvSpPr>
          <p:cNvPr id="17" name="">
            <a:extLst xmlns:a="http://schemas.openxmlformats.org/drawingml/2006/main">
              <a:ext uri="{FF2B5EF4-FFF2-40B4-BE49-F238E27FC236}">
                <a16:creationId xmlns:a16="http://schemas.microsoft.com/office/drawing/2014/main" id="{5ADF5131-E4CE-4D81-9E2C-7FCBDF41934A}"/>
              </a:ext>
            </a:extLst>
          </p:cNvPr>
          <p:cNvSpPr>
            <a:spLocks xmlns:a="http://schemas.openxmlformats.org/drawingml/2006/main" noGrp="1"/>
          </p:cNvSpPr>
          <p:nvPr/>
        </p:nvSpPr>
        <p:spPr>
          <a:xfrm xmlns:a="http://schemas.openxmlformats.org/drawingml/2006/main">
            <a:off x="11210925"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07</a:t>
            </a:r>
          </a:p>
        </p:txBody>
      </p:sp>
    </p:spTree>
    <p:extLst>
      <p:ext uri="{BB962C8B-B14F-4D97-AF65-F5344CB8AC3E}">
        <p14:creationId xmlns:p14="http://schemas.microsoft.com/office/powerpoint/2010/main" val="491233218"/>
      </p:ext>
    </p:extLst>
  </p:cSld>
</p:sld>
</file>

<file path=ppt/slides/slide8.xml><?xml version="1.0" encoding="utf-8"?>
<p:sld xmlns:p="http://schemas.openxmlformats.org/presentationml/2006/main">
  <p:cSld>
    <p:bg>
      <p:bgPr>
        <a:solidFill xmlns:a="http://schemas.openxmlformats.org/drawingml/2006/main">
          <a:srgbClr val="1525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0A16F4-40CD-495F-82B2-B55714A34283}"/>
              </a:ext>
            </a:extLst>
          </p:cNvPr>
          <p:cNvSpPr>
            <a:spLocks xmlns:a="http://schemas.openxmlformats.org/drawingml/2006/main" noGrp="1"/>
          </p:cNvSpPr>
          <p:nvPr/>
        </p:nvSpPr>
        <p:spPr>
          <a:xfrm xmlns:a="http://schemas.openxmlformats.org/drawingml/2006/main">
            <a:off x="609600" y="409575"/>
            <a:ext cx="1000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when &amp; what</a:t>
            </a:r>
          </a:p>
        </p:txBody>
      </p:sp>
      <p:sp>
        <p:nvSpPr>
          <p:cNvPr id="2" name="">
            <a:extLst xmlns:a="http://schemas.openxmlformats.org/drawingml/2006/main">
              <a:ext uri="{FF2B5EF4-FFF2-40B4-BE49-F238E27FC236}">
                <a16:creationId xmlns:a16="http://schemas.microsoft.com/office/drawing/2014/main" id="{414AEE54-F970-4995-9D89-A095EECF837F}"/>
              </a:ext>
            </a:extLst>
          </p:cNvPr>
          <p:cNvSpPr>
            <a:spLocks xmlns:a="http://schemas.openxmlformats.org/drawingml/2006/main" noGrp="1"/>
          </p:cNvSpPr>
          <p:nvPr/>
        </p:nvSpPr>
        <p:spPr>
          <a:xfrm xmlns:a="http://schemas.openxmlformats.org/drawingml/2006/main">
            <a:off x="609600" y="1543050"/>
            <a:ext cx="109728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575" b="1">
                <a:solidFill>
                  <a:srgbClr val="FFFFFF"/>
                </a:solidFill>
                <a:latin typeface="Helvetica Neue"/>
                <a:ea typeface="Helvetica Neue"/>
                <a:cs typeface="Helvetica Neue"/>
              </a:defRPr>
            </a:pPr>
            <a:r>
              <a:rPr sz="4575" b="1">
                <a:solidFill>
                  <a:srgbClr val="FFFFFF"/>
                </a:solidFill>
                <a:latin typeface="Helvetica Neue"/>
                <a:ea typeface="Helvetica Neue"/>
                <a:cs typeface="Helvetica Neue"/>
              </a:rPr>
              <a:t>The fix survives.</a:t>
            </a:r>
          </a:p>
          <a:p xmlns:a="http://schemas.openxmlformats.org/drawingml/2006/main">
            <a:pPr>
              <a:defRPr sz="4575" b="1">
                <a:solidFill>
                  <a:srgbClr val="FFFFFF"/>
                </a:solidFill>
                <a:latin typeface="Helvetica Neue"/>
                <a:ea typeface="Helvetica Neue"/>
                <a:cs typeface="Helvetica Neue"/>
              </a:defRPr>
            </a:pPr>
            <a:r>
              <a:rPr sz="4575" b="1">
                <a:solidFill>
                  <a:srgbClr val="FFFFFF"/>
                </a:solidFill>
                <a:latin typeface="Helvetica Neue"/>
                <a:ea typeface="Helvetica Neue"/>
                <a:cs typeface="Helvetica Neue"/>
              </a:rPr>
              <a:t>The sensitive details don’t.</a:t>
            </a:r>
          </a:p>
        </p:txBody>
      </p:sp>
      <p:sp>
        <p:nvSpPr>
          <p:cNvPr id="3" name="">
            <a:extLst xmlns:a="http://schemas.openxmlformats.org/drawingml/2006/main">
              <a:ext uri="{FF2B5EF4-FFF2-40B4-BE49-F238E27FC236}">
                <a16:creationId xmlns:a16="http://schemas.microsoft.com/office/drawing/2014/main" id="{59E30EFD-B43B-4ADF-8EFC-EB40605FC4B1}"/>
              </a:ext>
            </a:extLst>
          </p:cNvPr>
          <p:cNvSpPr>
            <a:spLocks xmlns:a="http://schemas.openxmlformats.org/drawingml/2006/main" noGrp="1"/>
          </p:cNvSpPr>
          <p:nvPr/>
        </p:nvSpPr>
        <p:spPr>
          <a:xfrm xmlns:a="http://schemas.openxmlformats.org/drawingml/2006/main">
            <a:off x="647700" y="381000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AABDDC"/>
                </a:solidFill>
                <a:latin typeface="Helvetica Neue"/>
                <a:ea typeface="Helvetica Neue"/>
                <a:cs typeface="Helvetica Neue"/>
              </a:defRPr>
            </a:pPr>
            <a:r>
              <a:rPr sz="1200" b="1">
                <a:solidFill>
                  <a:srgbClr val="AABDDC"/>
                </a:solidFill>
                <a:latin typeface="Helvetica Neue"/>
                <a:ea typeface="Helvetica Neue"/>
                <a:cs typeface="Helvetica Neue"/>
              </a:rPr>
              <a:t>RUNNING IN THE DEMO</a:t>
            </a:r>
          </a:p>
        </p:txBody>
      </p:sp>
      <p:sp>
        <p:nvSpPr>
          <p:cNvPr id="4" name="">
            <a:extLst xmlns:a="http://schemas.openxmlformats.org/drawingml/2006/main">
              <a:ext uri="{FF2B5EF4-FFF2-40B4-BE49-F238E27FC236}">
                <a16:creationId xmlns:a16="http://schemas.microsoft.com/office/drawing/2014/main" id="{0DF82464-2271-476C-9278-F4527626BECF}"/>
              </a:ext>
            </a:extLst>
          </p:cNvPr>
          <p:cNvSpPr>
            <a:spLocks xmlns:a="http://schemas.openxmlformats.org/drawingml/2006/main" noGrp="1"/>
          </p:cNvSpPr>
          <p:nvPr/>
        </p:nvSpPr>
        <p:spPr>
          <a:xfrm xmlns:a="http://schemas.openxmlformats.org/drawingml/2006/main">
            <a:off x="647700" y="4295775"/>
            <a:ext cx="52197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Markdown rules</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Automatic trace redaction</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Consent-filtered JSONL export</a:t>
            </a:r>
          </a:p>
        </p:txBody>
      </p:sp>
      <p:sp>
        <p:nvSpPr>
          <p:cNvPr id="5" name="">
            <a:extLst xmlns:a="http://schemas.openxmlformats.org/drawingml/2006/main">
              <a:ext uri="{FF2B5EF4-FFF2-40B4-BE49-F238E27FC236}">
                <a16:creationId xmlns:a16="http://schemas.microsoft.com/office/drawing/2014/main" id="{4DBE2A7D-94B3-4348-9F05-D7E1651BF921}"/>
              </a:ext>
            </a:extLst>
          </p:cNvPr>
          <p:cNvSpPr>
            <a:spLocks xmlns:a="http://schemas.openxmlformats.org/drawingml/2006/main" noGrp="1"/>
          </p:cNvSpPr>
          <p:nvPr/>
        </p:nvSpPr>
        <p:spPr>
          <a:xfrm xmlns:a="http://schemas.openxmlformats.org/drawingml/2006/main">
            <a:off x="6515100" y="3810000"/>
            <a:ext cx="5019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AABDDC"/>
                </a:solidFill>
                <a:latin typeface="Helvetica Neue"/>
                <a:ea typeface="Helvetica Neue"/>
                <a:cs typeface="Helvetica Neue"/>
              </a:defRPr>
            </a:pPr>
            <a:r>
              <a:rPr sz="1200" b="1">
                <a:solidFill>
                  <a:srgbClr val="AABDDC"/>
                </a:solidFill>
                <a:latin typeface="Helvetica Neue"/>
                <a:ea typeface="Helvetica Neue"/>
                <a:cs typeface="Helvetica Neue"/>
              </a:rPr>
              <a:t>NEXT CONNECTIONS</a:t>
            </a:r>
          </a:p>
        </p:txBody>
      </p:sp>
      <p:sp>
        <p:nvSpPr>
          <p:cNvPr id="6" name="">
            <a:extLst xmlns:a="http://schemas.openxmlformats.org/drawingml/2006/main">
              <a:ext uri="{FF2B5EF4-FFF2-40B4-BE49-F238E27FC236}">
                <a16:creationId xmlns:a16="http://schemas.microsoft.com/office/drawing/2014/main" id="{FEE807D9-B41B-4D08-8E68-FB10593B0446}"/>
              </a:ext>
            </a:extLst>
          </p:cNvPr>
          <p:cNvSpPr>
            <a:spLocks xmlns:a="http://schemas.openxmlformats.org/drawingml/2006/main" noGrp="1"/>
          </p:cNvSpPr>
          <p:nvPr/>
        </p:nvSpPr>
        <p:spPr>
          <a:xfrm xmlns:a="http://schemas.openxmlformats.org/drawingml/2006/main">
            <a:off x="6515100" y="4295775"/>
            <a:ext cx="5095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Jev classification</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Live writes into GBrain</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 custom-model training pilot</a:t>
            </a:r>
          </a:p>
        </p:txBody>
      </p:sp>
      <p:sp>
        <p:nvSpPr>
          <p:cNvPr id="7" name="">
            <a:extLst xmlns:a="http://schemas.openxmlformats.org/drawingml/2006/main">
              <a:ext uri="{FF2B5EF4-FFF2-40B4-BE49-F238E27FC236}">
                <a16:creationId xmlns:a16="http://schemas.microsoft.com/office/drawing/2014/main" id="{751DF1A6-1562-48B1-AD87-3AA8167E9D69}"/>
              </a:ext>
            </a:extLst>
          </p:cNvPr>
          <p:cNvSpPr>
            <a:spLocks xmlns:a="http://schemas.openxmlformats.org/drawingml/2006/main" noGrp="1"/>
          </p:cNvSpPr>
          <p:nvPr/>
        </p:nvSpPr>
        <p:spPr>
          <a:xfrm xmlns:a="http://schemas.openxmlformats.org/drawingml/2006/main">
            <a:off x="647700" y="62103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ABDDC"/>
                </a:solidFill>
                <a:latin typeface="Helvetica Neue"/>
                <a:ea typeface="Helvetica Neue"/>
                <a:cs typeface="Helvetica Neue"/>
              </a:defRPr>
            </a:pPr>
            <a:r>
              <a:rPr sz="1350" b="0">
                <a:solidFill>
                  <a:srgbClr val="AABDDC"/>
                </a:solidFill>
                <a:latin typeface="Helvetica Neue"/>
                <a:ea typeface="Helvetica Neue"/>
                <a:cs typeface="Helvetica Neue"/>
              </a:rPr>
              <a:t>Synthetic ops data. Jev, GBrain handoff and training are simulated.</a:t>
            </a:r>
          </a:p>
        </p:txBody>
      </p:sp>
    </p:spTree>
    <p:extLst>
      <p:ext uri="{BB962C8B-B14F-4D97-AF65-F5344CB8AC3E}">
        <p14:creationId xmlns:p14="http://schemas.microsoft.com/office/powerpoint/2010/main" val="3246717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2026-09-27T23:01:45.5520000Z</dcterms:created>
  <dcterms:modified xsi:type="dcterms:W3CDTF">2026-09-27T23:01:45.5520000Z</dcterms:modified>
</coreProperties>
</file>